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nhóm và tên đề tài: Hanni, ứng dụng học tiếng Trung theo chuẩn HSK 3.0 làm riêng cho người Việt. Bản di động viết bằng Expo / React Native, dùng chung server NestJS với bản web.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Năm 2025 Việt Nam có hơn 146 nghìn lượt thi HSK, nhiều nhất thế giới, hơn Thái Lan và gấp đôi Hàn Quốc. Riêng quý 1/2025, Viện Khổng Tử ĐH Hà Nội đã có gần 10 nghìn lượt đăng ký thi. Con số do đơn vị tổ chức thi công bố.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Tiếng Trung là ngôn ngữ của đối tác thương mại lớn nhất (256 tỷ USD năm 2025), của thị trường du lịch lớn nhất (5,3 triệu lượt khách), và của số việc làm đang tăng nhanh. Số việc làm lấy từ báo cáo của một nền tảng tuyển dụng, chỉ nên xem là tham khảo.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Tiếng Trung là Ngoại ngữ 1 từ lớp 3, ngành Ngôn ngữ Trung lấy điểm cao nhất ĐH Hà Nội. Chuẩn thi đổi sang HSK 3.0 chín cấp, khoảng 11 nghìn từ — Hanni xây toàn bộ dữ liệu theo chuẩn mới ngay từ đầu.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khó khăn: app quốc tế không dạy qua tiếng Việt; app Việt nhiều công cụ nhưng rời rạc; luyện thi bị khoá sớm hoặc bắt đăng nhập; thanh điệu khó tự kiểm 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Việt đọc 学生 theo âm Hán Việt là học sinh, 时间 là thời gian. Từ ghép 电脑 tách ra điện cộng não là đoán được máy tính. Dấu thanh tiếng Việt tương ứng khá đều với thanh điệu tiếng Trung: Hanni đo trên dữ liệu thật được 91–96%. Không app quốc tế nào khai thác được điều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Thay vì nhiều công cụ rời rạc, Hanni có một lộ trình theo chủ đề và một nút Học tiếp. Khách học được ngay, tài khoản chỉ để lưu. Âm Hán Việt có mặt ở mọi màn. Toàn bộ bài học miễn phí.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bài khoảng 5 phút. Thẻ giới thiệu từ có âm Hán Việt và mẹo đoán thanh. Nút Đọc thử ghi âm, dò cao độ ngay trên máy, vẽ đường giọng của người học chồng lên giọng chuẩn và chấm từng âm tiết — khách cũng dùng được, không tốn lượt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Từ điển 10.958 từ theo HSK 3.0, tra bằng chữ Hán, pinyin hay tiếng Việt không dấu. Trang từ tách từng chữ ra âm Hán Việt. Dán cả câu thì app tách từ kèm phiên âm và Hán Việt ngay, không cần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Mười đề thi thử HSK 1 đến 4 đúng cấu trúc đề thật. Nộp bài là có điểm từng phần và chữa từng câu bằng tiếng Việt. Khác đối thủ, khách làm trọn đề không cần tài khoản.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không đứng riêng mà nằm trong luồng học: luyện nói theo tình huống, mẹo nhớ, phân tích câu, nhận xét báo cáo tuần. Lớp học giúp giáo viên giao bài và theo dõi cả lớp — đây là kênh đưa người dùng vào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Chuyển sang phát file Hanni-demo.mp4. Video đi qua 9 chặng, có phụ đề và lời đọc tiếng Việt.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Ứng dụng di động và web dùng chung một server NestJS: 126 route REST, 29 module, PostgreSQL qua TypeORM với 42 bảng, Redis giữ hạn mức AI. AI dùng Gemini, thanh toán qua payOS. Server chạy trên VPS bằng pm2, tự triển khai bằng GitHub Actions; web trên Vercel.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 di động có 5 tab và hơn 40 màn hình, viết bằng Expo Router. Dùng micro để chấm thanh điệu, WebView cho video YouTube có phụ đề, luyện viết và trang thanh toán ngay trong app, thông báo nhắc học cục bộ, chọn ảnh để quét chữ và đổi ảnh đại diện. Có chế độ sáng và tối.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10.958 từ theo đại cương HSK 3.0, gần 90% có âm Hán Việt — từ nào chưa chắc âm thì để trống chứ không đoán. 744 bài học theo chủ đề, 235 điểm ngữ pháp, 10 đề thi thử, khoảng 10.900 file phát âm.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Server có 181 unit test. App di động qua TypeScript, ESLint và 16 test; mọi lời gọi API trong app được đối chiếu với route thật của server. Giao diện quét tự động ở khổ 390px cho 43 màn.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Hanni không khoá nội dung học. Thứ trả phí là tiện ích AI tốn chi phí thật. Giá thấp hơn nhiều so với Hanzii. Thanh toán QR ngân hàng qua payOS đã chạy với đơn thật. Lớp học miễn phí là kênh để giáo viên đưa cả lớp vào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kỹ thuật đã chạy thật, kể cả thanh toán, nhưng người dùng thật còn rất ít. Việc tiếp theo là phát hành Google Play, hoàn thiện vài tính năng cần thư viện native, thêm đề thi cấp cao và tìm người dùng qua giáo viên, trung tâm.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Cảm ơn và mời đặt câu hỏi. Có thể mở trực tiếp hanni.dangpham.id.vn để thử.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BD2B1F"/>
        </a:solidFill>
      </p:bgPr>
    </p:bg>
    <p:spTree>
      <p:nvGrpSpPr>
        <p:cNvPr id="1" name=""/>
        <p:cNvGrpSpPr/>
        <p:nvPr/>
      </p:nvGrpSpPr>
      <p:grpSpPr>
        <a:xfrm>
          <a:off x="0" y="0"/>
          <a:ext cx="0" cy="0"/>
          <a:chOff x="0" y="0"/>
          <a:chExt cx="0" cy="0"/>
        </a:xfrm>
      </p:grpSpPr>
      <p:sp>
        <p:nvSpPr>
          <p:cNvPr id="2" name="Text 0"/>
          <p:cNvSpPr/>
          <p:nvPr/>
        </p:nvSpPr>
        <p:spPr>
          <a:xfrm>
            <a:off x="6553200" y="508000"/>
            <a:ext cx="4826000" cy="2032000"/>
          </a:xfrm>
          <a:prstGeom prst="rect">
            <a:avLst/>
          </a:prstGeom>
          <a:noFill/>
          <a:ln/>
        </p:spPr>
        <p:txBody>
          <a:bodyPr wrap="square" lIns="0" tIns="0" rIns="0" bIns="0" rtlCol="0" anchor="t"/>
          <a:lstStyle/>
          <a:p>
            <a:pPr algn="r" indent="0" marL="0">
              <a:lnSpc>
                <a:spcPct val="115000"/>
              </a:lnSpc>
              <a:buNone/>
            </a:pPr>
            <a:r>
              <a:rPr lang="en-US" sz="15000" dirty="0">
                <a:solidFill>
                  <a:srgbClr val="C9382A"/>
                </a:solidFill>
                <a:latin typeface="Microsoft YaHei" pitchFamily="34" charset="0"/>
                <a:ea typeface="Microsoft YaHei" pitchFamily="34" charset="-122"/>
                <a:cs typeface="Microsoft YaHei" pitchFamily="34" charset="-120"/>
              </a:rPr>
              <a:t>汉语</a:t>
            </a:r>
            <a:endParaRPr lang="en-US" sz="15000" dirty="0"/>
          </a:p>
        </p:txBody>
      </p:sp>
      <p:pic>
        <p:nvPicPr>
          <p:cNvPr id="3" name="Image 0" descr="/home/haidang/Hanni-demo/stage/fox-mark.png">    </p:cNvPr>
          <p:cNvPicPr>
            <a:picLocks noChangeAspect="1"/>
          </p:cNvPicPr>
          <p:nvPr/>
        </p:nvPicPr>
        <p:blipFill>
          <a:blip r:embed="rId1"/>
          <a:stretch>
            <a:fillRect/>
          </a:stretch>
        </p:blipFill>
        <p:spPr>
          <a:xfrm>
            <a:off x="812800" y="1397000"/>
            <a:ext cx="1066800" cy="1066800"/>
          </a:xfrm>
          <a:prstGeom prst="ellipse">
            <a:avLst/>
          </a:prstGeom>
        </p:spPr>
      </p:pic>
      <p:sp>
        <p:nvSpPr>
          <p:cNvPr id="4" name="Text 1"/>
          <p:cNvSpPr/>
          <p:nvPr/>
        </p:nvSpPr>
        <p:spPr>
          <a:xfrm>
            <a:off x="812800" y="2667000"/>
            <a:ext cx="7620000" cy="1079500"/>
          </a:xfrm>
          <a:prstGeom prst="rect">
            <a:avLst/>
          </a:prstGeom>
          <a:noFill/>
          <a:ln/>
        </p:spPr>
        <p:txBody>
          <a:bodyPr wrap="square" lIns="0" tIns="0" rIns="0" bIns="0" rtlCol="0" anchor="t"/>
          <a:lstStyle/>
          <a:p>
            <a:pPr algn="l" indent="0" marL="0">
              <a:lnSpc>
                <a:spcPct val="115000"/>
              </a:lnSpc>
              <a:buNone/>
            </a:pPr>
            <a:r>
              <a:rPr lang="en-US" sz="8000" b="1" dirty="0">
                <a:solidFill>
                  <a:srgbClr val="FBF6EF"/>
                </a:solidFill>
                <a:latin typeface="Arial" pitchFamily="34" charset="0"/>
                <a:ea typeface="Arial" pitchFamily="34" charset="-122"/>
                <a:cs typeface="Arial" pitchFamily="34" charset="-120"/>
              </a:rPr>
              <a:t>Hanni</a:t>
            </a:r>
            <a:endParaRPr lang="en-US" sz="8000" dirty="0"/>
          </a:p>
        </p:txBody>
      </p:sp>
      <p:sp>
        <p:nvSpPr>
          <p:cNvPr id="5" name="Text 2"/>
          <p:cNvSpPr/>
          <p:nvPr/>
        </p:nvSpPr>
        <p:spPr>
          <a:xfrm>
            <a:off x="812800" y="3873500"/>
            <a:ext cx="8255000" cy="952500"/>
          </a:xfrm>
          <a:prstGeom prst="rect">
            <a:avLst/>
          </a:prstGeom>
          <a:noFill/>
          <a:ln/>
        </p:spPr>
        <p:txBody>
          <a:bodyPr wrap="square" lIns="0" tIns="0" rIns="0" bIns="0" rtlCol="0" anchor="t"/>
          <a:lstStyle/>
          <a:p>
            <a:pPr algn="l" indent="0" marL="0">
              <a:lnSpc>
                <a:spcPct val="125000"/>
              </a:lnSpc>
              <a:buNone/>
            </a:pPr>
            <a:r>
              <a:rPr lang="en-US" sz="2600" dirty="0">
                <a:solidFill>
                  <a:srgbClr val="FBF6EF"/>
                </a:solidFill>
                <a:latin typeface="Arial" pitchFamily="34" charset="0"/>
                <a:ea typeface="Arial" pitchFamily="34" charset="-122"/>
                <a:cs typeface="Arial" pitchFamily="34" charset="-120"/>
              </a:rPr>
              <a:t>Ứng dụng học tiếng Trung theo chuẩn HSK 3.0, làm riêng cho người Việt</a:t>
            </a:r>
            <a:endParaRPr lang="en-US" sz="2600" dirty="0"/>
          </a:p>
        </p:txBody>
      </p:sp>
      <p:sp>
        <p:nvSpPr>
          <p:cNvPr id="6" name="Text 3"/>
          <p:cNvSpPr/>
          <p:nvPr/>
        </p:nvSpPr>
        <p:spPr>
          <a:xfrm>
            <a:off x="812800" y="5016500"/>
            <a:ext cx="9525000" cy="317500"/>
          </a:xfrm>
          <a:prstGeom prst="rect">
            <a:avLst/>
          </a:prstGeom>
          <a:noFill/>
          <a:ln/>
        </p:spPr>
        <p:txBody>
          <a:bodyPr wrap="square" lIns="0" tIns="0" rIns="0" bIns="0" rtlCol="0" anchor="t"/>
          <a:lstStyle/>
          <a:p>
            <a:pPr algn="l" indent="0" marL="0">
              <a:lnSpc>
                <a:spcPct val="115000"/>
              </a:lnSpc>
              <a:buNone/>
            </a:pPr>
            <a:r>
              <a:rPr lang="en-US" sz="1500" b="1" dirty="0">
                <a:solidFill>
                  <a:srgbClr val="FBF6EF"/>
                </a:solidFill>
                <a:latin typeface="Arial" pitchFamily="34" charset="0"/>
                <a:ea typeface="Arial" pitchFamily="34" charset="-122"/>
                <a:cs typeface="Arial" pitchFamily="34" charset="-120"/>
              </a:rPr>
              <a:t>Đồ án ứng dụng di động   ·   Expo · React Native · NestJS</a:t>
            </a:r>
            <a:endParaRPr lang="en-US" sz="1500" dirty="0"/>
          </a:p>
        </p:txBody>
      </p:sp>
      <p:sp>
        <p:nvSpPr>
          <p:cNvPr id="7" name="Text 4"/>
          <p:cNvSpPr/>
          <p:nvPr/>
        </p:nvSpPr>
        <p:spPr>
          <a:xfrm>
            <a:off x="812800" y="6096000"/>
            <a:ext cx="10566400" cy="279400"/>
          </a:xfrm>
          <a:prstGeom prst="rect">
            <a:avLst/>
          </a:prstGeom>
          <a:noFill/>
          <a:ln/>
        </p:spPr>
        <p:txBody>
          <a:bodyPr wrap="square" lIns="0" tIns="0" rIns="0" bIns="0" rtlCol="0" anchor="t"/>
          <a:lstStyle/>
          <a:p>
            <a:pPr algn="l" indent="0" marL="0">
              <a:lnSpc>
                <a:spcPct val="115000"/>
              </a:lnSpc>
              <a:buNone/>
            </a:pPr>
            <a:r>
              <a:rPr lang="en-US" sz="1400" dirty="0">
                <a:solidFill>
                  <a:srgbClr val="F6D9D4"/>
                </a:solidFill>
                <a:latin typeface="Arial" pitchFamily="34" charset="0"/>
                <a:ea typeface="Arial" pitchFamily="34" charset="-122"/>
                <a:cs typeface="Arial" pitchFamily="34" charset="-120"/>
              </a:rPr>
              <a:t>[Tên môn học] · [Giảng viên hướng dẫn] · Nhóm: [Tên thành viên] · 10/2026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6EF"/>
        </a:solidFill>
      </p:bgPr>
    </p:bg>
    <p:spTree>
      <p:nvGrpSpPr>
        <p:cNvPr id="1" name=""/>
        <p:cNvGrpSpPr/>
        <p:nvPr/>
      </p:nvGrpSpPr>
      <p:grpSpPr>
        <a:xfrm>
          <a:off x="0" y="0"/>
          <a:ext cx="0" cy="0"/>
          <a:chOff x="0" y="0"/>
          <a:chExt cx="0" cy="0"/>
        </a:xfrm>
      </p:grpSpPr>
      <p:sp>
        <p:nvSpPr>
          <p:cNvPr id="2" name="Text 0"/>
          <p:cNvSpPr/>
          <p:nvPr/>
        </p:nvSpPr>
        <p:spPr>
          <a:xfrm>
            <a:off x="812800" y="812800"/>
            <a:ext cx="10566400" cy="254000"/>
          </a:xfrm>
          <a:prstGeom prst="rect">
            <a:avLst/>
          </a:prstGeom>
          <a:noFill/>
          <a:ln/>
        </p:spPr>
        <p:txBody>
          <a:bodyPr wrap="square" lIns="0" tIns="0" rIns="0" bIns="0" rtlCol="0" anchor="t"/>
          <a:lstStyle/>
          <a:p>
            <a:pPr algn="l" indent="0" marL="0">
              <a:lnSpc>
                <a:spcPct val="115000"/>
              </a:lnSpc>
              <a:buNone/>
            </a:pPr>
            <a:r>
              <a:rPr lang="en-US" sz="1200" b="1" spc="300" kern="0" dirty="0">
                <a:solidFill>
                  <a:srgbClr val="BD2B1F"/>
                </a:solidFill>
                <a:latin typeface="Arial" pitchFamily="34" charset="0"/>
                <a:ea typeface="Arial" pitchFamily="34" charset="-122"/>
                <a:cs typeface="Arial" pitchFamily="34" charset="-120"/>
              </a:rPr>
              <a:t>BỐI CẢNH</a:t>
            </a:r>
            <a:endParaRPr lang="en-US" sz="1200" dirty="0"/>
          </a:p>
        </p:txBody>
      </p:sp>
      <p:sp>
        <p:nvSpPr>
          <p:cNvPr id="3" name="Text 1"/>
          <p:cNvSpPr/>
          <p:nvPr/>
        </p:nvSpPr>
        <p:spPr>
          <a:xfrm>
            <a:off x="812800" y="1117600"/>
            <a:ext cx="10566400" cy="635000"/>
          </a:xfrm>
          <a:prstGeom prst="rect">
            <a:avLst/>
          </a:prstGeom>
          <a:noFill/>
          <a:ln/>
        </p:spPr>
        <p:txBody>
          <a:bodyPr wrap="square" lIns="0" tIns="0" rIns="0" bIns="0" rtlCol="0" anchor="t"/>
          <a:lstStyle/>
          <a:p>
            <a:pPr algn="l" indent="0" marL="0">
              <a:lnSpc>
                <a:spcPct val="105000"/>
              </a:lnSpc>
              <a:buNone/>
            </a:pPr>
            <a:r>
              <a:rPr lang="en-US" sz="3600" b="1" dirty="0">
                <a:solidFill>
                  <a:srgbClr val="1F2430"/>
                </a:solidFill>
                <a:latin typeface="Arial" pitchFamily="34" charset="0"/>
                <a:ea typeface="Arial" pitchFamily="34" charset="-122"/>
                <a:cs typeface="Arial" pitchFamily="34" charset="-120"/>
              </a:rPr>
              <a:t>Người Việt đang thi HSK nhiều nhất thế giới</a:t>
            </a:r>
            <a:endParaRPr lang="en-US" sz="3600" dirty="0"/>
          </a:p>
        </p:txBody>
      </p:sp>
      <p:sp>
        <p:nvSpPr>
          <p:cNvPr id="4" name="Text 2"/>
          <p:cNvSpPr/>
          <p:nvPr/>
        </p:nvSpPr>
        <p:spPr>
          <a:xfrm>
            <a:off x="812800" y="2667000"/>
            <a:ext cx="4064000" cy="1079500"/>
          </a:xfrm>
          <a:prstGeom prst="rect">
            <a:avLst/>
          </a:prstGeom>
          <a:noFill/>
          <a:ln/>
        </p:spPr>
        <p:txBody>
          <a:bodyPr wrap="square" lIns="0" tIns="0" rIns="0" bIns="0" rtlCol="0" anchor="t"/>
          <a:lstStyle/>
          <a:p>
            <a:pPr algn="l" indent="0" marL="0">
              <a:lnSpc>
                <a:spcPct val="115000"/>
              </a:lnSpc>
              <a:buNone/>
            </a:pPr>
            <a:r>
              <a:rPr lang="en-US" sz="7500" b="1" dirty="0">
                <a:solidFill>
                  <a:srgbClr val="BD2B1F"/>
                </a:solidFill>
                <a:latin typeface="Arial" pitchFamily="34" charset="0"/>
                <a:ea typeface="Arial" pitchFamily="34" charset="-122"/>
                <a:cs typeface="Arial" pitchFamily="34" charset="-120"/>
              </a:rPr>
              <a:t>146.000+</a:t>
            </a:r>
            <a:endParaRPr lang="en-US" sz="7500" dirty="0"/>
          </a:p>
        </p:txBody>
      </p:sp>
      <p:sp>
        <p:nvSpPr>
          <p:cNvPr id="5" name="Text 3"/>
          <p:cNvSpPr/>
          <p:nvPr/>
        </p:nvSpPr>
        <p:spPr>
          <a:xfrm>
            <a:off x="812800" y="3810000"/>
            <a:ext cx="3810000" cy="1270000"/>
          </a:xfrm>
          <a:prstGeom prst="rect">
            <a:avLst/>
          </a:prstGeom>
          <a:noFill/>
          <a:ln/>
        </p:spPr>
        <p:txBody>
          <a:bodyPr wrap="square" lIns="0" tIns="0" rIns="0" bIns="0" rtlCol="0" anchor="t"/>
          <a:lstStyle/>
          <a:p>
            <a:pPr algn="l" indent="0" marL="0">
              <a:lnSpc>
                <a:spcPct val="130000"/>
              </a:lnSpc>
              <a:buNone/>
            </a:pPr>
            <a:r>
              <a:rPr lang="en-US" sz="1800" dirty="0">
                <a:solidFill>
                  <a:srgbClr val="3A4150"/>
                </a:solidFill>
                <a:latin typeface="Arial" pitchFamily="34" charset="0"/>
                <a:ea typeface="Arial" pitchFamily="34" charset="-122"/>
                <a:cs typeface="Arial" pitchFamily="34" charset="-120"/>
              </a:rPr>
              <a:t>lượt thi HSK tại Việt Nam năm 2025 — đứng đầu thế giới, gần 1/5 số lượt thi toàn cầu</a:t>
            </a:r>
            <a:endParaRPr lang="en-US" sz="1800" dirty="0"/>
          </a:p>
        </p:txBody>
      </p:sp>
      <p:sp>
        <p:nvSpPr>
          <p:cNvPr id="6" name="Text 4"/>
          <p:cNvSpPr/>
          <p:nvPr/>
        </p:nvSpPr>
        <p:spPr>
          <a:xfrm>
            <a:off x="5207000" y="2413000"/>
            <a:ext cx="5715000" cy="254000"/>
          </a:xfrm>
          <a:prstGeom prst="rect">
            <a:avLst/>
          </a:prstGeom>
          <a:noFill/>
          <a:ln/>
        </p:spPr>
        <p:txBody>
          <a:bodyPr wrap="square" lIns="0" tIns="0" rIns="0" bIns="0" rtlCol="0" anchor="t"/>
          <a:lstStyle/>
          <a:p>
            <a:pPr algn="l" indent="0" marL="0">
              <a:lnSpc>
                <a:spcPct val="115000"/>
              </a:lnSpc>
              <a:buNone/>
            </a:pPr>
            <a:r>
              <a:rPr lang="en-US" sz="1400" b="1" dirty="0">
                <a:solidFill>
                  <a:srgbClr val="5B6271"/>
                </a:solidFill>
                <a:latin typeface="Arial" pitchFamily="34" charset="0"/>
                <a:ea typeface="Arial" pitchFamily="34" charset="-122"/>
                <a:cs typeface="Arial" pitchFamily="34" charset="-120"/>
              </a:rPr>
              <a:t>Lượt thi HSK năm 2025 (nghìn lượt)</a:t>
            </a:r>
            <a:endParaRPr lang="en-US" sz="1400" dirty="0"/>
          </a:p>
        </p:txBody>
      </p:sp>
      <p:sp>
        <p:nvSpPr>
          <p:cNvPr id="7" name="Text 5"/>
          <p:cNvSpPr/>
          <p:nvPr/>
        </p:nvSpPr>
        <p:spPr>
          <a:xfrm>
            <a:off x="5207000" y="2895600"/>
            <a:ext cx="1397000" cy="279400"/>
          </a:xfrm>
          <a:prstGeom prst="rect">
            <a:avLst/>
          </a:prstGeom>
          <a:noFill/>
          <a:ln/>
        </p:spPr>
        <p:txBody>
          <a:bodyPr wrap="square" lIns="0" tIns="0" rIns="0" bIns="0" rtlCol="0" anchor="t"/>
          <a:lstStyle/>
          <a:p>
            <a:pPr algn="l" indent="0" marL="0">
              <a:lnSpc>
                <a:spcPct val="115000"/>
              </a:lnSpc>
              <a:buNone/>
            </a:pPr>
            <a:r>
              <a:rPr lang="en-US" sz="1500" b="1" dirty="0">
                <a:solidFill>
                  <a:srgbClr val="1F2430"/>
                </a:solidFill>
                <a:latin typeface="Arial" pitchFamily="34" charset="0"/>
                <a:ea typeface="Arial" pitchFamily="34" charset="-122"/>
                <a:cs typeface="Arial" pitchFamily="34" charset="-120"/>
              </a:rPr>
              <a:t>Việt Nam</a:t>
            </a:r>
            <a:endParaRPr lang="en-US" sz="1500" dirty="0"/>
          </a:p>
        </p:txBody>
      </p:sp>
      <p:sp>
        <p:nvSpPr>
          <p:cNvPr id="8" name="Shape 6"/>
          <p:cNvSpPr/>
          <p:nvPr/>
        </p:nvSpPr>
        <p:spPr>
          <a:xfrm>
            <a:off x="6667500" y="2857500"/>
            <a:ext cx="3937000" cy="330200"/>
          </a:xfrm>
          <a:prstGeom prst="roundRect">
            <a:avLst>
              <a:gd name="adj" fmla="val 13846"/>
            </a:avLst>
          </a:prstGeom>
          <a:solidFill>
            <a:srgbClr val="BD2B1F"/>
          </a:solidFill>
          <a:ln/>
        </p:spPr>
      </p:sp>
      <p:sp>
        <p:nvSpPr>
          <p:cNvPr id="9" name="Text 7"/>
          <p:cNvSpPr/>
          <p:nvPr/>
        </p:nvSpPr>
        <p:spPr>
          <a:xfrm>
            <a:off x="10718800" y="2895600"/>
            <a:ext cx="762000" cy="279400"/>
          </a:xfrm>
          <a:prstGeom prst="rect">
            <a:avLst/>
          </a:prstGeom>
          <a:noFill/>
          <a:ln/>
        </p:spPr>
        <p:txBody>
          <a:bodyPr wrap="square" lIns="0" tIns="0" rIns="0" bIns="0" rtlCol="0" anchor="t"/>
          <a:lstStyle/>
          <a:p>
            <a:pPr algn="l" indent="0" marL="0">
              <a:lnSpc>
                <a:spcPct val="115000"/>
              </a:lnSpc>
              <a:buNone/>
            </a:pPr>
            <a:r>
              <a:rPr lang="en-US" sz="1500" b="1" dirty="0">
                <a:solidFill>
                  <a:srgbClr val="1F2430"/>
                </a:solidFill>
                <a:latin typeface="Arial" pitchFamily="34" charset="0"/>
                <a:ea typeface="Arial" pitchFamily="34" charset="-122"/>
                <a:cs typeface="Arial" pitchFamily="34" charset="-120"/>
              </a:rPr>
              <a:t>146</a:t>
            </a:r>
            <a:endParaRPr lang="en-US" sz="1500" dirty="0"/>
          </a:p>
        </p:txBody>
      </p:sp>
      <p:sp>
        <p:nvSpPr>
          <p:cNvPr id="10" name="Text 8"/>
          <p:cNvSpPr/>
          <p:nvPr/>
        </p:nvSpPr>
        <p:spPr>
          <a:xfrm>
            <a:off x="5207000" y="3429000"/>
            <a:ext cx="1397000" cy="279400"/>
          </a:xfrm>
          <a:prstGeom prst="rect">
            <a:avLst/>
          </a:prstGeom>
          <a:noFill/>
          <a:ln/>
        </p:spPr>
        <p:txBody>
          <a:bodyPr wrap="square" lIns="0" tIns="0" rIns="0" bIns="0" rtlCol="0" anchor="t"/>
          <a:lstStyle/>
          <a:p>
            <a:pPr algn="l" indent="0" marL="0">
              <a:lnSpc>
                <a:spcPct val="115000"/>
              </a:lnSpc>
              <a:buNone/>
            </a:pPr>
            <a:r>
              <a:rPr lang="en-US" sz="1500" dirty="0">
                <a:solidFill>
                  <a:srgbClr val="1F2430"/>
                </a:solidFill>
                <a:latin typeface="Arial" pitchFamily="34" charset="0"/>
                <a:ea typeface="Arial" pitchFamily="34" charset="-122"/>
                <a:cs typeface="Arial" pitchFamily="34" charset="-120"/>
              </a:rPr>
              <a:t>Thái Lan</a:t>
            </a:r>
            <a:endParaRPr lang="en-US" sz="1500" dirty="0"/>
          </a:p>
        </p:txBody>
      </p:sp>
      <p:sp>
        <p:nvSpPr>
          <p:cNvPr id="11" name="Shape 9"/>
          <p:cNvSpPr/>
          <p:nvPr/>
        </p:nvSpPr>
        <p:spPr>
          <a:xfrm>
            <a:off x="6667500" y="3390900"/>
            <a:ext cx="3505548" cy="330200"/>
          </a:xfrm>
          <a:prstGeom prst="roundRect">
            <a:avLst>
              <a:gd name="adj" fmla="val 13846"/>
            </a:avLst>
          </a:prstGeom>
          <a:solidFill>
            <a:srgbClr val="C8B9A4"/>
          </a:solidFill>
          <a:ln/>
        </p:spPr>
      </p:sp>
      <p:sp>
        <p:nvSpPr>
          <p:cNvPr id="12" name="Text 10"/>
          <p:cNvSpPr/>
          <p:nvPr/>
        </p:nvSpPr>
        <p:spPr>
          <a:xfrm>
            <a:off x="10287348" y="3429000"/>
            <a:ext cx="762000" cy="279400"/>
          </a:xfrm>
          <a:prstGeom prst="rect">
            <a:avLst/>
          </a:prstGeom>
          <a:noFill/>
          <a:ln/>
        </p:spPr>
        <p:txBody>
          <a:bodyPr wrap="square" lIns="0" tIns="0" rIns="0" bIns="0" rtlCol="0" anchor="t"/>
          <a:lstStyle/>
          <a:p>
            <a:pPr algn="l" indent="0" marL="0">
              <a:lnSpc>
                <a:spcPct val="115000"/>
              </a:lnSpc>
              <a:buNone/>
            </a:pPr>
            <a:r>
              <a:rPr lang="en-US" sz="1500" dirty="0">
                <a:solidFill>
                  <a:srgbClr val="1F2430"/>
                </a:solidFill>
                <a:latin typeface="Arial" pitchFamily="34" charset="0"/>
                <a:ea typeface="Arial" pitchFamily="34" charset="-122"/>
                <a:cs typeface="Arial" pitchFamily="34" charset="-120"/>
              </a:rPr>
              <a:t>~130</a:t>
            </a:r>
            <a:endParaRPr lang="en-US" sz="1500" dirty="0"/>
          </a:p>
        </p:txBody>
      </p:sp>
      <p:sp>
        <p:nvSpPr>
          <p:cNvPr id="13" name="Text 11"/>
          <p:cNvSpPr/>
          <p:nvPr/>
        </p:nvSpPr>
        <p:spPr>
          <a:xfrm>
            <a:off x="5207000" y="3962400"/>
            <a:ext cx="1397000" cy="279400"/>
          </a:xfrm>
          <a:prstGeom prst="rect">
            <a:avLst/>
          </a:prstGeom>
          <a:noFill/>
          <a:ln/>
        </p:spPr>
        <p:txBody>
          <a:bodyPr wrap="square" lIns="0" tIns="0" rIns="0" bIns="0" rtlCol="0" anchor="t"/>
          <a:lstStyle/>
          <a:p>
            <a:pPr algn="l" indent="0" marL="0">
              <a:lnSpc>
                <a:spcPct val="115000"/>
              </a:lnSpc>
              <a:buNone/>
            </a:pPr>
            <a:r>
              <a:rPr lang="en-US" sz="1500" dirty="0">
                <a:solidFill>
                  <a:srgbClr val="1F2430"/>
                </a:solidFill>
                <a:latin typeface="Arial" pitchFamily="34" charset="0"/>
                <a:ea typeface="Arial" pitchFamily="34" charset="-122"/>
                <a:cs typeface="Arial" pitchFamily="34" charset="-120"/>
              </a:rPr>
              <a:t>Hàn Quốc</a:t>
            </a:r>
            <a:endParaRPr lang="en-US" sz="1500" dirty="0"/>
          </a:p>
        </p:txBody>
      </p:sp>
      <p:sp>
        <p:nvSpPr>
          <p:cNvPr id="14" name="Shape 12"/>
          <p:cNvSpPr/>
          <p:nvPr/>
        </p:nvSpPr>
        <p:spPr>
          <a:xfrm>
            <a:off x="6667500" y="3924300"/>
            <a:ext cx="1617945" cy="330200"/>
          </a:xfrm>
          <a:prstGeom prst="roundRect">
            <a:avLst>
              <a:gd name="adj" fmla="val 13846"/>
            </a:avLst>
          </a:prstGeom>
          <a:solidFill>
            <a:srgbClr val="C8B9A4"/>
          </a:solidFill>
          <a:ln/>
        </p:spPr>
      </p:sp>
      <p:sp>
        <p:nvSpPr>
          <p:cNvPr id="15" name="Text 13"/>
          <p:cNvSpPr/>
          <p:nvPr/>
        </p:nvSpPr>
        <p:spPr>
          <a:xfrm>
            <a:off x="8399745" y="3962400"/>
            <a:ext cx="762000" cy="279400"/>
          </a:xfrm>
          <a:prstGeom prst="rect">
            <a:avLst/>
          </a:prstGeom>
          <a:noFill/>
          <a:ln/>
        </p:spPr>
        <p:txBody>
          <a:bodyPr wrap="square" lIns="0" tIns="0" rIns="0" bIns="0" rtlCol="0" anchor="t"/>
          <a:lstStyle/>
          <a:p>
            <a:pPr algn="l" indent="0" marL="0">
              <a:lnSpc>
                <a:spcPct val="115000"/>
              </a:lnSpc>
              <a:buNone/>
            </a:pPr>
            <a:r>
              <a:rPr lang="en-US" sz="1500" dirty="0">
                <a:solidFill>
                  <a:srgbClr val="1F2430"/>
                </a:solidFill>
                <a:latin typeface="Arial" pitchFamily="34" charset="0"/>
                <a:ea typeface="Arial" pitchFamily="34" charset="-122"/>
                <a:cs typeface="Arial" pitchFamily="34" charset="-120"/>
              </a:rPr>
              <a:t>~60</a:t>
            </a:r>
            <a:endParaRPr lang="en-US" sz="1500" dirty="0"/>
          </a:p>
        </p:txBody>
      </p:sp>
      <p:sp>
        <p:nvSpPr>
          <p:cNvPr id="16" name="Text 14"/>
          <p:cNvSpPr/>
          <p:nvPr/>
        </p:nvSpPr>
        <p:spPr>
          <a:xfrm>
            <a:off x="5207000" y="4495800"/>
            <a:ext cx="1397000" cy="279400"/>
          </a:xfrm>
          <a:prstGeom prst="rect">
            <a:avLst/>
          </a:prstGeom>
          <a:noFill/>
          <a:ln/>
        </p:spPr>
        <p:txBody>
          <a:bodyPr wrap="square" lIns="0" tIns="0" rIns="0" bIns="0" rtlCol="0" anchor="t"/>
          <a:lstStyle/>
          <a:p>
            <a:pPr algn="l" indent="0" marL="0">
              <a:lnSpc>
                <a:spcPct val="115000"/>
              </a:lnSpc>
              <a:buNone/>
            </a:pPr>
            <a:r>
              <a:rPr lang="en-US" sz="1500" dirty="0">
                <a:solidFill>
                  <a:srgbClr val="1F2430"/>
                </a:solidFill>
                <a:latin typeface="Arial" pitchFamily="34" charset="0"/>
                <a:ea typeface="Arial" pitchFamily="34" charset="-122"/>
                <a:cs typeface="Arial" pitchFamily="34" charset="-120"/>
              </a:rPr>
              <a:t>Nhật Bản</a:t>
            </a:r>
            <a:endParaRPr lang="en-US" sz="1500" dirty="0"/>
          </a:p>
        </p:txBody>
      </p:sp>
      <p:sp>
        <p:nvSpPr>
          <p:cNvPr id="17" name="Shape 15"/>
          <p:cNvSpPr/>
          <p:nvPr/>
        </p:nvSpPr>
        <p:spPr>
          <a:xfrm>
            <a:off x="6667500" y="4457700"/>
            <a:ext cx="808973" cy="330200"/>
          </a:xfrm>
          <a:prstGeom prst="roundRect">
            <a:avLst>
              <a:gd name="adj" fmla="val 13846"/>
            </a:avLst>
          </a:prstGeom>
          <a:solidFill>
            <a:srgbClr val="C8B9A4"/>
          </a:solidFill>
          <a:ln/>
        </p:spPr>
      </p:sp>
      <p:sp>
        <p:nvSpPr>
          <p:cNvPr id="18" name="Text 16"/>
          <p:cNvSpPr/>
          <p:nvPr/>
        </p:nvSpPr>
        <p:spPr>
          <a:xfrm>
            <a:off x="7590773" y="4495800"/>
            <a:ext cx="762000" cy="279400"/>
          </a:xfrm>
          <a:prstGeom prst="rect">
            <a:avLst/>
          </a:prstGeom>
          <a:noFill/>
          <a:ln/>
        </p:spPr>
        <p:txBody>
          <a:bodyPr wrap="square" lIns="0" tIns="0" rIns="0" bIns="0" rtlCol="0" anchor="t"/>
          <a:lstStyle/>
          <a:p>
            <a:pPr algn="l" indent="0" marL="0">
              <a:lnSpc>
                <a:spcPct val="115000"/>
              </a:lnSpc>
              <a:buNone/>
            </a:pPr>
            <a:r>
              <a:rPr lang="en-US" sz="1500" dirty="0">
                <a:solidFill>
                  <a:srgbClr val="1F2430"/>
                </a:solidFill>
                <a:latin typeface="Arial" pitchFamily="34" charset="0"/>
                <a:ea typeface="Arial" pitchFamily="34" charset="-122"/>
                <a:cs typeface="Arial" pitchFamily="34" charset="-120"/>
              </a:rPr>
              <a:t>~30</a:t>
            </a:r>
            <a:endParaRPr lang="en-US" sz="1500" dirty="0"/>
          </a:p>
        </p:txBody>
      </p:sp>
      <p:sp>
        <p:nvSpPr>
          <p:cNvPr id="19" name="Text 17"/>
          <p:cNvSpPr/>
          <p:nvPr/>
        </p:nvSpPr>
        <p:spPr>
          <a:xfrm>
            <a:off x="5207000" y="5029200"/>
            <a:ext cx="1397000" cy="279400"/>
          </a:xfrm>
          <a:prstGeom prst="rect">
            <a:avLst/>
          </a:prstGeom>
          <a:noFill/>
          <a:ln/>
        </p:spPr>
        <p:txBody>
          <a:bodyPr wrap="square" lIns="0" tIns="0" rIns="0" bIns="0" rtlCol="0" anchor="t"/>
          <a:lstStyle/>
          <a:p>
            <a:pPr algn="l" indent="0" marL="0">
              <a:lnSpc>
                <a:spcPct val="115000"/>
              </a:lnSpc>
              <a:buNone/>
            </a:pPr>
            <a:r>
              <a:rPr lang="en-US" sz="1500" dirty="0">
                <a:solidFill>
                  <a:srgbClr val="1F2430"/>
                </a:solidFill>
                <a:latin typeface="Arial" pitchFamily="34" charset="0"/>
                <a:ea typeface="Arial" pitchFamily="34" charset="-122"/>
                <a:cs typeface="Arial" pitchFamily="34" charset="-120"/>
              </a:rPr>
              <a:t>Indonesia</a:t>
            </a:r>
            <a:endParaRPr lang="en-US" sz="1500" dirty="0"/>
          </a:p>
        </p:txBody>
      </p:sp>
      <p:sp>
        <p:nvSpPr>
          <p:cNvPr id="20" name="Shape 18"/>
          <p:cNvSpPr/>
          <p:nvPr/>
        </p:nvSpPr>
        <p:spPr>
          <a:xfrm>
            <a:off x="6667500" y="4991100"/>
            <a:ext cx="808973" cy="330200"/>
          </a:xfrm>
          <a:prstGeom prst="roundRect">
            <a:avLst>
              <a:gd name="adj" fmla="val 13846"/>
            </a:avLst>
          </a:prstGeom>
          <a:solidFill>
            <a:srgbClr val="C8B9A4"/>
          </a:solidFill>
          <a:ln/>
        </p:spPr>
      </p:sp>
      <p:sp>
        <p:nvSpPr>
          <p:cNvPr id="21" name="Text 19"/>
          <p:cNvSpPr/>
          <p:nvPr/>
        </p:nvSpPr>
        <p:spPr>
          <a:xfrm>
            <a:off x="7590773" y="5029200"/>
            <a:ext cx="762000" cy="279400"/>
          </a:xfrm>
          <a:prstGeom prst="rect">
            <a:avLst/>
          </a:prstGeom>
          <a:noFill/>
          <a:ln/>
        </p:spPr>
        <p:txBody>
          <a:bodyPr wrap="square" lIns="0" tIns="0" rIns="0" bIns="0" rtlCol="0" anchor="t"/>
          <a:lstStyle/>
          <a:p>
            <a:pPr algn="l" indent="0" marL="0">
              <a:lnSpc>
                <a:spcPct val="115000"/>
              </a:lnSpc>
              <a:buNone/>
            </a:pPr>
            <a:r>
              <a:rPr lang="en-US" sz="1500" dirty="0">
                <a:solidFill>
                  <a:srgbClr val="1F2430"/>
                </a:solidFill>
                <a:latin typeface="Arial" pitchFamily="34" charset="0"/>
                <a:ea typeface="Arial" pitchFamily="34" charset="-122"/>
                <a:cs typeface="Arial" pitchFamily="34" charset="-120"/>
              </a:rPr>
              <a:t>~30</a:t>
            </a:r>
            <a:endParaRPr lang="en-US" sz="1500" dirty="0"/>
          </a:p>
        </p:txBody>
      </p:sp>
      <p:sp>
        <p:nvSpPr>
          <p:cNvPr id="22" name="Text 20"/>
          <p:cNvSpPr/>
          <p:nvPr/>
        </p:nvSpPr>
        <p:spPr>
          <a:xfrm>
            <a:off x="812800" y="6223000"/>
            <a:ext cx="10566400" cy="254000"/>
          </a:xfrm>
          <a:prstGeom prst="rect">
            <a:avLst/>
          </a:prstGeom>
          <a:noFill/>
          <a:ln/>
        </p:spPr>
        <p:txBody>
          <a:bodyPr wrap="square" lIns="0" tIns="0" rIns="0" bIns="0" rtlCol="0" anchor="t"/>
          <a:lstStyle/>
          <a:p>
            <a:pPr algn="l" indent="0" marL="0">
              <a:lnSpc>
                <a:spcPct val="115000"/>
              </a:lnSpc>
              <a:buNone/>
            </a:pPr>
            <a:r>
              <a:rPr lang="en-US" sz="1200" dirty="0">
                <a:solidFill>
                  <a:srgbClr val="5B6271"/>
                </a:solidFill>
                <a:latin typeface="Arial" pitchFamily="34" charset="0"/>
                <a:ea typeface="Arial" pitchFamily="34" charset="-122"/>
                <a:cs typeface="Arial" pitchFamily="34" charset="-120"/>
              </a:rPr>
              <a:t>Nguồn: đại diện CTI (đơn vị tổ chức HSK toàn cầu) tại hội thảo giáo dục Việt – Trung, TP.HCM, 2025; toàn cầu ≈ 750.000 lượt/năm (Bộ Giáo dục Trung Quốc)</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6EF"/>
        </a:solidFill>
      </p:bgPr>
    </p:bg>
    <p:spTree>
      <p:nvGrpSpPr>
        <p:cNvPr id="1" name=""/>
        <p:cNvGrpSpPr/>
        <p:nvPr/>
      </p:nvGrpSpPr>
      <p:grpSpPr>
        <a:xfrm>
          <a:off x="0" y="0"/>
          <a:ext cx="0" cy="0"/>
          <a:chOff x="0" y="0"/>
          <a:chExt cx="0" cy="0"/>
        </a:xfrm>
      </p:grpSpPr>
      <p:sp>
        <p:nvSpPr>
          <p:cNvPr id="2" name="Text 0"/>
          <p:cNvSpPr/>
          <p:nvPr/>
        </p:nvSpPr>
        <p:spPr>
          <a:xfrm>
            <a:off x="812800" y="812800"/>
            <a:ext cx="10566400" cy="254000"/>
          </a:xfrm>
          <a:prstGeom prst="rect">
            <a:avLst/>
          </a:prstGeom>
          <a:noFill/>
          <a:ln/>
        </p:spPr>
        <p:txBody>
          <a:bodyPr wrap="square" lIns="0" tIns="0" rIns="0" bIns="0" rtlCol="0" anchor="t"/>
          <a:lstStyle/>
          <a:p>
            <a:pPr algn="l" indent="0" marL="0">
              <a:lnSpc>
                <a:spcPct val="115000"/>
              </a:lnSpc>
              <a:buNone/>
            </a:pPr>
            <a:r>
              <a:rPr lang="en-US" sz="1200" b="1" spc="300" kern="0" dirty="0">
                <a:solidFill>
                  <a:srgbClr val="BD2B1F"/>
                </a:solidFill>
                <a:latin typeface="Arial" pitchFamily="34" charset="0"/>
                <a:ea typeface="Arial" pitchFamily="34" charset="-122"/>
                <a:cs typeface="Arial" pitchFamily="34" charset="-120"/>
              </a:rPr>
              <a:t>BỐI CẢNH</a:t>
            </a:r>
            <a:endParaRPr lang="en-US" sz="1200" dirty="0"/>
          </a:p>
        </p:txBody>
      </p:sp>
      <p:sp>
        <p:nvSpPr>
          <p:cNvPr id="3" name="Text 1"/>
          <p:cNvSpPr/>
          <p:nvPr/>
        </p:nvSpPr>
        <p:spPr>
          <a:xfrm>
            <a:off x="812800" y="1117600"/>
            <a:ext cx="10566400" cy="635000"/>
          </a:xfrm>
          <a:prstGeom prst="rect">
            <a:avLst/>
          </a:prstGeom>
          <a:noFill/>
          <a:ln/>
        </p:spPr>
        <p:txBody>
          <a:bodyPr wrap="square" lIns="0" tIns="0" rIns="0" bIns="0" rtlCol="0" anchor="t"/>
          <a:lstStyle/>
          <a:p>
            <a:pPr algn="l" indent="0" marL="0">
              <a:lnSpc>
                <a:spcPct val="105000"/>
              </a:lnSpc>
              <a:buNone/>
            </a:pPr>
            <a:r>
              <a:rPr lang="en-US" sz="3600" b="1" dirty="0">
                <a:solidFill>
                  <a:srgbClr val="1F2430"/>
                </a:solidFill>
                <a:latin typeface="Arial" pitchFamily="34" charset="0"/>
                <a:ea typeface="Arial" pitchFamily="34" charset="-122"/>
                <a:cs typeface="Arial" pitchFamily="34" charset="-120"/>
              </a:rPr>
              <a:t>Tiếng Trung gắn với kinh tế và việc làm</a:t>
            </a:r>
            <a:endParaRPr lang="en-US" sz="3600" dirty="0"/>
          </a:p>
        </p:txBody>
      </p:sp>
      <p:sp>
        <p:nvSpPr>
          <p:cNvPr id="4" name="Shape 2"/>
          <p:cNvSpPr/>
          <p:nvPr/>
        </p:nvSpPr>
        <p:spPr>
          <a:xfrm>
            <a:off x="812800" y="2159000"/>
            <a:ext cx="3390900" cy="3556000"/>
          </a:xfrm>
          <a:prstGeom prst="roundRect">
            <a:avLst>
              <a:gd name="adj" fmla="val 4584"/>
            </a:avLst>
          </a:prstGeom>
          <a:solidFill>
            <a:srgbClr val="FFFFFF"/>
          </a:solidFill>
          <a:ln w="12700">
            <a:solidFill>
              <a:srgbClr val="EADFCE"/>
            </a:solidFill>
            <a:prstDash val="solid"/>
          </a:ln>
        </p:spPr>
      </p:sp>
      <p:sp>
        <p:nvSpPr>
          <p:cNvPr id="5" name="Text 3"/>
          <p:cNvSpPr/>
          <p:nvPr/>
        </p:nvSpPr>
        <p:spPr>
          <a:xfrm>
            <a:off x="1092200" y="2438400"/>
            <a:ext cx="2921000" cy="698500"/>
          </a:xfrm>
          <a:prstGeom prst="rect">
            <a:avLst/>
          </a:prstGeom>
          <a:noFill/>
          <a:ln/>
        </p:spPr>
        <p:txBody>
          <a:bodyPr wrap="square" lIns="0" tIns="0" rIns="0" bIns="0" rtlCol="0" anchor="t"/>
          <a:lstStyle/>
          <a:p>
            <a:pPr algn="l" indent="0" marL="0">
              <a:lnSpc>
                <a:spcPct val="115000"/>
              </a:lnSpc>
              <a:buNone/>
            </a:pPr>
            <a:r>
              <a:rPr lang="en-US" sz="4400" b="1" dirty="0">
                <a:solidFill>
                  <a:srgbClr val="BD2B1F"/>
                </a:solidFill>
                <a:latin typeface="Arial" pitchFamily="34" charset="0"/>
                <a:ea typeface="Arial" pitchFamily="34" charset="-122"/>
                <a:cs typeface="Arial" pitchFamily="34" charset="-120"/>
              </a:rPr>
              <a:t>256 tỷ</a:t>
            </a:r>
            <a:endParaRPr lang="en-US" sz="4400" dirty="0"/>
          </a:p>
        </p:txBody>
      </p:sp>
      <p:sp>
        <p:nvSpPr>
          <p:cNvPr id="6" name="Text 4"/>
          <p:cNvSpPr/>
          <p:nvPr/>
        </p:nvSpPr>
        <p:spPr>
          <a:xfrm>
            <a:off x="1092200" y="3238500"/>
            <a:ext cx="2921000" cy="635000"/>
          </a:xfrm>
          <a:prstGeom prst="rect">
            <a:avLst/>
          </a:prstGeom>
          <a:noFill/>
          <a:ln/>
        </p:spPr>
        <p:txBody>
          <a:bodyPr wrap="square" lIns="0" tIns="0" rIns="0" bIns="0" rtlCol="0" anchor="t"/>
          <a:lstStyle/>
          <a:p>
            <a:pPr algn="l" indent="0" marL="0">
              <a:lnSpc>
                <a:spcPct val="120000"/>
              </a:lnSpc>
              <a:buNone/>
            </a:pPr>
            <a:r>
              <a:rPr lang="en-US" sz="1600" b="1" dirty="0">
                <a:solidFill>
                  <a:srgbClr val="1F2430"/>
                </a:solidFill>
                <a:latin typeface="Arial" pitchFamily="34" charset="0"/>
                <a:ea typeface="Arial" pitchFamily="34" charset="-122"/>
                <a:cs typeface="Arial" pitchFamily="34" charset="-120"/>
              </a:rPr>
              <a:t>USD thương mại Việt – Trung 2025</a:t>
            </a:r>
            <a:endParaRPr lang="en-US" sz="1600" dirty="0"/>
          </a:p>
        </p:txBody>
      </p:sp>
      <p:sp>
        <p:nvSpPr>
          <p:cNvPr id="7" name="Text 5"/>
          <p:cNvSpPr/>
          <p:nvPr/>
        </p:nvSpPr>
        <p:spPr>
          <a:xfrm>
            <a:off x="1092200" y="4000500"/>
            <a:ext cx="2921000" cy="1270000"/>
          </a:xfrm>
          <a:prstGeom prst="rect">
            <a:avLst/>
          </a:prstGeom>
          <a:noFill/>
          <a:ln/>
        </p:spPr>
        <p:txBody>
          <a:bodyPr wrap="square" lIns="0" tIns="0" rIns="0" bIns="0" rtlCol="0" anchor="t"/>
          <a:lstStyle/>
          <a:p>
            <a:pPr algn="l" indent="0" marL="0">
              <a:lnSpc>
                <a:spcPct val="130000"/>
              </a:lnSpc>
              <a:buNone/>
            </a:pPr>
            <a:r>
              <a:rPr lang="en-US" sz="1400" dirty="0">
                <a:solidFill>
                  <a:srgbClr val="4A5160"/>
                </a:solidFill>
                <a:latin typeface="Arial" pitchFamily="34" charset="0"/>
                <a:ea typeface="Arial" pitchFamily="34" charset="-122"/>
                <a:cs typeface="Arial" pitchFamily="34" charset="-120"/>
              </a:rPr>
              <a:t>Tăng 24,8% so với 2024. Trung Quốc là đối tác thương mại lớn nhất của Việt Nam.</a:t>
            </a:r>
            <a:endParaRPr lang="en-US" sz="1400" dirty="0"/>
          </a:p>
        </p:txBody>
      </p:sp>
      <p:sp>
        <p:nvSpPr>
          <p:cNvPr id="8" name="Shape 6"/>
          <p:cNvSpPr/>
          <p:nvPr/>
        </p:nvSpPr>
        <p:spPr>
          <a:xfrm>
            <a:off x="4406900" y="2159000"/>
            <a:ext cx="3390900" cy="3556000"/>
          </a:xfrm>
          <a:prstGeom prst="roundRect">
            <a:avLst>
              <a:gd name="adj" fmla="val 4584"/>
            </a:avLst>
          </a:prstGeom>
          <a:solidFill>
            <a:srgbClr val="FFFFFF"/>
          </a:solidFill>
          <a:ln w="12700">
            <a:solidFill>
              <a:srgbClr val="EADFCE"/>
            </a:solidFill>
            <a:prstDash val="solid"/>
          </a:ln>
        </p:spPr>
      </p:sp>
      <p:sp>
        <p:nvSpPr>
          <p:cNvPr id="9" name="Text 7"/>
          <p:cNvSpPr/>
          <p:nvPr/>
        </p:nvSpPr>
        <p:spPr>
          <a:xfrm>
            <a:off x="4686300" y="2438400"/>
            <a:ext cx="2921000" cy="698500"/>
          </a:xfrm>
          <a:prstGeom prst="rect">
            <a:avLst/>
          </a:prstGeom>
          <a:noFill/>
          <a:ln/>
        </p:spPr>
        <p:txBody>
          <a:bodyPr wrap="square" lIns="0" tIns="0" rIns="0" bIns="0" rtlCol="0" anchor="t"/>
          <a:lstStyle/>
          <a:p>
            <a:pPr algn="l" indent="0" marL="0">
              <a:lnSpc>
                <a:spcPct val="115000"/>
              </a:lnSpc>
              <a:buNone/>
            </a:pPr>
            <a:r>
              <a:rPr lang="en-US" sz="4400" b="1" dirty="0">
                <a:solidFill>
                  <a:srgbClr val="BD2B1F"/>
                </a:solidFill>
                <a:latin typeface="Arial" pitchFamily="34" charset="0"/>
                <a:ea typeface="Arial" pitchFamily="34" charset="-122"/>
                <a:cs typeface="Arial" pitchFamily="34" charset="-120"/>
              </a:rPr>
              <a:t>5,3 triệu</a:t>
            </a:r>
            <a:endParaRPr lang="en-US" sz="4400" dirty="0"/>
          </a:p>
        </p:txBody>
      </p:sp>
      <p:sp>
        <p:nvSpPr>
          <p:cNvPr id="10" name="Text 8"/>
          <p:cNvSpPr/>
          <p:nvPr/>
        </p:nvSpPr>
        <p:spPr>
          <a:xfrm>
            <a:off x="4686300" y="3238500"/>
            <a:ext cx="2921000" cy="635000"/>
          </a:xfrm>
          <a:prstGeom prst="rect">
            <a:avLst/>
          </a:prstGeom>
          <a:noFill/>
          <a:ln/>
        </p:spPr>
        <p:txBody>
          <a:bodyPr wrap="square" lIns="0" tIns="0" rIns="0" bIns="0" rtlCol="0" anchor="t"/>
          <a:lstStyle/>
          <a:p>
            <a:pPr algn="l" indent="0" marL="0">
              <a:lnSpc>
                <a:spcPct val="120000"/>
              </a:lnSpc>
              <a:buNone/>
            </a:pPr>
            <a:r>
              <a:rPr lang="en-US" sz="1600" b="1" dirty="0">
                <a:solidFill>
                  <a:srgbClr val="1F2430"/>
                </a:solidFill>
                <a:latin typeface="Arial" pitchFamily="34" charset="0"/>
                <a:ea typeface="Arial" pitchFamily="34" charset="-122"/>
                <a:cs typeface="Arial" pitchFamily="34" charset="-120"/>
              </a:rPr>
              <a:t>lượt khách Trung Quốc đến Việt Nam 2025</a:t>
            </a:r>
            <a:endParaRPr lang="en-US" sz="1600" dirty="0"/>
          </a:p>
        </p:txBody>
      </p:sp>
      <p:sp>
        <p:nvSpPr>
          <p:cNvPr id="11" name="Text 9"/>
          <p:cNvSpPr/>
          <p:nvPr/>
        </p:nvSpPr>
        <p:spPr>
          <a:xfrm>
            <a:off x="4686300" y="4000500"/>
            <a:ext cx="2921000" cy="1270000"/>
          </a:xfrm>
          <a:prstGeom prst="rect">
            <a:avLst/>
          </a:prstGeom>
          <a:noFill/>
          <a:ln/>
        </p:spPr>
        <p:txBody>
          <a:bodyPr wrap="square" lIns="0" tIns="0" rIns="0" bIns="0" rtlCol="0" anchor="t"/>
          <a:lstStyle/>
          <a:p>
            <a:pPr algn="l" indent="0" marL="0">
              <a:lnSpc>
                <a:spcPct val="130000"/>
              </a:lnSpc>
              <a:buNone/>
            </a:pPr>
            <a:r>
              <a:rPr lang="en-US" sz="1400" dirty="0">
                <a:solidFill>
                  <a:srgbClr val="4A5160"/>
                </a:solidFill>
                <a:latin typeface="Arial" pitchFamily="34" charset="0"/>
                <a:ea typeface="Arial" pitchFamily="34" charset="-122"/>
                <a:cs typeface="Arial" pitchFamily="34" charset="-120"/>
              </a:rPr>
              <a:t>Tăng 41% — thị trường khách quốc tế số 1, gần 1/4 tổng lượng khách.</a:t>
            </a:r>
            <a:endParaRPr lang="en-US" sz="1400" dirty="0"/>
          </a:p>
        </p:txBody>
      </p:sp>
      <p:sp>
        <p:nvSpPr>
          <p:cNvPr id="12" name="Shape 10"/>
          <p:cNvSpPr/>
          <p:nvPr/>
        </p:nvSpPr>
        <p:spPr>
          <a:xfrm>
            <a:off x="8001000" y="2159000"/>
            <a:ext cx="3390900" cy="3556000"/>
          </a:xfrm>
          <a:prstGeom prst="roundRect">
            <a:avLst>
              <a:gd name="adj" fmla="val 4584"/>
            </a:avLst>
          </a:prstGeom>
          <a:solidFill>
            <a:srgbClr val="FFFFFF"/>
          </a:solidFill>
          <a:ln w="12700">
            <a:solidFill>
              <a:srgbClr val="EADFCE"/>
            </a:solidFill>
            <a:prstDash val="solid"/>
          </a:ln>
        </p:spPr>
      </p:sp>
      <p:sp>
        <p:nvSpPr>
          <p:cNvPr id="13" name="Text 11"/>
          <p:cNvSpPr/>
          <p:nvPr/>
        </p:nvSpPr>
        <p:spPr>
          <a:xfrm>
            <a:off x="8280400" y="2438400"/>
            <a:ext cx="2921000" cy="698500"/>
          </a:xfrm>
          <a:prstGeom prst="rect">
            <a:avLst/>
          </a:prstGeom>
          <a:noFill/>
          <a:ln/>
        </p:spPr>
        <p:txBody>
          <a:bodyPr wrap="square" lIns="0" tIns="0" rIns="0" bIns="0" rtlCol="0" anchor="t"/>
          <a:lstStyle/>
          <a:p>
            <a:pPr algn="l" indent="0" marL="0">
              <a:lnSpc>
                <a:spcPct val="115000"/>
              </a:lnSpc>
              <a:buNone/>
            </a:pPr>
            <a:r>
              <a:rPr lang="en-US" sz="4400" b="1" dirty="0">
                <a:solidFill>
                  <a:srgbClr val="BD2B1F"/>
                </a:solidFill>
                <a:latin typeface="Arial" pitchFamily="34" charset="0"/>
                <a:ea typeface="Arial" pitchFamily="34" charset="-122"/>
                <a:cs typeface="Arial" pitchFamily="34" charset="-120"/>
              </a:rPr>
              <a:t>≈ 13.000</a:t>
            </a:r>
            <a:endParaRPr lang="en-US" sz="4400" dirty="0"/>
          </a:p>
        </p:txBody>
      </p:sp>
      <p:sp>
        <p:nvSpPr>
          <p:cNvPr id="14" name="Text 12"/>
          <p:cNvSpPr/>
          <p:nvPr/>
        </p:nvSpPr>
        <p:spPr>
          <a:xfrm>
            <a:off x="8280400" y="3238500"/>
            <a:ext cx="2921000" cy="635000"/>
          </a:xfrm>
          <a:prstGeom prst="rect">
            <a:avLst/>
          </a:prstGeom>
          <a:noFill/>
          <a:ln/>
        </p:spPr>
        <p:txBody>
          <a:bodyPr wrap="square" lIns="0" tIns="0" rIns="0" bIns="0" rtlCol="0" anchor="t"/>
          <a:lstStyle/>
          <a:p>
            <a:pPr algn="l" indent="0" marL="0">
              <a:lnSpc>
                <a:spcPct val="120000"/>
              </a:lnSpc>
              <a:buNone/>
            </a:pPr>
            <a:r>
              <a:rPr lang="en-US" sz="1600" b="1" dirty="0">
                <a:solidFill>
                  <a:srgbClr val="1F2430"/>
                </a:solidFill>
                <a:latin typeface="Arial" pitchFamily="34" charset="0"/>
                <a:ea typeface="Arial" pitchFamily="34" charset="-122"/>
                <a:cs typeface="Arial" pitchFamily="34" charset="-120"/>
              </a:rPr>
              <a:t>tin tuyển dụng yêu cầu tiếng Trung năm 2025</a:t>
            </a:r>
            <a:endParaRPr lang="en-US" sz="1600" dirty="0"/>
          </a:p>
        </p:txBody>
      </p:sp>
      <p:sp>
        <p:nvSpPr>
          <p:cNvPr id="15" name="Text 13"/>
          <p:cNvSpPr/>
          <p:nvPr/>
        </p:nvSpPr>
        <p:spPr>
          <a:xfrm>
            <a:off x="8280400" y="4000500"/>
            <a:ext cx="2921000" cy="1270000"/>
          </a:xfrm>
          <a:prstGeom prst="rect">
            <a:avLst/>
          </a:prstGeom>
          <a:noFill/>
          <a:ln/>
        </p:spPr>
        <p:txBody>
          <a:bodyPr wrap="square" lIns="0" tIns="0" rIns="0" bIns="0" rtlCol="0" anchor="t"/>
          <a:lstStyle/>
          <a:p>
            <a:pPr algn="l" indent="0" marL="0">
              <a:lnSpc>
                <a:spcPct val="130000"/>
              </a:lnSpc>
              <a:buNone/>
            </a:pPr>
            <a:r>
              <a:rPr lang="en-US" sz="1400" dirty="0">
                <a:solidFill>
                  <a:srgbClr val="4A5160"/>
                </a:solidFill>
                <a:latin typeface="Arial" pitchFamily="34" charset="0"/>
                <a:ea typeface="Arial" pitchFamily="34" charset="-122"/>
                <a:cs typeface="Arial" pitchFamily="34" charset="-120"/>
              </a:rPr>
              <a:t>Tăng khoảng 49%, theo làn sóng nhà máy, khu công nghiệp vốn Trung Quốc.</a:t>
            </a:r>
            <a:endParaRPr lang="en-US" sz="1400" dirty="0"/>
          </a:p>
        </p:txBody>
      </p:sp>
      <p:sp>
        <p:nvSpPr>
          <p:cNvPr id="16" name="Text 14"/>
          <p:cNvSpPr/>
          <p:nvPr/>
        </p:nvSpPr>
        <p:spPr>
          <a:xfrm>
            <a:off x="812800" y="6223000"/>
            <a:ext cx="10566400" cy="254000"/>
          </a:xfrm>
          <a:prstGeom prst="rect">
            <a:avLst/>
          </a:prstGeom>
          <a:noFill/>
          <a:ln/>
        </p:spPr>
        <p:txBody>
          <a:bodyPr wrap="square" lIns="0" tIns="0" rIns="0" bIns="0" rtlCol="0" anchor="t"/>
          <a:lstStyle/>
          <a:p>
            <a:pPr algn="l" indent="0" marL="0">
              <a:lnSpc>
                <a:spcPct val="115000"/>
              </a:lnSpc>
              <a:buNone/>
            </a:pPr>
            <a:r>
              <a:rPr lang="en-US" sz="1200" dirty="0">
                <a:solidFill>
                  <a:srgbClr val="5B6271"/>
                </a:solidFill>
                <a:latin typeface="Arial" pitchFamily="34" charset="0"/>
                <a:ea typeface="Arial" pitchFamily="34" charset="-122"/>
                <a:cs typeface="Arial" pitchFamily="34" charset="-120"/>
              </a:rPr>
              <a:t>Nguồn: Cục Hải quan (VCCI, Tạp chí Thuế &amp; Hải quan); Cục Du lịch Quốc gia (SGGP); JobOKO (Thương hiệu &amp; Công luận) — số liệu sơ bộ</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6EF"/>
        </a:solidFill>
      </p:bgPr>
    </p:bg>
    <p:spTree>
      <p:nvGrpSpPr>
        <p:cNvPr id="1" name=""/>
        <p:cNvGrpSpPr/>
        <p:nvPr/>
      </p:nvGrpSpPr>
      <p:grpSpPr>
        <a:xfrm>
          <a:off x="0" y="0"/>
          <a:ext cx="0" cy="0"/>
          <a:chOff x="0" y="0"/>
          <a:chExt cx="0" cy="0"/>
        </a:xfrm>
      </p:grpSpPr>
      <p:sp>
        <p:nvSpPr>
          <p:cNvPr id="2" name="Text 0"/>
          <p:cNvSpPr/>
          <p:nvPr/>
        </p:nvSpPr>
        <p:spPr>
          <a:xfrm>
            <a:off x="812800" y="812800"/>
            <a:ext cx="10566400" cy="254000"/>
          </a:xfrm>
          <a:prstGeom prst="rect">
            <a:avLst/>
          </a:prstGeom>
          <a:noFill/>
          <a:ln/>
        </p:spPr>
        <p:txBody>
          <a:bodyPr wrap="square" lIns="0" tIns="0" rIns="0" bIns="0" rtlCol="0" anchor="t"/>
          <a:lstStyle/>
          <a:p>
            <a:pPr algn="l" indent="0" marL="0">
              <a:lnSpc>
                <a:spcPct val="115000"/>
              </a:lnSpc>
              <a:buNone/>
            </a:pPr>
            <a:r>
              <a:rPr lang="en-US" sz="1200" b="1" spc="300" kern="0" dirty="0">
                <a:solidFill>
                  <a:srgbClr val="BD2B1F"/>
                </a:solidFill>
                <a:latin typeface="Arial" pitchFamily="34" charset="0"/>
                <a:ea typeface="Arial" pitchFamily="34" charset="-122"/>
                <a:cs typeface="Arial" pitchFamily="34" charset="-120"/>
              </a:rPr>
              <a:t>BỐI CẢNH</a:t>
            </a:r>
            <a:endParaRPr lang="en-US" sz="1200" dirty="0"/>
          </a:p>
        </p:txBody>
      </p:sp>
      <p:sp>
        <p:nvSpPr>
          <p:cNvPr id="3" name="Text 1"/>
          <p:cNvSpPr/>
          <p:nvPr/>
        </p:nvSpPr>
        <p:spPr>
          <a:xfrm>
            <a:off x="812800" y="1117600"/>
            <a:ext cx="10566400" cy="635000"/>
          </a:xfrm>
          <a:prstGeom prst="rect">
            <a:avLst/>
          </a:prstGeom>
          <a:noFill/>
          <a:ln/>
        </p:spPr>
        <p:txBody>
          <a:bodyPr wrap="square" lIns="0" tIns="0" rIns="0" bIns="0" rtlCol="0" anchor="t"/>
          <a:lstStyle/>
          <a:p>
            <a:pPr algn="l" indent="0" marL="0">
              <a:lnSpc>
                <a:spcPct val="105000"/>
              </a:lnSpc>
              <a:buNone/>
            </a:pPr>
            <a:r>
              <a:rPr lang="en-US" sz="3600" b="1" dirty="0">
                <a:solidFill>
                  <a:srgbClr val="1F2430"/>
                </a:solidFill>
                <a:latin typeface="Arial" pitchFamily="34" charset="0"/>
                <a:ea typeface="Arial" pitchFamily="34" charset="-122"/>
                <a:cs typeface="Arial" pitchFamily="34" charset="-120"/>
              </a:rPr>
              <a:t>Trong trường học và kỳ thi, chuẩn cũng vừa đổi</a:t>
            </a:r>
            <a:endParaRPr lang="en-US" sz="3600" dirty="0"/>
          </a:p>
        </p:txBody>
      </p:sp>
      <p:sp>
        <p:nvSpPr>
          <p:cNvPr id="4" name="Shape 2"/>
          <p:cNvSpPr/>
          <p:nvPr/>
        </p:nvSpPr>
        <p:spPr>
          <a:xfrm>
            <a:off x="812800" y="2413000"/>
            <a:ext cx="10566400" cy="0"/>
          </a:xfrm>
          <a:prstGeom prst="line">
            <a:avLst/>
          </a:prstGeom>
          <a:noFill/>
          <a:ln w="25400">
            <a:solidFill>
              <a:srgbClr val="EADFCE"/>
            </a:solidFill>
            <a:prstDash val="solid"/>
          </a:ln>
        </p:spPr>
      </p:sp>
      <p:sp>
        <p:nvSpPr>
          <p:cNvPr id="5" name="Text 3"/>
          <p:cNvSpPr/>
          <p:nvPr/>
        </p:nvSpPr>
        <p:spPr>
          <a:xfrm>
            <a:off x="812800" y="2667000"/>
            <a:ext cx="3302000" cy="635000"/>
          </a:xfrm>
          <a:prstGeom prst="rect">
            <a:avLst/>
          </a:prstGeom>
          <a:noFill/>
          <a:ln/>
        </p:spPr>
        <p:txBody>
          <a:bodyPr wrap="square" lIns="0" tIns="0" rIns="0" bIns="0" rtlCol="0" anchor="t"/>
          <a:lstStyle/>
          <a:p>
            <a:pPr algn="l" indent="0" marL="0">
              <a:lnSpc>
                <a:spcPct val="115000"/>
              </a:lnSpc>
              <a:buNone/>
            </a:pPr>
            <a:r>
              <a:rPr lang="en-US" sz="3600" b="1" dirty="0">
                <a:solidFill>
                  <a:srgbClr val="BD2B1F"/>
                </a:solidFill>
                <a:latin typeface="Arial" pitchFamily="34" charset="0"/>
                <a:ea typeface="Arial" pitchFamily="34" charset="-122"/>
                <a:cs typeface="Arial" pitchFamily="34" charset="-120"/>
              </a:rPr>
              <a:t>Lớp 3 → 12</a:t>
            </a:r>
            <a:endParaRPr lang="en-US" sz="3600" dirty="0"/>
          </a:p>
        </p:txBody>
      </p:sp>
      <p:sp>
        <p:nvSpPr>
          <p:cNvPr id="6" name="Text 4"/>
          <p:cNvSpPr/>
          <p:nvPr/>
        </p:nvSpPr>
        <p:spPr>
          <a:xfrm>
            <a:off x="4445000" y="2641600"/>
            <a:ext cx="6921500" cy="762000"/>
          </a:xfrm>
          <a:prstGeom prst="rect">
            <a:avLst/>
          </a:prstGeom>
          <a:noFill/>
          <a:ln/>
        </p:spPr>
        <p:txBody>
          <a:bodyPr wrap="square" lIns="0" tIns="0" rIns="0" bIns="0" rtlCol="0" anchor="t"/>
          <a:lstStyle/>
          <a:p>
            <a:pPr algn="l" indent="0" marL="0">
              <a:lnSpc>
                <a:spcPct val="130000"/>
              </a:lnSpc>
              <a:buNone/>
            </a:pPr>
            <a:r>
              <a:rPr lang="en-US" sz="1600" dirty="0">
                <a:solidFill>
                  <a:srgbClr val="1F2430"/>
                </a:solidFill>
                <a:latin typeface="Arial" pitchFamily="34" charset="0"/>
                <a:ea typeface="Arial" pitchFamily="34" charset="-122"/>
                <a:cs typeface="Arial" pitchFamily="34" charset="-120"/>
              </a:rPr>
              <a:t>Tiếng Trung là môn Ngoại ngữ 1 trong chương trình giáo dục phổ thông (Thông tư 19/2021/TT-BGDĐT).</a:t>
            </a:r>
            <a:endParaRPr lang="en-US" sz="1600" dirty="0"/>
          </a:p>
        </p:txBody>
      </p:sp>
      <p:sp>
        <p:nvSpPr>
          <p:cNvPr id="7" name="Shape 5"/>
          <p:cNvSpPr/>
          <p:nvPr/>
        </p:nvSpPr>
        <p:spPr>
          <a:xfrm>
            <a:off x="812800" y="3556000"/>
            <a:ext cx="10566400" cy="0"/>
          </a:xfrm>
          <a:prstGeom prst="line">
            <a:avLst/>
          </a:prstGeom>
          <a:noFill/>
          <a:ln w="25400">
            <a:solidFill>
              <a:srgbClr val="EADFCE"/>
            </a:solidFill>
            <a:prstDash val="solid"/>
          </a:ln>
        </p:spPr>
      </p:sp>
      <p:sp>
        <p:nvSpPr>
          <p:cNvPr id="8" name="Text 6"/>
          <p:cNvSpPr/>
          <p:nvPr/>
        </p:nvSpPr>
        <p:spPr>
          <a:xfrm>
            <a:off x="812800" y="3810000"/>
            <a:ext cx="3302000" cy="635000"/>
          </a:xfrm>
          <a:prstGeom prst="rect">
            <a:avLst/>
          </a:prstGeom>
          <a:noFill/>
          <a:ln/>
        </p:spPr>
        <p:txBody>
          <a:bodyPr wrap="square" lIns="0" tIns="0" rIns="0" bIns="0" rtlCol="0" anchor="t"/>
          <a:lstStyle/>
          <a:p>
            <a:pPr algn="l" indent="0" marL="0">
              <a:lnSpc>
                <a:spcPct val="115000"/>
              </a:lnSpc>
              <a:buNone/>
            </a:pPr>
            <a:r>
              <a:rPr lang="en-US" sz="3600" b="1" dirty="0">
                <a:solidFill>
                  <a:srgbClr val="BD2B1F"/>
                </a:solidFill>
                <a:latin typeface="Arial" pitchFamily="34" charset="0"/>
                <a:ea typeface="Arial" pitchFamily="34" charset="-122"/>
                <a:cs typeface="Arial" pitchFamily="34" charset="-120"/>
              </a:rPr>
              <a:t>35,8 / 40</a:t>
            </a:r>
            <a:endParaRPr lang="en-US" sz="3600" dirty="0"/>
          </a:p>
        </p:txBody>
      </p:sp>
      <p:sp>
        <p:nvSpPr>
          <p:cNvPr id="9" name="Text 7"/>
          <p:cNvSpPr/>
          <p:nvPr/>
        </p:nvSpPr>
        <p:spPr>
          <a:xfrm>
            <a:off x="4445000" y="3784600"/>
            <a:ext cx="6921500" cy="762000"/>
          </a:xfrm>
          <a:prstGeom prst="rect">
            <a:avLst/>
          </a:prstGeom>
          <a:noFill/>
          <a:ln/>
        </p:spPr>
        <p:txBody>
          <a:bodyPr wrap="square" lIns="0" tIns="0" rIns="0" bIns="0" rtlCol="0" anchor="t"/>
          <a:lstStyle/>
          <a:p>
            <a:pPr algn="l" indent="0" marL="0">
              <a:lnSpc>
                <a:spcPct val="130000"/>
              </a:lnSpc>
              <a:buNone/>
            </a:pPr>
            <a:r>
              <a:rPr lang="en-US" sz="1600" dirty="0">
                <a:solidFill>
                  <a:srgbClr val="1F2430"/>
                </a:solidFill>
                <a:latin typeface="Arial" pitchFamily="34" charset="0"/>
                <a:ea typeface="Arial" pitchFamily="34" charset="-122"/>
                <a:cs typeface="Arial" pitchFamily="34" charset="-120"/>
              </a:rPr>
              <a:t>Điểm chuẩn ngành Ngôn ngữ Trung Quốc, ĐH Hà Nội năm 2024 — cao nhất trường (năm 2025: 34,35).</a:t>
            </a:r>
            <a:endParaRPr lang="en-US" sz="1600" dirty="0"/>
          </a:p>
        </p:txBody>
      </p:sp>
      <p:sp>
        <p:nvSpPr>
          <p:cNvPr id="10" name="Shape 8"/>
          <p:cNvSpPr/>
          <p:nvPr/>
        </p:nvSpPr>
        <p:spPr>
          <a:xfrm>
            <a:off x="812800" y="4699000"/>
            <a:ext cx="10566400" cy="0"/>
          </a:xfrm>
          <a:prstGeom prst="line">
            <a:avLst/>
          </a:prstGeom>
          <a:noFill/>
          <a:ln w="25400">
            <a:solidFill>
              <a:srgbClr val="EADFCE"/>
            </a:solidFill>
            <a:prstDash val="solid"/>
          </a:ln>
        </p:spPr>
      </p:sp>
      <p:sp>
        <p:nvSpPr>
          <p:cNvPr id="11" name="Text 9"/>
          <p:cNvSpPr/>
          <p:nvPr/>
        </p:nvSpPr>
        <p:spPr>
          <a:xfrm>
            <a:off x="812800" y="4953000"/>
            <a:ext cx="3302000" cy="635000"/>
          </a:xfrm>
          <a:prstGeom prst="rect">
            <a:avLst/>
          </a:prstGeom>
          <a:noFill/>
          <a:ln/>
        </p:spPr>
        <p:txBody>
          <a:bodyPr wrap="square" lIns="0" tIns="0" rIns="0" bIns="0" rtlCol="0" anchor="t"/>
          <a:lstStyle/>
          <a:p>
            <a:pPr algn="l" indent="0" marL="0">
              <a:lnSpc>
                <a:spcPct val="115000"/>
              </a:lnSpc>
              <a:buNone/>
            </a:pPr>
            <a:r>
              <a:rPr lang="en-US" sz="3600" b="1" dirty="0">
                <a:solidFill>
                  <a:srgbClr val="BD2B1F"/>
                </a:solidFill>
                <a:latin typeface="Arial" pitchFamily="34" charset="0"/>
                <a:ea typeface="Arial" pitchFamily="34" charset="-122"/>
                <a:cs typeface="Arial" pitchFamily="34" charset="-120"/>
              </a:rPr>
              <a:t>9 cấp</a:t>
            </a:r>
            <a:endParaRPr lang="en-US" sz="3600" dirty="0"/>
          </a:p>
        </p:txBody>
      </p:sp>
      <p:sp>
        <p:nvSpPr>
          <p:cNvPr id="12" name="Text 10"/>
          <p:cNvSpPr/>
          <p:nvPr/>
        </p:nvSpPr>
        <p:spPr>
          <a:xfrm>
            <a:off x="4445000" y="4927600"/>
            <a:ext cx="6921500" cy="762000"/>
          </a:xfrm>
          <a:prstGeom prst="rect">
            <a:avLst/>
          </a:prstGeom>
          <a:noFill/>
          <a:ln/>
        </p:spPr>
        <p:txBody>
          <a:bodyPr wrap="square" lIns="0" tIns="0" rIns="0" bIns="0" rtlCol="0" anchor="t"/>
          <a:lstStyle/>
          <a:p>
            <a:pPr algn="l" indent="0" marL="0">
              <a:lnSpc>
                <a:spcPct val="130000"/>
              </a:lnSpc>
              <a:buNone/>
            </a:pPr>
            <a:r>
              <a:rPr lang="en-US" sz="1600" dirty="0">
                <a:solidFill>
                  <a:srgbClr val="1F2430"/>
                </a:solidFill>
                <a:latin typeface="Arial" pitchFamily="34" charset="0"/>
                <a:ea typeface="Arial" pitchFamily="34" charset="-122"/>
                <a:cs typeface="Arial" pitchFamily="34" charset="-120"/>
              </a:rPr>
              <a:t>HSK 3.0 thay chuẩn 6 cấp: khoảng 11.000 từ, gần gấp đôi bản cũ — nhiều sách và app cũ lệch cấp.</a:t>
            </a:r>
            <a:endParaRPr lang="en-US" sz="1600" dirty="0"/>
          </a:p>
        </p:txBody>
      </p:sp>
      <p:sp>
        <p:nvSpPr>
          <p:cNvPr id="13" name="Shape 11"/>
          <p:cNvSpPr/>
          <p:nvPr/>
        </p:nvSpPr>
        <p:spPr>
          <a:xfrm>
            <a:off x="812800" y="5842000"/>
            <a:ext cx="10566400" cy="0"/>
          </a:xfrm>
          <a:prstGeom prst="line">
            <a:avLst/>
          </a:prstGeom>
          <a:noFill/>
          <a:ln w="25400">
            <a:solidFill>
              <a:srgbClr val="EADFCE"/>
            </a:solidFill>
            <a:prstDash val="solid"/>
          </a:ln>
        </p:spPr>
      </p:sp>
      <p:sp>
        <p:nvSpPr>
          <p:cNvPr id="14" name="Text 12"/>
          <p:cNvSpPr/>
          <p:nvPr/>
        </p:nvSpPr>
        <p:spPr>
          <a:xfrm>
            <a:off x="812800" y="6223000"/>
            <a:ext cx="10566400" cy="254000"/>
          </a:xfrm>
          <a:prstGeom prst="rect">
            <a:avLst/>
          </a:prstGeom>
          <a:noFill/>
          <a:ln/>
        </p:spPr>
        <p:txBody>
          <a:bodyPr wrap="square" lIns="0" tIns="0" rIns="0" bIns="0" rtlCol="0" anchor="t"/>
          <a:lstStyle/>
          <a:p>
            <a:pPr algn="l" indent="0" marL="0">
              <a:lnSpc>
                <a:spcPct val="115000"/>
              </a:lnSpc>
              <a:buNone/>
            </a:pPr>
            <a:r>
              <a:rPr lang="en-US" sz="1200" dirty="0">
                <a:solidFill>
                  <a:srgbClr val="5B6271"/>
                </a:solidFill>
                <a:latin typeface="Arial" pitchFamily="34" charset="0"/>
                <a:ea typeface="Arial" pitchFamily="34" charset="-122"/>
                <a:cs typeface="Arial" pitchFamily="34" charset="-120"/>
              </a:rPr>
              <a:t>Nguồn: Bộ GD&amp;ĐT (Thông tư 19/2021); điểm chuẩn ĐH Hà Nội 2024–2025; Tuổi Trẻ, Báo Văn Hoá về HSK 3.0</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EADF"/>
        </a:solidFill>
      </p:bgPr>
    </p:bg>
    <p:spTree>
      <p:nvGrpSpPr>
        <p:cNvPr id="1" name=""/>
        <p:cNvGrpSpPr/>
        <p:nvPr/>
      </p:nvGrpSpPr>
      <p:grpSpPr>
        <a:xfrm>
          <a:off x="0" y="0"/>
          <a:ext cx="0" cy="0"/>
          <a:chOff x="0" y="0"/>
          <a:chExt cx="0" cy="0"/>
        </a:xfrm>
      </p:grpSpPr>
      <p:sp>
        <p:nvSpPr>
          <p:cNvPr id="2" name="Text 0"/>
          <p:cNvSpPr/>
          <p:nvPr/>
        </p:nvSpPr>
        <p:spPr>
          <a:xfrm>
            <a:off x="812800" y="812800"/>
            <a:ext cx="10566400" cy="254000"/>
          </a:xfrm>
          <a:prstGeom prst="rect">
            <a:avLst/>
          </a:prstGeom>
          <a:noFill/>
          <a:ln/>
        </p:spPr>
        <p:txBody>
          <a:bodyPr wrap="square" lIns="0" tIns="0" rIns="0" bIns="0" rtlCol="0" anchor="t"/>
          <a:lstStyle/>
          <a:p>
            <a:pPr algn="l" indent="0" marL="0">
              <a:lnSpc>
                <a:spcPct val="115000"/>
              </a:lnSpc>
              <a:buNone/>
            </a:pPr>
            <a:r>
              <a:rPr lang="en-US" sz="1200" b="1" spc="300" kern="0" dirty="0">
                <a:solidFill>
                  <a:srgbClr val="BD2B1F"/>
                </a:solidFill>
                <a:latin typeface="Arial" pitchFamily="34" charset="0"/>
                <a:ea typeface="Arial" pitchFamily="34" charset="-122"/>
                <a:cs typeface="Arial" pitchFamily="34" charset="-120"/>
              </a:rPr>
              <a:t>VẤN ĐỀ</a:t>
            </a:r>
            <a:endParaRPr lang="en-US" sz="1200" dirty="0"/>
          </a:p>
        </p:txBody>
      </p:sp>
      <p:sp>
        <p:nvSpPr>
          <p:cNvPr id="3" name="Text 1"/>
          <p:cNvSpPr/>
          <p:nvPr/>
        </p:nvSpPr>
        <p:spPr>
          <a:xfrm>
            <a:off x="812800" y="1117600"/>
            <a:ext cx="10566400" cy="635000"/>
          </a:xfrm>
          <a:prstGeom prst="rect">
            <a:avLst/>
          </a:prstGeom>
          <a:noFill/>
          <a:ln/>
        </p:spPr>
        <p:txBody>
          <a:bodyPr wrap="square" lIns="0" tIns="0" rIns="0" bIns="0" rtlCol="0" anchor="t"/>
          <a:lstStyle/>
          <a:p>
            <a:pPr algn="l" indent="0" marL="0">
              <a:lnSpc>
                <a:spcPct val="105000"/>
              </a:lnSpc>
              <a:buNone/>
            </a:pPr>
            <a:r>
              <a:rPr lang="en-US" sz="3600" b="1" dirty="0">
                <a:solidFill>
                  <a:srgbClr val="1F2430"/>
                </a:solidFill>
                <a:latin typeface="Arial" pitchFamily="34" charset="0"/>
                <a:ea typeface="Arial" pitchFamily="34" charset="-122"/>
                <a:cs typeface="Arial" pitchFamily="34" charset="-120"/>
              </a:rPr>
              <a:t>Người học Việt đang gặp khó ở đâu</a:t>
            </a:r>
            <a:endParaRPr lang="en-US" sz="3600" dirty="0"/>
          </a:p>
        </p:txBody>
      </p:sp>
      <p:sp>
        <p:nvSpPr>
          <p:cNvPr id="4" name="Shape 2"/>
          <p:cNvSpPr/>
          <p:nvPr/>
        </p:nvSpPr>
        <p:spPr>
          <a:xfrm>
            <a:off x="812800" y="2095500"/>
            <a:ext cx="5194300" cy="1727200"/>
          </a:xfrm>
          <a:prstGeom prst="roundRect">
            <a:avLst>
              <a:gd name="adj" fmla="val 9000"/>
            </a:avLst>
          </a:prstGeom>
          <a:solidFill>
            <a:srgbClr val="FBF6EF"/>
          </a:solidFill>
          <a:ln/>
        </p:spPr>
      </p:sp>
      <p:sp>
        <p:nvSpPr>
          <p:cNvPr id="5" name="Text 3"/>
          <p:cNvSpPr/>
          <p:nvPr/>
        </p:nvSpPr>
        <p:spPr>
          <a:xfrm>
            <a:off x="1066800" y="2324100"/>
            <a:ext cx="4699000" cy="381000"/>
          </a:xfrm>
          <a:prstGeom prst="rect">
            <a:avLst/>
          </a:prstGeom>
          <a:noFill/>
          <a:ln/>
        </p:spPr>
        <p:txBody>
          <a:bodyPr wrap="square" lIns="0" tIns="0" rIns="0" bIns="0" rtlCol="0" anchor="t"/>
          <a:lstStyle/>
          <a:p>
            <a:pPr algn="l" indent="0" marL="0">
              <a:lnSpc>
                <a:spcPct val="115000"/>
              </a:lnSpc>
              <a:buNone/>
            </a:pPr>
            <a:r>
              <a:rPr lang="en-US" sz="2000" b="1" dirty="0">
                <a:solidFill>
                  <a:srgbClr val="1F2430"/>
                </a:solidFill>
                <a:latin typeface="Arial" pitchFamily="34" charset="0"/>
                <a:ea typeface="Arial" pitchFamily="34" charset="-122"/>
                <a:cs typeface="Arial" pitchFamily="34" charset="-120"/>
              </a:rPr>
              <a:t>App quốc tế không nói tiếng Việt</a:t>
            </a:r>
            <a:endParaRPr lang="en-US" sz="2000" dirty="0"/>
          </a:p>
        </p:txBody>
      </p:sp>
      <p:sp>
        <p:nvSpPr>
          <p:cNvPr id="6" name="Text 4"/>
          <p:cNvSpPr/>
          <p:nvPr/>
        </p:nvSpPr>
        <p:spPr>
          <a:xfrm>
            <a:off x="1066800" y="2794000"/>
            <a:ext cx="4699000" cy="889000"/>
          </a:xfrm>
          <a:prstGeom prst="rect">
            <a:avLst/>
          </a:prstGeom>
          <a:noFill/>
          <a:ln/>
        </p:spPr>
        <p:txBody>
          <a:bodyPr wrap="square" lIns="0" tIns="0" rIns="0" bIns="0" rtlCol="0" anchor="t"/>
          <a:lstStyle/>
          <a:p>
            <a:pPr algn="l" indent="0" marL="0">
              <a:lnSpc>
                <a:spcPct val="130000"/>
              </a:lnSpc>
              <a:buNone/>
            </a:pPr>
            <a:r>
              <a:rPr lang="en-US" sz="1400" dirty="0">
                <a:solidFill>
                  <a:srgbClr val="4A5160"/>
                </a:solidFill>
                <a:latin typeface="Arial" pitchFamily="34" charset="0"/>
                <a:ea typeface="Arial" pitchFamily="34" charset="-122"/>
                <a:cs typeface="Arial" pitchFamily="34" charset="-120"/>
              </a:rPr>
              <a:t>Duolingo, HelloChinese, SuperChinese dạy qua tiếng Anh và bỏ qua âm Hán Việt — cầu nối sẵn có của người Việt.</a:t>
            </a:r>
            <a:endParaRPr lang="en-US" sz="1400" dirty="0"/>
          </a:p>
        </p:txBody>
      </p:sp>
      <p:sp>
        <p:nvSpPr>
          <p:cNvPr id="7" name="Shape 5"/>
          <p:cNvSpPr/>
          <p:nvPr/>
        </p:nvSpPr>
        <p:spPr>
          <a:xfrm>
            <a:off x="6184900" y="2095500"/>
            <a:ext cx="5194300" cy="1727200"/>
          </a:xfrm>
          <a:prstGeom prst="roundRect">
            <a:avLst>
              <a:gd name="adj" fmla="val 9000"/>
            </a:avLst>
          </a:prstGeom>
          <a:solidFill>
            <a:srgbClr val="FBF6EF"/>
          </a:solidFill>
          <a:ln/>
        </p:spPr>
      </p:sp>
      <p:sp>
        <p:nvSpPr>
          <p:cNvPr id="8" name="Text 6"/>
          <p:cNvSpPr/>
          <p:nvPr/>
        </p:nvSpPr>
        <p:spPr>
          <a:xfrm>
            <a:off x="6438900" y="2324100"/>
            <a:ext cx="4699000" cy="381000"/>
          </a:xfrm>
          <a:prstGeom prst="rect">
            <a:avLst/>
          </a:prstGeom>
          <a:noFill/>
          <a:ln/>
        </p:spPr>
        <p:txBody>
          <a:bodyPr wrap="square" lIns="0" tIns="0" rIns="0" bIns="0" rtlCol="0" anchor="t"/>
          <a:lstStyle/>
          <a:p>
            <a:pPr algn="l" indent="0" marL="0">
              <a:lnSpc>
                <a:spcPct val="115000"/>
              </a:lnSpc>
              <a:buNone/>
            </a:pPr>
            <a:r>
              <a:rPr lang="en-US" sz="2000" b="1" dirty="0">
                <a:solidFill>
                  <a:srgbClr val="1F2430"/>
                </a:solidFill>
                <a:latin typeface="Arial" pitchFamily="34" charset="0"/>
                <a:ea typeface="Arial" pitchFamily="34" charset="-122"/>
                <a:cs typeface="Arial" pitchFamily="34" charset="-120"/>
              </a:rPr>
              <a:t>Nhiều công cụ, không có lộ trình</a:t>
            </a:r>
            <a:endParaRPr lang="en-US" sz="2000" dirty="0"/>
          </a:p>
        </p:txBody>
      </p:sp>
      <p:sp>
        <p:nvSpPr>
          <p:cNvPr id="9" name="Text 7"/>
          <p:cNvSpPr/>
          <p:nvPr/>
        </p:nvSpPr>
        <p:spPr>
          <a:xfrm>
            <a:off x="6438900" y="2794000"/>
            <a:ext cx="4699000" cy="889000"/>
          </a:xfrm>
          <a:prstGeom prst="rect">
            <a:avLst/>
          </a:prstGeom>
          <a:noFill/>
          <a:ln/>
        </p:spPr>
        <p:txBody>
          <a:bodyPr wrap="square" lIns="0" tIns="0" rIns="0" bIns="0" rtlCol="0" anchor="t"/>
          <a:lstStyle/>
          <a:p>
            <a:pPr algn="l" indent="0" marL="0">
              <a:lnSpc>
                <a:spcPct val="130000"/>
              </a:lnSpc>
              <a:buNone/>
            </a:pPr>
            <a:r>
              <a:rPr lang="en-US" sz="1400" dirty="0">
                <a:solidFill>
                  <a:srgbClr val="4A5160"/>
                </a:solidFill>
                <a:latin typeface="Arial" pitchFamily="34" charset="0"/>
                <a:ea typeface="Arial" pitchFamily="34" charset="-122"/>
                <a:cs typeface="Arial" pitchFamily="34" charset="-120"/>
              </a:rPr>
              <a:t>Tra cứu, đề thi, sổ tay, cộng đồng… đứng rời nhau; người mới mở app không biết nên học gì trước.</a:t>
            </a:r>
            <a:endParaRPr lang="en-US" sz="1400" dirty="0"/>
          </a:p>
        </p:txBody>
      </p:sp>
      <p:sp>
        <p:nvSpPr>
          <p:cNvPr id="10" name="Shape 8"/>
          <p:cNvSpPr/>
          <p:nvPr/>
        </p:nvSpPr>
        <p:spPr>
          <a:xfrm>
            <a:off x="812800" y="4000500"/>
            <a:ext cx="5194300" cy="1727200"/>
          </a:xfrm>
          <a:prstGeom prst="roundRect">
            <a:avLst>
              <a:gd name="adj" fmla="val 9000"/>
            </a:avLst>
          </a:prstGeom>
          <a:solidFill>
            <a:srgbClr val="FBF6EF"/>
          </a:solidFill>
          <a:ln/>
        </p:spPr>
      </p:sp>
      <p:sp>
        <p:nvSpPr>
          <p:cNvPr id="11" name="Text 9"/>
          <p:cNvSpPr/>
          <p:nvPr/>
        </p:nvSpPr>
        <p:spPr>
          <a:xfrm>
            <a:off x="1066800" y="4229100"/>
            <a:ext cx="4699000" cy="381000"/>
          </a:xfrm>
          <a:prstGeom prst="rect">
            <a:avLst/>
          </a:prstGeom>
          <a:noFill/>
          <a:ln/>
        </p:spPr>
        <p:txBody>
          <a:bodyPr wrap="square" lIns="0" tIns="0" rIns="0" bIns="0" rtlCol="0" anchor="t"/>
          <a:lstStyle/>
          <a:p>
            <a:pPr algn="l" indent="0" marL="0">
              <a:lnSpc>
                <a:spcPct val="115000"/>
              </a:lnSpc>
              <a:buNone/>
            </a:pPr>
            <a:r>
              <a:rPr lang="en-US" sz="2000" b="1" dirty="0">
                <a:solidFill>
                  <a:srgbClr val="1F2430"/>
                </a:solidFill>
                <a:latin typeface="Arial" pitchFamily="34" charset="0"/>
                <a:ea typeface="Arial" pitchFamily="34" charset="-122"/>
                <a:cs typeface="Arial" pitchFamily="34" charset="-120"/>
              </a:rPr>
              <a:t>Luyện thi bị chặn sớm</a:t>
            </a:r>
            <a:endParaRPr lang="en-US" sz="2000" dirty="0"/>
          </a:p>
        </p:txBody>
      </p:sp>
      <p:sp>
        <p:nvSpPr>
          <p:cNvPr id="12" name="Text 10"/>
          <p:cNvSpPr/>
          <p:nvPr/>
        </p:nvSpPr>
        <p:spPr>
          <a:xfrm>
            <a:off x="1066800" y="4699000"/>
            <a:ext cx="4699000" cy="889000"/>
          </a:xfrm>
          <a:prstGeom prst="rect">
            <a:avLst/>
          </a:prstGeom>
          <a:noFill/>
          <a:ln/>
        </p:spPr>
        <p:txBody>
          <a:bodyPr wrap="square" lIns="0" tIns="0" rIns="0" bIns="0" rtlCol="0" anchor="t"/>
          <a:lstStyle/>
          <a:p>
            <a:pPr algn="l" indent="0" marL="0">
              <a:lnSpc>
                <a:spcPct val="130000"/>
              </a:lnSpc>
              <a:buNone/>
            </a:pPr>
            <a:r>
              <a:rPr lang="en-US" sz="1400" dirty="0">
                <a:solidFill>
                  <a:srgbClr val="4A5160"/>
                </a:solidFill>
                <a:latin typeface="Arial" pitchFamily="34" charset="0"/>
                <a:ea typeface="Arial" pitchFamily="34" charset="-122"/>
                <a:cs typeface="Arial" pitchFamily="34" charset="-120"/>
              </a:rPr>
              <a:t>Hanzii khoá đề thi thử thứ hai trở đi sau gói trả phí; Hanbeego bắt đăng nhập mới cho làm đề.</a:t>
            </a:r>
            <a:endParaRPr lang="en-US" sz="1400" dirty="0"/>
          </a:p>
        </p:txBody>
      </p:sp>
      <p:sp>
        <p:nvSpPr>
          <p:cNvPr id="13" name="Shape 11"/>
          <p:cNvSpPr/>
          <p:nvPr/>
        </p:nvSpPr>
        <p:spPr>
          <a:xfrm>
            <a:off x="6184900" y="4000500"/>
            <a:ext cx="5194300" cy="1727200"/>
          </a:xfrm>
          <a:prstGeom prst="roundRect">
            <a:avLst>
              <a:gd name="adj" fmla="val 9000"/>
            </a:avLst>
          </a:prstGeom>
          <a:solidFill>
            <a:srgbClr val="FBF6EF"/>
          </a:solidFill>
          <a:ln/>
        </p:spPr>
      </p:sp>
      <p:sp>
        <p:nvSpPr>
          <p:cNvPr id="14" name="Text 12"/>
          <p:cNvSpPr/>
          <p:nvPr/>
        </p:nvSpPr>
        <p:spPr>
          <a:xfrm>
            <a:off x="6438900" y="4229100"/>
            <a:ext cx="4699000" cy="381000"/>
          </a:xfrm>
          <a:prstGeom prst="rect">
            <a:avLst/>
          </a:prstGeom>
          <a:noFill/>
          <a:ln/>
        </p:spPr>
        <p:txBody>
          <a:bodyPr wrap="square" lIns="0" tIns="0" rIns="0" bIns="0" rtlCol="0" anchor="t"/>
          <a:lstStyle/>
          <a:p>
            <a:pPr algn="l" indent="0" marL="0">
              <a:lnSpc>
                <a:spcPct val="115000"/>
              </a:lnSpc>
              <a:buNone/>
            </a:pPr>
            <a:r>
              <a:rPr lang="en-US" sz="2000" b="1" dirty="0">
                <a:solidFill>
                  <a:srgbClr val="1F2430"/>
                </a:solidFill>
                <a:latin typeface="Arial" pitchFamily="34" charset="0"/>
                <a:ea typeface="Arial" pitchFamily="34" charset="-122"/>
                <a:cs typeface="Arial" pitchFamily="34" charset="-120"/>
              </a:rPr>
              <a:t>Thanh điệu khó tự kiểm tra</a:t>
            </a:r>
            <a:endParaRPr lang="en-US" sz="2000" dirty="0"/>
          </a:p>
        </p:txBody>
      </p:sp>
      <p:sp>
        <p:nvSpPr>
          <p:cNvPr id="15" name="Text 13"/>
          <p:cNvSpPr/>
          <p:nvPr/>
        </p:nvSpPr>
        <p:spPr>
          <a:xfrm>
            <a:off x="6438900" y="4699000"/>
            <a:ext cx="4699000" cy="889000"/>
          </a:xfrm>
          <a:prstGeom prst="rect">
            <a:avLst/>
          </a:prstGeom>
          <a:noFill/>
          <a:ln/>
        </p:spPr>
        <p:txBody>
          <a:bodyPr wrap="square" lIns="0" tIns="0" rIns="0" bIns="0" rtlCol="0" anchor="t"/>
          <a:lstStyle/>
          <a:p>
            <a:pPr algn="l" indent="0" marL="0">
              <a:lnSpc>
                <a:spcPct val="130000"/>
              </a:lnSpc>
              <a:buNone/>
            </a:pPr>
            <a:r>
              <a:rPr lang="en-US" sz="1400" dirty="0">
                <a:solidFill>
                  <a:srgbClr val="4A5160"/>
                </a:solidFill>
                <a:latin typeface="Arial" pitchFamily="34" charset="0"/>
                <a:ea typeface="Arial" pitchFamily="34" charset="-122"/>
                <a:cs typeface="Arial" pitchFamily="34" charset="-120"/>
              </a:rPr>
              <a:t>Học một mình thì không biết mình đọc đúng thanh 2 hay thanh 3 — lỗi sai bám theo rất lâu.</a:t>
            </a:r>
            <a:endParaRPr lang="en-US" sz="1400" dirty="0"/>
          </a:p>
        </p:txBody>
      </p:sp>
      <p:sp>
        <p:nvSpPr>
          <p:cNvPr id="16" name="Text 14"/>
          <p:cNvSpPr/>
          <p:nvPr/>
        </p:nvSpPr>
        <p:spPr>
          <a:xfrm>
            <a:off x="812800" y="6223000"/>
            <a:ext cx="10566400" cy="254000"/>
          </a:xfrm>
          <a:prstGeom prst="rect">
            <a:avLst/>
          </a:prstGeom>
          <a:noFill/>
          <a:ln/>
        </p:spPr>
        <p:txBody>
          <a:bodyPr wrap="square" lIns="0" tIns="0" rIns="0" bIns="0" rtlCol="0" anchor="t"/>
          <a:lstStyle/>
          <a:p>
            <a:pPr algn="l" indent="0" marL="0">
              <a:lnSpc>
                <a:spcPct val="115000"/>
              </a:lnSpc>
              <a:buNone/>
            </a:pPr>
            <a:r>
              <a:rPr lang="en-US" sz="1200" dirty="0">
                <a:solidFill>
                  <a:srgbClr val="5B6271"/>
                </a:solidFill>
                <a:latin typeface="Arial" pitchFamily="34" charset="0"/>
                <a:ea typeface="Arial" pitchFamily="34" charset="-122"/>
                <a:cs typeface="Arial" pitchFamily="34" charset="-120"/>
              </a:rPr>
              <a:t>Khảo sát trực tiếp web và ứng dụng Hanzii, Migii HSK, Hanbeego ở vai trò khách, tháng 10/2026</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BD2B1F"/>
        </a:solidFill>
      </p:bgPr>
    </p:bg>
    <p:spTree>
      <p:nvGrpSpPr>
        <p:cNvPr id="1" name=""/>
        <p:cNvGrpSpPr/>
        <p:nvPr/>
      </p:nvGrpSpPr>
      <p:grpSpPr>
        <a:xfrm>
          <a:off x="0" y="0"/>
          <a:ext cx="0" cy="0"/>
          <a:chOff x="0" y="0"/>
          <a:chExt cx="0" cy="0"/>
        </a:xfrm>
      </p:grpSpPr>
      <p:sp>
        <p:nvSpPr>
          <p:cNvPr id="2" name="Text 0"/>
          <p:cNvSpPr/>
          <p:nvPr/>
        </p:nvSpPr>
        <p:spPr>
          <a:xfrm>
            <a:off x="812800" y="812800"/>
            <a:ext cx="10566400" cy="254000"/>
          </a:xfrm>
          <a:prstGeom prst="rect">
            <a:avLst/>
          </a:prstGeom>
          <a:noFill/>
          <a:ln/>
        </p:spPr>
        <p:txBody>
          <a:bodyPr wrap="square" lIns="0" tIns="0" rIns="0" bIns="0" rtlCol="0" anchor="t"/>
          <a:lstStyle/>
          <a:p>
            <a:pPr algn="l" indent="0" marL="0">
              <a:lnSpc>
                <a:spcPct val="115000"/>
              </a:lnSpc>
              <a:buNone/>
            </a:pPr>
            <a:r>
              <a:rPr lang="en-US" sz="1200" b="1" spc="300" kern="0" dirty="0">
                <a:solidFill>
                  <a:srgbClr val="F6D9D4"/>
                </a:solidFill>
                <a:latin typeface="Arial" pitchFamily="34" charset="0"/>
                <a:ea typeface="Arial" pitchFamily="34" charset="-122"/>
                <a:cs typeface="Arial" pitchFamily="34" charset="-120"/>
              </a:rPr>
              <a:t>LỢI THẾ CHỈ NGƯỜI VIỆT CÓ</a:t>
            </a:r>
            <a:endParaRPr lang="en-US" sz="1200" dirty="0"/>
          </a:p>
        </p:txBody>
      </p:sp>
      <p:sp>
        <p:nvSpPr>
          <p:cNvPr id="3" name="Text 1"/>
          <p:cNvSpPr/>
          <p:nvPr/>
        </p:nvSpPr>
        <p:spPr>
          <a:xfrm>
            <a:off x="812800" y="1117600"/>
            <a:ext cx="10566400" cy="635000"/>
          </a:xfrm>
          <a:prstGeom prst="rect">
            <a:avLst/>
          </a:prstGeom>
          <a:noFill/>
          <a:ln/>
        </p:spPr>
        <p:txBody>
          <a:bodyPr wrap="square" lIns="0" tIns="0" rIns="0" bIns="0" rtlCol="0" anchor="t"/>
          <a:lstStyle/>
          <a:p>
            <a:pPr algn="l" indent="0" marL="0">
              <a:lnSpc>
                <a:spcPct val="105000"/>
              </a:lnSpc>
              <a:buNone/>
            </a:pPr>
            <a:r>
              <a:rPr lang="en-US" sz="3600" b="1" dirty="0">
                <a:solidFill>
                  <a:srgbClr val="FBF6EF"/>
                </a:solidFill>
                <a:latin typeface="Arial" pitchFamily="34" charset="0"/>
                <a:ea typeface="Arial" pitchFamily="34" charset="-122"/>
                <a:cs typeface="Arial" pitchFamily="34" charset="-120"/>
              </a:rPr>
              <a:t>Âm Hán Việt — bạn đã biết sẵn hàng nghìn từ</a:t>
            </a:r>
            <a:endParaRPr lang="en-US" sz="3600" dirty="0"/>
          </a:p>
        </p:txBody>
      </p:sp>
      <p:sp>
        <p:nvSpPr>
          <p:cNvPr id="4" name="Shape 2"/>
          <p:cNvSpPr/>
          <p:nvPr/>
        </p:nvSpPr>
        <p:spPr>
          <a:xfrm>
            <a:off x="812800" y="2095500"/>
            <a:ext cx="2508250" cy="1841500"/>
          </a:xfrm>
          <a:prstGeom prst="roundRect">
            <a:avLst>
              <a:gd name="adj" fmla="val 8441"/>
            </a:avLst>
          </a:prstGeom>
          <a:solidFill>
            <a:srgbClr val="A8241A"/>
          </a:solidFill>
          <a:ln/>
        </p:spPr>
      </p:sp>
      <p:sp>
        <p:nvSpPr>
          <p:cNvPr id="5" name="Text 3"/>
          <p:cNvSpPr/>
          <p:nvPr/>
        </p:nvSpPr>
        <p:spPr>
          <a:xfrm>
            <a:off x="812800" y="2286000"/>
            <a:ext cx="2508250" cy="762000"/>
          </a:xfrm>
          <a:prstGeom prst="rect">
            <a:avLst/>
          </a:prstGeom>
          <a:noFill/>
          <a:ln/>
        </p:spPr>
        <p:txBody>
          <a:bodyPr wrap="square" lIns="0" tIns="0" rIns="0" bIns="0" rtlCol="0" anchor="t"/>
          <a:lstStyle/>
          <a:p>
            <a:pPr algn="ctr" indent="0" marL="0">
              <a:lnSpc>
                <a:spcPct val="115000"/>
              </a:lnSpc>
              <a:buNone/>
            </a:pPr>
            <a:r>
              <a:rPr lang="en-US" sz="4400" dirty="0">
                <a:solidFill>
                  <a:srgbClr val="FBF6EF"/>
                </a:solidFill>
                <a:latin typeface="Microsoft YaHei" pitchFamily="34" charset="0"/>
                <a:ea typeface="Microsoft YaHei" pitchFamily="34" charset="-122"/>
                <a:cs typeface="Microsoft YaHei" pitchFamily="34" charset="-120"/>
              </a:rPr>
              <a:t>学生</a:t>
            </a:r>
            <a:endParaRPr lang="en-US" sz="4400" dirty="0"/>
          </a:p>
        </p:txBody>
      </p:sp>
      <p:sp>
        <p:nvSpPr>
          <p:cNvPr id="6" name="Text 4"/>
          <p:cNvSpPr/>
          <p:nvPr/>
        </p:nvSpPr>
        <p:spPr>
          <a:xfrm>
            <a:off x="812800" y="3111500"/>
            <a:ext cx="2508250" cy="355600"/>
          </a:xfrm>
          <a:prstGeom prst="rect">
            <a:avLst/>
          </a:prstGeom>
          <a:noFill/>
          <a:ln/>
        </p:spPr>
        <p:txBody>
          <a:bodyPr wrap="square" lIns="0" tIns="0" rIns="0" bIns="0" rtlCol="0" anchor="t"/>
          <a:lstStyle/>
          <a:p>
            <a:pPr algn="ctr" indent="0" marL="0">
              <a:lnSpc>
                <a:spcPct val="115000"/>
              </a:lnSpc>
              <a:buNone/>
            </a:pPr>
            <a:r>
              <a:rPr lang="en-US" sz="2000" b="1" dirty="0">
                <a:solidFill>
                  <a:srgbClr val="FBF6EF"/>
                </a:solidFill>
                <a:latin typeface="Arial" pitchFamily="34" charset="0"/>
                <a:ea typeface="Arial" pitchFamily="34" charset="-122"/>
                <a:cs typeface="Arial" pitchFamily="34" charset="-120"/>
              </a:rPr>
              <a:t>học sinh</a:t>
            </a:r>
            <a:endParaRPr lang="en-US" sz="2000" dirty="0"/>
          </a:p>
        </p:txBody>
      </p:sp>
      <p:sp>
        <p:nvSpPr>
          <p:cNvPr id="7" name="Shape 5"/>
          <p:cNvSpPr/>
          <p:nvPr/>
        </p:nvSpPr>
        <p:spPr>
          <a:xfrm>
            <a:off x="3498850" y="2095500"/>
            <a:ext cx="2508250" cy="1841500"/>
          </a:xfrm>
          <a:prstGeom prst="roundRect">
            <a:avLst>
              <a:gd name="adj" fmla="val 8441"/>
            </a:avLst>
          </a:prstGeom>
          <a:solidFill>
            <a:srgbClr val="A8241A"/>
          </a:solidFill>
          <a:ln/>
        </p:spPr>
      </p:sp>
      <p:sp>
        <p:nvSpPr>
          <p:cNvPr id="8" name="Text 6"/>
          <p:cNvSpPr/>
          <p:nvPr/>
        </p:nvSpPr>
        <p:spPr>
          <a:xfrm>
            <a:off x="3498850" y="2286000"/>
            <a:ext cx="2508250" cy="762000"/>
          </a:xfrm>
          <a:prstGeom prst="rect">
            <a:avLst/>
          </a:prstGeom>
          <a:noFill/>
          <a:ln/>
        </p:spPr>
        <p:txBody>
          <a:bodyPr wrap="square" lIns="0" tIns="0" rIns="0" bIns="0" rtlCol="0" anchor="t"/>
          <a:lstStyle/>
          <a:p>
            <a:pPr algn="ctr" indent="0" marL="0">
              <a:lnSpc>
                <a:spcPct val="115000"/>
              </a:lnSpc>
              <a:buNone/>
            </a:pPr>
            <a:r>
              <a:rPr lang="en-US" sz="4400" dirty="0">
                <a:solidFill>
                  <a:srgbClr val="FBF6EF"/>
                </a:solidFill>
                <a:latin typeface="Microsoft YaHei" pitchFamily="34" charset="0"/>
                <a:ea typeface="Microsoft YaHei" pitchFamily="34" charset="-122"/>
                <a:cs typeface="Microsoft YaHei" pitchFamily="34" charset="-120"/>
              </a:rPr>
              <a:t>时间</a:t>
            </a:r>
            <a:endParaRPr lang="en-US" sz="4400" dirty="0"/>
          </a:p>
        </p:txBody>
      </p:sp>
      <p:sp>
        <p:nvSpPr>
          <p:cNvPr id="9" name="Text 7"/>
          <p:cNvSpPr/>
          <p:nvPr/>
        </p:nvSpPr>
        <p:spPr>
          <a:xfrm>
            <a:off x="3498850" y="3111500"/>
            <a:ext cx="2508250" cy="355600"/>
          </a:xfrm>
          <a:prstGeom prst="rect">
            <a:avLst/>
          </a:prstGeom>
          <a:noFill/>
          <a:ln/>
        </p:spPr>
        <p:txBody>
          <a:bodyPr wrap="square" lIns="0" tIns="0" rIns="0" bIns="0" rtlCol="0" anchor="t"/>
          <a:lstStyle/>
          <a:p>
            <a:pPr algn="ctr" indent="0" marL="0">
              <a:lnSpc>
                <a:spcPct val="115000"/>
              </a:lnSpc>
              <a:buNone/>
            </a:pPr>
            <a:r>
              <a:rPr lang="en-US" sz="2000" b="1" dirty="0">
                <a:solidFill>
                  <a:srgbClr val="FBF6EF"/>
                </a:solidFill>
                <a:latin typeface="Arial" pitchFamily="34" charset="0"/>
                <a:ea typeface="Arial" pitchFamily="34" charset="-122"/>
                <a:cs typeface="Arial" pitchFamily="34" charset="-120"/>
              </a:rPr>
              <a:t>thời gian</a:t>
            </a:r>
            <a:endParaRPr lang="en-US" sz="2000" dirty="0"/>
          </a:p>
        </p:txBody>
      </p:sp>
      <p:sp>
        <p:nvSpPr>
          <p:cNvPr id="10" name="Shape 8"/>
          <p:cNvSpPr/>
          <p:nvPr/>
        </p:nvSpPr>
        <p:spPr>
          <a:xfrm>
            <a:off x="6184900" y="2095500"/>
            <a:ext cx="2508250" cy="1841500"/>
          </a:xfrm>
          <a:prstGeom prst="roundRect">
            <a:avLst>
              <a:gd name="adj" fmla="val 8441"/>
            </a:avLst>
          </a:prstGeom>
          <a:solidFill>
            <a:srgbClr val="A8241A"/>
          </a:solidFill>
          <a:ln/>
        </p:spPr>
      </p:sp>
      <p:sp>
        <p:nvSpPr>
          <p:cNvPr id="11" name="Text 9"/>
          <p:cNvSpPr/>
          <p:nvPr/>
        </p:nvSpPr>
        <p:spPr>
          <a:xfrm>
            <a:off x="6184900" y="2286000"/>
            <a:ext cx="2508250" cy="762000"/>
          </a:xfrm>
          <a:prstGeom prst="rect">
            <a:avLst/>
          </a:prstGeom>
          <a:noFill/>
          <a:ln/>
        </p:spPr>
        <p:txBody>
          <a:bodyPr wrap="square" lIns="0" tIns="0" rIns="0" bIns="0" rtlCol="0" anchor="t"/>
          <a:lstStyle/>
          <a:p>
            <a:pPr algn="ctr" indent="0" marL="0">
              <a:lnSpc>
                <a:spcPct val="115000"/>
              </a:lnSpc>
              <a:buNone/>
            </a:pPr>
            <a:r>
              <a:rPr lang="en-US" sz="4400" dirty="0">
                <a:solidFill>
                  <a:srgbClr val="FBF6EF"/>
                </a:solidFill>
                <a:latin typeface="Microsoft YaHei" pitchFamily="34" charset="0"/>
                <a:ea typeface="Microsoft YaHei" pitchFamily="34" charset="-122"/>
                <a:cs typeface="Microsoft YaHei" pitchFamily="34" charset="-120"/>
              </a:rPr>
              <a:t>国家</a:t>
            </a:r>
            <a:endParaRPr lang="en-US" sz="4400" dirty="0"/>
          </a:p>
        </p:txBody>
      </p:sp>
      <p:sp>
        <p:nvSpPr>
          <p:cNvPr id="12" name="Text 10"/>
          <p:cNvSpPr/>
          <p:nvPr/>
        </p:nvSpPr>
        <p:spPr>
          <a:xfrm>
            <a:off x="6184900" y="3111500"/>
            <a:ext cx="2508250" cy="355600"/>
          </a:xfrm>
          <a:prstGeom prst="rect">
            <a:avLst/>
          </a:prstGeom>
          <a:noFill/>
          <a:ln/>
        </p:spPr>
        <p:txBody>
          <a:bodyPr wrap="square" lIns="0" tIns="0" rIns="0" bIns="0" rtlCol="0" anchor="t"/>
          <a:lstStyle/>
          <a:p>
            <a:pPr algn="ctr" indent="0" marL="0">
              <a:lnSpc>
                <a:spcPct val="115000"/>
              </a:lnSpc>
              <a:buNone/>
            </a:pPr>
            <a:r>
              <a:rPr lang="en-US" sz="2000" b="1" dirty="0">
                <a:solidFill>
                  <a:srgbClr val="FBF6EF"/>
                </a:solidFill>
                <a:latin typeface="Arial" pitchFamily="34" charset="0"/>
                <a:ea typeface="Arial" pitchFamily="34" charset="-122"/>
                <a:cs typeface="Arial" pitchFamily="34" charset="-120"/>
              </a:rPr>
              <a:t>quốc gia</a:t>
            </a:r>
            <a:endParaRPr lang="en-US" sz="2000" dirty="0"/>
          </a:p>
        </p:txBody>
      </p:sp>
      <p:sp>
        <p:nvSpPr>
          <p:cNvPr id="13" name="Shape 11"/>
          <p:cNvSpPr/>
          <p:nvPr/>
        </p:nvSpPr>
        <p:spPr>
          <a:xfrm>
            <a:off x="8870950" y="2095500"/>
            <a:ext cx="2508250" cy="1841500"/>
          </a:xfrm>
          <a:prstGeom prst="roundRect">
            <a:avLst>
              <a:gd name="adj" fmla="val 8441"/>
            </a:avLst>
          </a:prstGeom>
          <a:solidFill>
            <a:srgbClr val="A8241A"/>
          </a:solidFill>
          <a:ln/>
        </p:spPr>
      </p:sp>
      <p:sp>
        <p:nvSpPr>
          <p:cNvPr id="14" name="Text 12"/>
          <p:cNvSpPr/>
          <p:nvPr/>
        </p:nvSpPr>
        <p:spPr>
          <a:xfrm>
            <a:off x="8870950" y="2286000"/>
            <a:ext cx="2508250" cy="762000"/>
          </a:xfrm>
          <a:prstGeom prst="rect">
            <a:avLst/>
          </a:prstGeom>
          <a:noFill/>
          <a:ln/>
        </p:spPr>
        <p:txBody>
          <a:bodyPr wrap="square" lIns="0" tIns="0" rIns="0" bIns="0" rtlCol="0" anchor="t"/>
          <a:lstStyle/>
          <a:p>
            <a:pPr algn="ctr" indent="0" marL="0">
              <a:lnSpc>
                <a:spcPct val="115000"/>
              </a:lnSpc>
              <a:buNone/>
            </a:pPr>
            <a:r>
              <a:rPr lang="en-US" sz="4400" dirty="0">
                <a:solidFill>
                  <a:srgbClr val="FBF6EF"/>
                </a:solidFill>
                <a:latin typeface="Microsoft YaHei" pitchFamily="34" charset="0"/>
                <a:ea typeface="Microsoft YaHei" pitchFamily="34" charset="-122"/>
                <a:cs typeface="Microsoft YaHei" pitchFamily="34" charset="-120"/>
              </a:rPr>
              <a:t>电脑</a:t>
            </a:r>
            <a:endParaRPr lang="en-US" sz="4400" dirty="0"/>
          </a:p>
        </p:txBody>
      </p:sp>
      <p:sp>
        <p:nvSpPr>
          <p:cNvPr id="15" name="Text 13"/>
          <p:cNvSpPr/>
          <p:nvPr/>
        </p:nvSpPr>
        <p:spPr>
          <a:xfrm>
            <a:off x="8870950" y="3111500"/>
            <a:ext cx="2508250" cy="355600"/>
          </a:xfrm>
          <a:prstGeom prst="rect">
            <a:avLst/>
          </a:prstGeom>
          <a:noFill/>
          <a:ln/>
        </p:spPr>
        <p:txBody>
          <a:bodyPr wrap="square" lIns="0" tIns="0" rIns="0" bIns="0" rtlCol="0" anchor="t"/>
          <a:lstStyle/>
          <a:p>
            <a:pPr algn="ctr" indent="0" marL="0">
              <a:lnSpc>
                <a:spcPct val="115000"/>
              </a:lnSpc>
              <a:buNone/>
            </a:pPr>
            <a:r>
              <a:rPr lang="en-US" sz="2000" b="1" dirty="0">
                <a:solidFill>
                  <a:srgbClr val="FBF6EF"/>
                </a:solidFill>
                <a:latin typeface="Arial" pitchFamily="34" charset="0"/>
                <a:ea typeface="Arial" pitchFamily="34" charset="-122"/>
                <a:cs typeface="Arial" pitchFamily="34" charset="-120"/>
              </a:rPr>
              <a:t>điện + não</a:t>
            </a:r>
            <a:endParaRPr lang="en-US" sz="2000" dirty="0"/>
          </a:p>
        </p:txBody>
      </p:sp>
      <p:sp>
        <p:nvSpPr>
          <p:cNvPr id="16" name="Text 14"/>
          <p:cNvSpPr/>
          <p:nvPr/>
        </p:nvSpPr>
        <p:spPr>
          <a:xfrm>
            <a:off x="8870950" y="3492500"/>
            <a:ext cx="2508250" cy="254000"/>
          </a:xfrm>
          <a:prstGeom prst="rect">
            <a:avLst/>
          </a:prstGeom>
          <a:noFill/>
          <a:ln/>
        </p:spPr>
        <p:txBody>
          <a:bodyPr wrap="square" lIns="0" tIns="0" rIns="0" bIns="0" rtlCol="0" anchor="t"/>
          <a:lstStyle/>
          <a:p>
            <a:pPr algn="ctr" indent="0" marL="0">
              <a:lnSpc>
                <a:spcPct val="115000"/>
              </a:lnSpc>
              <a:buNone/>
            </a:pPr>
            <a:r>
              <a:rPr lang="en-US" sz="1300" dirty="0">
                <a:solidFill>
                  <a:srgbClr val="F6D9D4"/>
                </a:solidFill>
                <a:latin typeface="Arial" pitchFamily="34" charset="0"/>
                <a:ea typeface="Arial" pitchFamily="34" charset="-122"/>
                <a:cs typeface="Arial" pitchFamily="34" charset="-120"/>
              </a:rPr>
              <a:t>→ máy tính</a:t>
            </a:r>
            <a:endParaRPr lang="en-US" sz="1300" dirty="0"/>
          </a:p>
        </p:txBody>
      </p:sp>
      <p:sp>
        <p:nvSpPr>
          <p:cNvPr id="17" name="Text 15"/>
          <p:cNvSpPr/>
          <p:nvPr/>
        </p:nvSpPr>
        <p:spPr>
          <a:xfrm>
            <a:off x="812800" y="4381500"/>
            <a:ext cx="5080000" cy="1079500"/>
          </a:xfrm>
          <a:prstGeom prst="rect">
            <a:avLst/>
          </a:prstGeom>
          <a:noFill/>
          <a:ln/>
        </p:spPr>
        <p:txBody>
          <a:bodyPr wrap="square" lIns="0" tIns="0" rIns="0" bIns="0" rtlCol="0" anchor="t"/>
          <a:lstStyle/>
          <a:p>
            <a:pPr algn="l" indent="0" marL="0">
              <a:lnSpc>
                <a:spcPct val="135000"/>
              </a:lnSpc>
              <a:buNone/>
            </a:pPr>
            <a:r>
              <a:rPr lang="en-US" sz="1600" dirty="0">
                <a:solidFill>
                  <a:srgbClr val="FBF6EF"/>
                </a:solidFill>
                <a:latin typeface="Arial" pitchFamily="34" charset="0"/>
                <a:ea typeface="Arial" pitchFamily="34" charset="-122"/>
                <a:cs typeface="Arial" pitchFamily="34" charset="-120"/>
              </a:rPr>
              <a:t>Khoảng 60% từ vựng tiếng Việt có gốc Hán — đọc âm Hán Việt là đoán được nghĩa.</a:t>
            </a:r>
            <a:endParaRPr lang="en-US" sz="1600" dirty="0"/>
          </a:p>
        </p:txBody>
      </p:sp>
      <p:sp>
        <p:nvSpPr>
          <p:cNvPr id="18" name="Text 16"/>
          <p:cNvSpPr/>
          <p:nvPr/>
        </p:nvSpPr>
        <p:spPr>
          <a:xfrm>
            <a:off x="6299200" y="4381500"/>
            <a:ext cx="5080000" cy="1079500"/>
          </a:xfrm>
          <a:prstGeom prst="rect">
            <a:avLst/>
          </a:prstGeom>
          <a:noFill/>
          <a:ln/>
        </p:spPr>
        <p:txBody>
          <a:bodyPr wrap="square" lIns="0" tIns="0" rIns="0" bIns="0" rtlCol="0" anchor="t"/>
          <a:lstStyle/>
          <a:p>
            <a:pPr algn="l" indent="0" marL="0">
              <a:lnSpc>
                <a:spcPct val="135000"/>
              </a:lnSpc>
              <a:buNone/>
            </a:pPr>
            <a:r>
              <a:rPr lang="en-US" sz="1600" dirty="0">
                <a:solidFill>
                  <a:srgbClr val="FBF6EF"/>
                </a:solidFill>
                <a:latin typeface="Arial" pitchFamily="34" charset="0"/>
                <a:ea typeface="Arial" pitchFamily="34" charset="-122"/>
                <a:cs typeface="Arial" pitchFamily="34" charset="-120"/>
              </a:rPr>
              <a:t>Dấu tiếng Việt đoán được thanh: không dấu → 1 (96%) · huyền → 2 (91%) · hỏi, ngã → 3 (92%) · sắc, nặng → 4 (94%).</a:t>
            </a:r>
            <a:endParaRPr lang="en-US" sz="1600" dirty="0"/>
          </a:p>
        </p:txBody>
      </p:sp>
      <p:sp>
        <p:nvSpPr>
          <p:cNvPr id="19" name="Text 17"/>
          <p:cNvSpPr/>
          <p:nvPr/>
        </p:nvSpPr>
        <p:spPr>
          <a:xfrm>
            <a:off x="812800" y="6223000"/>
            <a:ext cx="10566400" cy="254000"/>
          </a:xfrm>
          <a:prstGeom prst="rect">
            <a:avLst/>
          </a:prstGeom>
          <a:noFill/>
          <a:ln/>
        </p:spPr>
        <p:txBody>
          <a:bodyPr wrap="square" lIns="0" tIns="0" rIns="0" bIns="0" rtlCol="0" anchor="t"/>
          <a:lstStyle/>
          <a:p>
            <a:pPr algn="l" indent="0" marL="0">
              <a:lnSpc>
                <a:spcPct val="115000"/>
              </a:lnSpc>
              <a:buNone/>
            </a:pPr>
            <a:r>
              <a:rPr lang="en-US" sz="1200" dirty="0">
                <a:solidFill>
                  <a:srgbClr val="F6D9D4"/>
                </a:solidFill>
                <a:latin typeface="Arial" pitchFamily="34" charset="0"/>
                <a:ea typeface="Arial" pitchFamily="34" charset="-122"/>
                <a:cs typeface="Arial" pitchFamily="34" charset="-120"/>
              </a:rPr>
              <a:t>Tỉ lệ đoán thanh đo trên từ HSK 1–4 trong dữ liệu Hanni; 60% là ước lượng thường được trích dẫn trong các nghiên cứu về từ Hán Việt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6EF"/>
        </a:solidFill>
      </p:bgPr>
    </p:bg>
    <p:spTree>
      <p:nvGrpSpPr>
        <p:cNvPr id="1" name=""/>
        <p:cNvGrpSpPr/>
        <p:nvPr/>
      </p:nvGrpSpPr>
      <p:grpSpPr>
        <a:xfrm>
          <a:off x="0" y="0"/>
          <a:ext cx="0" cy="0"/>
          <a:chOff x="0" y="0"/>
          <a:chExt cx="0" cy="0"/>
        </a:xfrm>
      </p:grpSpPr>
      <p:sp>
        <p:nvSpPr>
          <p:cNvPr id="2" name="Text 0"/>
          <p:cNvSpPr/>
          <p:nvPr/>
        </p:nvSpPr>
        <p:spPr>
          <a:xfrm>
            <a:off x="812800" y="812800"/>
            <a:ext cx="10566400" cy="254000"/>
          </a:xfrm>
          <a:prstGeom prst="rect">
            <a:avLst/>
          </a:prstGeom>
          <a:noFill/>
          <a:ln/>
        </p:spPr>
        <p:txBody>
          <a:bodyPr wrap="square" lIns="0" tIns="0" rIns="0" bIns="0" rtlCol="0" anchor="t"/>
          <a:lstStyle/>
          <a:p>
            <a:pPr algn="l" indent="0" marL="0">
              <a:lnSpc>
                <a:spcPct val="115000"/>
              </a:lnSpc>
              <a:buNone/>
            </a:pPr>
            <a:r>
              <a:rPr lang="en-US" sz="1200" b="1" spc="300" kern="0" dirty="0">
                <a:solidFill>
                  <a:srgbClr val="BD2B1F"/>
                </a:solidFill>
                <a:latin typeface="Arial" pitchFamily="34" charset="0"/>
                <a:ea typeface="Arial" pitchFamily="34" charset="-122"/>
                <a:cs typeface="Arial" pitchFamily="34" charset="-120"/>
              </a:rPr>
              <a:t>GIẢI PHÁP</a:t>
            </a:r>
            <a:endParaRPr lang="en-US" sz="1200" dirty="0"/>
          </a:p>
        </p:txBody>
      </p:sp>
      <p:sp>
        <p:nvSpPr>
          <p:cNvPr id="3" name="Text 1"/>
          <p:cNvSpPr/>
          <p:nvPr/>
        </p:nvSpPr>
        <p:spPr>
          <a:xfrm>
            <a:off x="812800" y="1117600"/>
            <a:ext cx="5207000" cy="1397000"/>
          </a:xfrm>
          <a:prstGeom prst="rect">
            <a:avLst/>
          </a:prstGeom>
          <a:noFill/>
          <a:ln/>
        </p:spPr>
        <p:txBody>
          <a:bodyPr wrap="square" lIns="0" tIns="0" rIns="0" bIns="0" rtlCol="0" anchor="t"/>
          <a:lstStyle/>
          <a:p>
            <a:pPr algn="l" indent="0" marL="0">
              <a:lnSpc>
                <a:spcPct val="108000"/>
              </a:lnSpc>
              <a:buNone/>
            </a:pPr>
            <a:r>
              <a:rPr lang="en-US" sz="3200" b="1" dirty="0">
                <a:solidFill>
                  <a:srgbClr val="1F2430"/>
                </a:solidFill>
                <a:latin typeface="Arial" pitchFamily="34" charset="0"/>
                <a:ea typeface="Arial" pitchFamily="34" charset="-122"/>
                <a:cs typeface="Arial" pitchFamily="34" charset="-120"/>
              </a:rPr>
              <a:t>Hanni: một lộ trình, một nút Học tiếp</a:t>
            </a:r>
            <a:endParaRPr lang="en-US" sz="3200" dirty="0"/>
          </a:p>
        </p:txBody>
      </p:sp>
      <p:sp>
        <p:nvSpPr>
          <p:cNvPr id="4" name="Text 2"/>
          <p:cNvSpPr/>
          <p:nvPr/>
        </p:nvSpPr>
        <p:spPr>
          <a:xfrm>
            <a:off x="812800" y="2730500"/>
            <a:ext cx="5207000" cy="317500"/>
          </a:xfrm>
          <a:prstGeom prst="rect">
            <a:avLst/>
          </a:prstGeom>
          <a:noFill/>
          <a:ln/>
        </p:spPr>
        <p:txBody>
          <a:bodyPr wrap="square" lIns="0" tIns="0" rIns="0" bIns="0" rtlCol="0" anchor="t"/>
          <a:lstStyle/>
          <a:p>
            <a:pPr algn="l" indent="0" marL="0">
              <a:lnSpc>
                <a:spcPct val="115000"/>
              </a:lnSpc>
              <a:buNone/>
            </a:pPr>
            <a:r>
              <a:rPr lang="en-US" sz="1700" b="1" dirty="0">
                <a:solidFill>
                  <a:srgbClr val="1F2430"/>
                </a:solidFill>
                <a:latin typeface="Arial" pitchFamily="34" charset="0"/>
                <a:ea typeface="Arial" pitchFamily="34" charset="-122"/>
                <a:cs typeface="Arial" pitchFamily="34" charset="-120"/>
              </a:rPr>
              <a:t>Học ngay, chưa cần tài khoản</a:t>
            </a:r>
            <a:endParaRPr lang="en-US" sz="1700" dirty="0"/>
          </a:p>
        </p:txBody>
      </p:sp>
      <p:sp>
        <p:nvSpPr>
          <p:cNvPr id="5" name="Text 3"/>
          <p:cNvSpPr/>
          <p:nvPr/>
        </p:nvSpPr>
        <p:spPr>
          <a:xfrm>
            <a:off x="812800" y="3048000"/>
            <a:ext cx="5207000" cy="571500"/>
          </a:xfrm>
          <a:prstGeom prst="rect">
            <a:avLst/>
          </a:prstGeom>
          <a:noFill/>
          <a:ln/>
        </p:spPr>
        <p:txBody>
          <a:bodyPr wrap="square" lIns="0" tIns="0" rIns="0" bIns="0" rtlCol="0" anchor="t"/>
          <a:lstStyle/>
          <a:p>
            <a:pPr algn="l" indent="0" marL="0">
              <a:lnSpc>
                <a:spcPct val="130000"/>
              </a:lnSpc>
              <a:buNone/>
            </a:pPr>
            <a:r>
              <a:rPr lang="en-US" sz="1400" dirty="0">
                <a:solidFill>
                  <a:srgbClr val="4A5160"/>
                </a:solidFill>
                <a:latin typeface="Arial" pitchFamily="34" charset="0"/>
                <a:ea typeface="Arial" pitchFamily="34" charset="-122"/>
                <a:cs typeface="Arial" pitchFamily="34" charset="-120"/>
              </a:rPr>
              <a:t>Khách học bài 1, tra từ, làm đề thi thử; tài khoản chỉ để lưu tiến độ.</a:t>
            </a:r>
            <a:endParaRPr lang="en-US" sz="1400" dirty="0"/>
          </a:p>
        </p:txBody>
      </p:sp>
      <p:sp>
        <p:nvSpPr>
          <p:cNvPr id="6" name="Text 4"/>
          <p:cNvSpPr/>
          <p:nvPr/>
        </p:nvSpPr>
        <p:spPr>
          <a:xfrm>
            <a:off x="812800" y="3746500"/>
            <a:ext cx="5207000" cy="317500"/>
          </a:xfrm>
          <a:prstGeom prst="rect">
            <a:avLst/>
          </a:prstGeom>
          <a:noFill/>
          <a:ln/>
        </p:spPr>
        <p:txBody>
          <a:bodyPr wrap="square" lIns="0" tIns="0" rIns="0" bIns="0" rtlCol="0" anchor="t"/>
          <a:lstStyle/>
          <a:p>
            <a:pPr algn="l" indent="0" marL="0">
              <a:lnSpc>
                <a:spcPct val="115000"/>
              </a:lnSpc>
              <a:buNone/>
            </a:pPr>
            <a:r>
              <a:rPr lang="en-US" sz="1700" b="1" dirty="0">
                <a:solidFill>
                  <a:srgbClr val="1F2430"/>
                </a:solidFill>
                <a:latin typeface="Arial" pitchFamily="34" charset="0"/>
                <a:ea typeface="Arial" pitchFamily="34" charset="-122"/>
                <a:cs typeface="Arial" pitchFamily="34" charset="-120"/>
              </a:rPr>
              <a:t>Âm Hán Việt ở mọi nơi</a:t>
            </a:r>
            <a:endParaRPr lang="en-US" sz="1700" dirty="0"/>
          </a:p>
        </p:txBody>
      </p:sp>
      <p:sp>
        <p:nvSpPr>
          <p:cNvPr id="7" name="Text 5"/>
          <p:cNvSpPr/>
          <p:nvPr/>
        </p:nvSpPr>
        <p:spPr>
          <a:xfrm>
            <a:off x="812800" y="4064000"/>
            <a:ext cx="5207000" cy="571500"/>
          </a:xfrm>
          <a:prstGeom prst="rect">
            <a:avLst/>
          </a:prstGeom>
          <a:noFill/>
          <a:ln/>
        </p:spPr>
        <p:txBody>
          <a:bodyPr wrap="square" lIns="0" tIns="0" rIns="0" bIns="0" rtlCol="0" anchor="t"/>
          <a:lstStyle/>
          <a:p>
            <a:pPr algn="l" indent="0" marL="0">
              <a:lnSpc>
                <a:spcPct val="130000"/>
              </a:lnSpc>
              <a:buNone/>
            </a:pPr>
            <a:r>
              <a:rPr lang="en-US" sz="1400" dirty="0">
                <a:solidFill>
                  <a:srgbClr val="4A5160"/>
                </a:solidFill>
                <a:latin typeface="Arial" pitchFamily="34" charset="0"/>
                <a:ea typeface="Arial" pitchFamily="34" charset="-122"/>
                <a:cs typeface="Arial" pitchFamily="34" charset="-120"/>
              </a:rPr>
              <a:t>Thẻ từ, từ điển, chữa bài, ôn tập — đều kèm âm Hán Việt và mẹo đoán thanh.</a:t>
            </a:r>
            <a:endParaRPr lang="en-US" sz="1400" dirty="0"/>
          </a:p>
        </p:txBody>
      </p:sp>
      <p:sp>
        <p:nvSpPr>
          <p:cNvPr id="8" name="Text 6"/>
          <p:cNvSpPr/>
          <p:nvPr/>
        </p:nvSpPr>
        <p:spPr>
          <a:xfrm>
            <a:off x="812800" y="4762500"/>
            <a:ext cx="5207000" cy="317500"/>
          </a:xfrm>
          <a:prstGeom prst="rect">
            <a:avLst/>
          </a:prstGeom>
          <a:noFill/>
          <a:ln/>
        </p:spPr>
        <p:txBody>
          <a:bodyPr wrap="square" lIns="0" tIns="0" rIns="0" bIns="0" rtlCol="0" anchor="t"/>
          <a:lstStyle/>
          <a:p>
            <a:pPr algn="l" indent="0" marL="0">
              <a:lnSpc>
                <a:spcPct val="115000"/>
              </a:lnSpc>
              <a:buNone/>
            </a:pPr>
            <a:r>
              <a:rPr lang="en-US" sz="1700" b="1" dirty="0">
                <a:solidFill>
                  <a:srgbClr val="1F2430"/>
                </a:solidFill>
                <a:latin typeface="Arial" pitchFamily="34" charset="0"/>
                <a:ea typeface="Arial" pitchFamily="34" charset="-122"/>
                <a:cs typeface="Arial" pitchFamily="34" charset="-120"/>
              </a:rPr>
              <a:t>Mọi bài học miễn phí</a:t>
            </a:r>
            <a:endParaRPr lang="en-US" sz="1700" dirty="0"/>
          </a:p>
        </p:txBody>
      </p:sp>
      <p:sp>
        <p:nvSpPr>
          <p:cNvPr id="9" name="Text 7"/>
          <p:cNvSpPr/>
          <p:nvPr/>
        </p:nvSpPr>
        <p:spPr>
          <a:xfrm>
            <a:off x="812800" y="5080000"/>
            <a:ext cx="5207000" cy="571500"/>
          </a:xfrm>
          <a:prstGeom prst="rect">
            <a:avLst/>
          </a:prstGeom>
          <a:noFill/>
          <a:ln/>
        </p:spPr>
        <p:txBody>
          <a:bodyPr wrap="square" lIns="0" tIns="0" rIns="0" bIns="0" rtlCol="0" anchor="t"/>
          <a:lstStyle/>
          <a:p>
            <a:pPr algn="l" indent="0" marL="0">
              <a:lnSpc>
                <a:spcPct val="130000"/>
              </a:lnSpc>
              <a:buNone/>
            </a:pPr>
            <a:r>
              <a:rPr lang="en-US" sz="1400" dirty="0">
                <a:solidFill>
                  <a:srgbClr val="4A5160"/>
                </a:solidFill>
                <a:latin typeface="Arial" pitchFamily="34" charset="0"/>
                <a:ea typeface="Arial" pitchFamily="34" charset="-122"/>
                <a:cs typeface="Arial" pitchFamily="34" charset="-120"/>
              </a:rPr>
              <a:t>Premium chỉ mở thêm tiện ích AI, không khoá nội dung học nào.</a:t>
            </a:r>
            <a:endParaRPr lang="en-US" sz="1400" dirty="0"/>
          </a:p>
        </p:txBody>
      </p:sp>
      <p:sp>
        <p:nvSpPr>
          <p:cNvPr id="10" name="Shape 8"/>
          <p:cNvSpPr/>
          <p:nvPr/>
        </p:nvSpPr>
        <p:spPr>
          <a:xfrm>
            <a:off x="8178800" y="1003300"/>
            <a:ext cx="2382424" cy="4978400"/>
          </a:xfrm>
          <a:prstGeom prst="roundRect">
            <a:avLst>
              <a:gd name="adj" fmla="val 4606"/>
            </a:avLst>
          </a:prstGeom>
          <a:solidFill>
            <a:srgbClr val="15161A"/>
          </a:solidFill>
          <a:ln/>
        </p:spPr>
      </p:sp>
      <p:pic>
        <p:nvPicPr>
          <p:cNvPr id="11" name="Image 0" descr="/home/haidang/Hanni-demo/build/snaps/trang-chu.png">    </p:cNvPr>
          <p:cNvPicPr>
            <a:picLocks noChangeAspect="1"/>
          </p:cNvPicPr>
          <p:nvPr/>
        </p:nvPicPr>
        <p:blipFill>
          <a:blip r:embed="rId1"/>
          <a:stretch>
            <a:fillRect/>
          </a:stretch>
        </p:blipFill>
        <p:spPr>
          <a:xfrm>
            <a:off x="8255000" y="1079500"/>
            <a:ext cx="2230024" cy="4826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6EF"/>
        </a:solidFill>
      </p:bgPr>
    </p:bg>
    <p:spTree>
      <p:nvGrpSpPr>
        <p:cNvPr id="1" name=""/>
        <p:cNvGrpSpPr/>
        <p:nvPr/>
      </p:nvGrpSpPr>
      <p:grpSpPr>
        <a:xfrm>
          <a:off x="0" y="0"/>
          <a:ext cx="0" cy="0"/>
          <a:chOff x="0" y="0"/>
          <a:chExt cx="0" cy="0"/>
        </a:xfrm>
      </p:grpSpPr>
      <p:sp>
        <p:nvSpPr>
          <p:cNvPr id="2" name="Text 0"/>
          <p:cNvSpPr/>
          <p:nvPr/>
        </p:nvSpPr>
        <p:spPr>
          <a:xfrm>
            <a:off x="812800" y="812800"/>
            <a:ext cx="10566400" cy="254000"/>
          </a:xfrm>
          <a:prstGeom prst="rect">
            <a:avLst/>
          </a:prstGeom>
          <a:noFill/>
          <a:ln/>
        </p:spPr>
        <p:txBody>
          <a:bodyPr wrap="square" lIns="0" tIns="0" rIns="0" bIns="0" rtlCol="0" anchor="t"/>
          <a:lstStyle/>
          <a:p>
            <a:pPr algn="l" indent="0" marL="0">
              <a:lnSpc>
                <a:spcPct val="115000"/>
              </a:lnSpc>
              <a:buNone/>
            </a:pPr>
            <a:r>
              <a:rPr lang="en-US" sz="1200" b="1" spc="300" kern="0" dirty="0">
                <a:solidFill>
                  <a:srgbClr val="BD2B1F"/>
                </a:solidFill>
                <a:latin typeface="Arial" pitchFamily="34" charset="0"/>
                <a:ea typeface="Arial" pitchFamily="34" charset="-122"/>
                <a:cs typeface="Arial" pitchFamily="34" charset="-120"/>
              </a:rPr>
              <a:t>TÍNH NĂNG</a:t>
            </a:r>
            <a:endParaRPr lang="en-US" sz="1200" dirty="0"/>
          </a:p>
        </p:txBody>
      </p:sp>
      <p:sp>
        <p:nvSpPr>
          <p:cNvPr id="3" name="Text 1"/>
          <p:cNvSpPr/>
          <p:nvPr/>
        </p:nvSpPr>
        <p:spPr>
          <a:xfrm>
            <a:off x="812800" y="1117600"/>
            <a:ext cx="5207000" cy="1397000"/>
          </a:xfrm>
          <a:prstGeom prst="rect">
            <a:avLst/>
          </a:prstGeom>
          <a:noFill/>
          <a:ln/>
        </p:spPr>
        <p:txBody>
          <a:bodyPr wrap="square" lIns="0" tIns="0" rIns="0" bIns="0" rtlCol="0" anchor="t"/>
          <a:lstStyle/>
          <a:p>
            <a:pPr algn="l" indent="0" marL="0">
              <a:lnSpc>
                <a:spcPct val="108000"/>
              </a:lnSpc>
              <a:buNone/>
            </a:pPr>
            <a:r>
              <a:rPr lang="en-US" sz="3200" b="1" dirty="0">
                <a:solidFill>
                  <a:srgbClr val="1F2430"/>
                </a:solidFill>
                <a:latin typeface="Arial" pitchFamily="34" charset="0"/>
                <a:ea typeface="Arial" pitchFamily="34" charset="-122"/>
                <a:cs typeface="Arial" pitchFamily="34" charset="-120"/>
              </a:rPr>
              <a:t>Bài học 5 phút và chấm thanh điệu</a:t>
            </a:r>
            <a:endParaRPr lang="en-US" sz="3200" dirty="0"/>
          </a:p>
        </p:txBody>
      </p:sp>
      <p:sp>
        <p:nvSpPr>
          <p:cNvPr id="4" name="Text 2"/>
          <p:cNvSpPr/>
          <p:nvPr/>
        </p:nvSpPr>
        <p:spPr>
          <a:xfrm>
            <a:off x="812800" y="2730500"/>
            <a:ext cx="5207000" cy="317500"/>
          </a:xfrm>
          <a:prstGeom prst="rect">
            <a:avLst/>
          </a:prstGeom>
          <a:noFill/>
          <a:ln/>
        </p:spPr>
        <p:txBody>
          <a:bodyPr wrap="square" lIns="0" tIns="0" rIns="0" bIns="0" rtlCol="0" anchor="t"/>
          <a:lstStyle/>
          <a:p>
            <a:pPr algn="l" indent="0" marL="0">
              <a:lnSpc>
                <a:spcPct val="115000"/>
              </a:lnSpc>
              <a:buNone/>
            </a:pPr>
            <a:r>
              <a:rPr lang="en-US" sz="1700" b="1" dirty="0">
                <a:solidFill>
                  <a:srgbClr val="1F2430"/>
                </a:solidFill>
                <a:latin typeface="Arial" pitchFamily="34" charset="0"/>
                <a:ea typeface="Arial" pitchFamily="34" charset="-122"/>
                <a:cs typeface="Arial" pitchFamily="34" charset="-120"/>
              </a:rPr>
              <a:t>Thẻ giới thiệu từ</a:t>
            </a:r>
            <a:endParaRPr lang="en-US" sz="1700" dirty="0"/>
          </a:p>
        </p:txBody>
      </p:sp>
      <p:sp>
        <p:nvSpPr>
          <p:cNvPr id="5" name="Text 3"/>
          <p:cNvSpPr/>
          <p:nvPr/>
        </p:nvSpPr>
        <p:spPr>
          <a:xfrm>
            <a:off x="812800" y="3048000"/>
            <a:ext cx="5207000" cy="571500"/>
          </a:xfrm>
          <a:prstGeom prst="rect">
            <a:avLst/>
          </a:prstGeom>
          <a:noFill/>
          <a:ln/>
        </p:spPr>
        <p:txBody>
          <a:bodyPr wrap="square" lIns="0" tIns="0" rIns="0" bIns="0" rtlCol="0" anchor="t"/>
          <a:lstStyle/>
          <a:p>
            <a:pPr algn="l" indent="0" marL="0">
              <a:lnSpc>
                <a:spcPct val="130000"/>
              </a:lnSpc>
              <a:buNone/>
            </a:pPr>
            <a:r>
              <a:rPr lang="en-US" sz="1400" dirty="0">
                <a:solidFill>
                  <a:srgbClr val="4A5160"/>
                </a:solidFill>
                <a:latin typeface="Arial" pitchFamily="34" charset="0"/>
                <a:ea typeface="Arial" pitchFamily="34" charset="-122"/>
                <a:cs typeface="Arial" pitchFamily="34" charset="-120"/>
              </a:rPr>
              <a:t>Chữ Hán, phiên âm, nghĩa, câu ví dụ, âm Hán Việt + mẹo thanh điệu.</a:t>
            </a:r>
            <a:endParaRPr lang="en-US" sz="1400" dirty="0"/>
          </a:p>
        </p:txBody>
      </p:sp>
      <p:sp>
        <p:nvSpPr>
          <p:cNvPr id="6" name="Text 4"/>
          <p:cNvSpPr/>
          <p:nvPr/>
        </p:nvSpPr>
        <p:spPr>
          <a:xfrm>
            <a:off x="812800" y="3746500"/>
            <a:ext cx="5207000" cy="317500"/>
          </a:xfrm>
          <a:prstGeom prst="rect">
            <a:avLst/>
          </a:prstGeom>
          <a:noFill/>
          <a:ln/>
        </p:spPr>
        <p:txBody>
          <a:bodyPr wrap="square" lIns="0" tIns="0" rIns="0" bIns="0" rtlCol="0" anchor="t"/>
          <a:lstStyle/>
          <a:p>
            <a:pPr algn="l" indent="0" marL="0">
              <a:lnSpc>
                <a:spcPct val="115000"/>
              </a:lnSpc>
              <a:buNone/>
            </a:pPr>
            <a:r>
              <a:rPr lang="en-US" sz="1700" b="1" dirty="0">
                <a:solidFill>
                  <a:srgbClr val="1F2430"/>
                </a:solidFill>
                <a:latin typeface="Arial" pitchFamily="34" charset="0"/>
                <a:ea typeface="Arial" pitchFamily="34" charset="-122"/>
                <a:cs typeface="Arial" pitchFamily="34" charset="-120"/>
              </a:rPr>
              <a:t>Luyện ngay trong bài</a:t>
            </a:r>
            <a:endParaRPr lang="en-US" sz="1700" dirty="0"/>
          </a:p>
        </p:txBody>
      </p:sp>
      <p:sp>
        <p:nvSpPr>
          <p:cNvPr id="7" name="Text 5"/>
          <p:cNvSpPr/>
          <p:nvPr/>
        </p:nvSpPr>
        <p:spPr>
          <a:xfrm>
            <a:off x="812800" y="4064000"/>
            <a:ext cx="5207000" cy="571500"/>
          </a:xfrm>
          <a:prstGeom prst="rect">
            <a:avLst/>
          </a:prstGeom>
          <a:noFill/>
          <a:ln/>
        </p:spPr>
        <p:txBody>
          <a:bodyPr wrap="square" lIns="0" tIns="0" rIns="0" bIns="0" rtlCol="0" anchor="t"/>
          <a:lstStyle/>
          <a:p>
            <a:pPr algn="l" indent="0" marL="0">
              <a:lnSpc>
                <a:spcPct val="130000"/>
              </a:lnSpc>
              <a:buNone/>
            </a:pPr>
            <a:r>
              <a:rPr lang="en-US" sz="1400" dirty="0">
                <a:solidFill>
                  <a:srgbClr val="4A5160"/>
                </a:solidFill>
                <a:latin typeface="Arial" pitchFamily="34" charset="0"/>
                <a:ea typeface="Arial" pitchFamily="34" charset="-122"/>
                <a:cs typeface="Arial" pitchFamily="34" charset="-120"/>
              </a:rPr>
              <a:t>Trắc nghiệm, nghe chọn từ, ghép cặp, điền câu; câu sai quay lại cuối bài.</a:t>
            </a:r>
            <a:endParaRPr lang="en-US" sz="1400" dirty="0"/>
          </a:p>
        </p:txBody>
      </p:sp>
      <p:sp>
        <p:nvSpPr>
          <p:cNvPr id="8" name="Text 6"/>
          <p:cNvSpPr/>
          <p:nvPr/>
        </p:nvSpPr>
        <p:spPr>
          <a:xfrm>
            <a:off x="812800" y="4762500"/>
            <a:ext cx="5207000" cy="317500"/>
          </a:xfrm>
          <a:prstGeom prst="rect">
            <a:avLst/>
          </a:prstGeom>
          <a:noFill/>
          <a:ln/>
        </p:spPr>
        <p:txBody>
          <a:bodyPr wrap="square" lIns="0" tIns="0" rIns="0" bIns="0" rtlCol="0" anchor="t"/>
          <a:lstStyle/>
          <a:p>
            <a:pPr algn="l" indent="0" marL="0">
              <a:lnSpc>
                <a:spcPct val="115000"/>
              </a:lnSpc>
              <a:buNone/>
            </a:pPr>
            <a:r>
              <a:rPr lang="en-US" sz="1700" b="1" dirty="0">
                <a:solidFill>
                  <a:srgbClr val="1F2430"/>
                </a:solidFill>
                <a:latin typeface="Arial" pitchFamily="34" charset="0"/>
                <a:ea typeface="Arial" pitchFamily="34" charset="-122"/>
                <a:cs typeface="Arial" pitchFamily="34" charset="-120"/>
              </a:rPr>
              <a:t>Chấm thanh điệu trên máy</a:t>
            </a:r>
            <a:endParaRPr lang="en-US" sz="1700" dirty="0"/>
          </a:p>
        </p:txBody>
      </p:sp>
      <p:sp>
        <p:nvSpPr>
          <p:cNvPr id="9" name="Text 7"/>
          <p:cNvSpPr/>
          <p:nvPr/>
        </p:nvSpPr>
        <p:spPr>
          <a:xfrm>
            <a:off x="812800" y="5080000"/>
            <a:ext cx="5207000" cy="571500"/>
          </a:xfrm>
          <a:prstGeom prst="rect">
            <a:avLst/>
          </a:prstGeom>
          <a:noFill/>
          <a:ln/>
        </p:spPr>
        <p:txBody>
          <a:bodyPr wrap="square" lIns="0" tIns="0" rIns="0" bIns="0" rtlCol="0" anchor="t"/>
          <a:lstStyle/>
          <a:p>
            <a:pPr algn="l" indent="0" marL="0">
              <a:lnSpc>
                <a:spcPct val="130000"/>
              </a:lnSpc>
              <a:buNone/>
            </a:pPr>
            <a:r>
              <a:rPr lang="en-US" sz="1400" dirty="0">
                <a:solidFill>
                  <a:srgbClr val="4A5160"/>
                </a:solidFill>
                <a:latin typeface="Arial" pitchFamily="34" charset="0"/>
                <a:ea typeface="Arial" pitchFamily="34" charset="-122"/>
                <a:cs typeface="Arial" pitchFamily="34" charset="-120"/>
              </a:rPr>
              <a:t>Đồ thị cao độ giọng bạn chồng lên giọng chuẩn, chấm từng âm tiết — không tốn lượt AI.</a:t>
            </a:r>
            <a:endParaRPr lang="en-US" sz="1400" dirty="0"/>
          </a:p>
        </p:txBody>
      </p:sp>
      <p:sp>
        <p:nvSpPr>
          <p:cNvPr id="10" name="Shape 8"/>
          <p:cNvSpPr/>
          <p:nvPr/>
        </p:nvSpPr>
        <p:spPr>
          <a:xfrm>
            <a:off x="6527800" y="1003300"/>
            <a:ext cx="2382424" cy="4978400"/>
          </a:xfrm>
          <a:prstGeom prst="roundRect">
            <a:avLst>
              <a:gd name="adj" fmla="val 4606"/>
            </a:avLst>
          </a:prstGeom>
          <a:solidFill>
            <a:srgbClr val="15161A"/>
          </a:solidFill>
          <a:ln/>
        </p:spPr>
      </p:sp>
      <p:pic>
        <p:nvPicPr>
          <p:cNvPr id="11" name="Image 0" descr="/home/haidang/Hanni-demo/build/snaps/the-tu.png">    </p:cNvPr>
          <p:cNvPicPr>
            <a:picLocks noChangeAspect="1"/>
          </p:cNvPicPr>
          <p:nvPr/>
        </p:nvPicPr>
        <p:blipFill>
          <a:blip r:embed="rId1"/>
          <a:stretch>
            <a:fillRect/>
          </a:stretch>
        </p:blipFill>
        <p:spPr>
          <a:xfrm>
            <a:off x="6604000" y="1079500"/>
            <a:ext cx="2230024" cy="4826000"/>
          </a:xfrm>
          <a:prstGeom prst="rect">
            <a:avLst/>
          </a:prstGeom>
        </p:spPr>
      </p:pic>
      <p:sp>
        <p:nvSpPr>
          <p:cNvPr id="12" name="Shape 9"/>
          <p:cNvSpPr/>
          <p:nvPr/>
        </p:nvSpPr>
        <p:spPr>
          <a:xfrm>
            <a:off x="9113424" y="1003300"/>
            <a:ext cx="2382424" cy="4978400"/>
          </a:xfrm>
          <a:prstGeom prst="roundRect">
            <a:avLst>
              <a:gd name="adj" fmla="val 4606"/>
            </a:avLst>
          </a:prstGeom>
          <a:solidFill>
            <a:srgbClr val="15161A"/>
          </a:solidFill>
          <a:ln/>
        </p:spPr>
      </p:sp>
      <p:pic>
        <p:nvPicPr>
          <p:cNvPr id="13" name="Image 1" descr="/home/haidang/Hanni-demo/build/snaps/cham-thanh.png">    </p:cNvPr>
          <p:cNvPicPr>
            <a:picLocks noChangeAspect="1"/>
          </p:cNvPicPr>
          <p:nvPr/>
        </p:nvPicPr>
        <p:blipFill>
          <a:blip r:embed="rId2"/>
          <a:stretch>
            <a:fillRect/>
          </a:stretch>
        </p:blipFill>
        <p:spPr>
          <a:xfrm>
            <a:off x="9189624" y="1079500"/>
            <a:ext cx="2230024" cy="4826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6EF"/>
        </a:solidFill>
      </p:bgPr>
    </p:bg>
    <p:spTree>
      <p:nvGrpSpPr>
        <p:cNvPr id="1" name=""/>
        <p:cNvGrpSpPr/>
        <p:nvPr/>
      </p:nvGrpSpPr>
      <p:grpSpPr>
        <a:xfrm>
          <a:off x="0" y="0"/>
          <a:ext cx="0" cy="0"/>
          <a:chOff x="0" y="0"/>
          <a:chExt cx="0" cy="0"/>
        </a:xfrm>
      </p:grpSpPr>
      <p:sp>
        <p:nvSpPr>
          <p:cNvPr id="2" name="Text 0"/>
          <p:cNvSpPr/>
          <p:nvPr/>
        </p:nvSpPr>
        <p:spPr>
          <a:xfrm>
            <a:off x="812800" y="812800"/>
            <a:ext cx="10566400" cy="254000"/>
          </a:xfrm>
          <a:prstGeom prst="rect">
            <a:avLst/>
          </a:prstGeom>
          <a:noFill/>
          <a:ln/>
        </p:spPr>
        <p:txBody>
          <a:bodyPr wrap="square" lIns="0" tIns="0" rIns="0" bIns="0" rtlCol="0" anchor="t"/>
          <a:lstStyle/>
          <a:p>
            <a:pPr algn="l" indent="0" marL="0">
              <a:lnSpc>
                <a:spcPct val="115000"/>
              </a:lnSpc>
              <a:buNone/>
            </a:pPr>
            <a:r>
              <a:rPr lang="en-US" sz="1200" b="1" spc="300" kern="0" dirty="0">
                <a:solidFill>
                  <a:srgbClr val="BD2B1F"/>
                </a:solidFill>
                <a:latin typeface="Arial" pitchFamily="34" charset="0"/>
                <a:ea typeface="Arial" pitchFamily="34" charset="-122"/>
                <a:cs typeface="Arial" pitchFamily="34" charset="-120"/>
              </a:rPr>
              <a:t>TÍNH NĂNG</a:t>
            </a:r>
            <a:endParaRPr lang="en-US" sz="1200" dirty="0"/>
          </a:p>
        </p:txBody>
      </p:sp>
      <p:sp>
        <p:nvSpPr>
          <p:cNvPr id="3" name="Text 1"/>
          <p:cNvSpPr/>
          <p:nvPr/>
        </p:nvSpPr>
        <p:spPr>
          <a:xfrm>
            <a:off x="812800" y="1117600"/>
            <a:ext cx="5207000" cy="1397000"/>
          </a:xfrm>
          <a:prstGeom prst="rect">
            <a:avLst/>
          </a:prstGeom>
          <a:noFill/>
          <a:ln/>
        </p:spPr>
        <p:txBody>
          <a:bodyPr wrap="square" lIns="0" tIns="0" rIns="0" bIns="0" rtlCol="0" anchor="t"/>
          <a:lstStyle/>
          <a:p>
            <a:pPr algn="l" indent="0" marL="0">
              <a:lnSpc>
                <a:spcPct val="108000"/>
              </a:lnSpc>
              <a:buNone/>
            </a:pPr>
            <a:r>
              <a:rPr lang="en-US" sz="3200" b="1" dirty="0">
                <a:solidFill>
                  <a:srgbClr val="1F2430"/>
                </a:solidFill>
                <a:latin typeface="Arial" pitchFamily="34" charset="0"/>
                <a:ea typeface="Arial" pitchFamily="34" charset="-122"/>
                <a:cs typeface="Arial" pitchFamily="34" charset="-120"/>
              </a:rPr>
              <a:t>Từ điển có âm Hán Việt</a:t>
            </a:r>
            <a:endParaRPr lang="en-US" sz="3200" dirty="0"/>
          </a:p>
        </p:txBody>
      </p:sp>
      <p:sp>
        <p:nvSpPr>
          <p:cNvPr id="4" name="Text 2"/>
          <p:cNvSpPr/>
          <p:nvPr/>
        </p:nvSpPr>
        <p:spPr>
          <a:xfrm>
            <a:off x="812800" y="2730500"/>
            <a:ext cx="5207000" cy="317500"/>
          </a:xfrm>
          <a:prstGeom prst="rect">
            <a:avLst/>
          </a:prstGeom>
          <a:noFill/>
          <a:ln/>
        </p:spPr>
        <p:txBody>
          <a:bodyPr wrap="square" lIns="0" tIns="0" rIns="0" bIns="0" rtlCol="0" anchor="t"/>
          <a:lstStyle/>
          <a:p>
            <a:pPr algn="l" indent="0" marL="0">
              <a:lnSpc>
                <a:spcPct val="115000"/>
              </a:lnSpc>
              <a:buNone/>
            </a:pPr>
            <a:r>
              <a:rPr lang="en-US" sz="1700" b="1" dirty="0">
                <a:solidFill>
                  <a:srgbClr val="1F2430"/>
                </a:solidFill>
                <a:latin typeface="Arial" pitchFamily="34" charset="0"/>
                <a:ea typeface="Arial" pitchFamily="34" charset="-122"/>
                <a:cs typeface="Arial" pitchFamily="34" charset="-120"/>
              </a:rPr>
              <a:t>10.958 từ HSK 3.0</a:t>
            </a:r>
            <a:endParaRPr lang="en-US" sz="1700" dirty="0"/>
          </a:p>
        </p:txBody>
      </p:sp>
      <p:sp>
        <p:nvSpPr>
          <p:cNvPr id="5" name="Text 3"/>
          <p:cNvSpPr/>
          <p:nvPr/>
        </p:nvSpPr>
        <p:spPr>
          <a:xfrm>
            <a:off x="812800" y="3048000"/>
            <a:ext cx="5207000" cy="571500"/>
          </a:xfrm>
          <a:prstGeom prst="rect">
            <a:avLst/>
          </a:prstGeom>
          <a:noFill/>
          <a:ln/>
        </p:spPr>
        <p:txBody>
          <a:bodyPr wrap="square" lIns="0" tIns="0" rIns="0" bIns="0" rtlCol="0" anchor="t"/>
          <a:lstStyle/>
          <a:p>
            <a:pPr algn="l" indent="0" marL="0">
              <a:lnSpc>
                <a:spcPct val="130000"/>
              </a:lnSpc>
              <a:buNone/>
            </a:pPr>
            <a:r>
              <a:rPr lang="en-US" sz="1400" dirty="0">
                <a:solidFill>
                  <a:srgbClr val="4A5160"/>
                </a:solidFill>
                <a:latin typeface="Arial" pitchFamily="34" charset="0"/>
                <a:ea typeface="Arial" pitchFamily="34" charset="-122"/>
                <a:cs typeface="Arial" pitchFamily="34" charset="-120"/>
              </a:rPr>
              <a:t>Gõ chữ Hán, pinyin hoặc tiếng Việt không dấu đều tra được.</a:t>
            </a:r>
            <a:endParaRPr lang="en-US" sz="1400" dirty="0"/>
          </a:p>
        </p:txBody>
      </p:sp>
      <p:sp>
        <p:nvSpPr>
          <p:cNvPr id="6" name="Text 4"/>
          <p:cNvSpPr/>
          <p:nvPr/>
        </p:nvSpPr>
        <p:spPr>
          <a:xfrm>
            <a:off x="812800" y="3746500"/>
            <a:ext cx="5207000" cy="317500"/>
          </a:xfrm>
          <a:prstGeom prst="rect">
            <a:avLst/>
          </a:prstGeom>
          <a:noFill/>
          <a:ln/>
        </p:spPr>
        <p:txBody>
          <a:bodyPr wrap="square" lIns="0" tIns="0" rIns="0" bIns="0" rtlCol="0" anchor="t"/>
          <a:lstStyle/>
          <a:p>
            <a:pPr algn="l" indent="0" marL="0">
              <a:lnSpc>
                <a:spcPct val="115000"/>
              </a:lnSpc>
              <a:buNone/>
            </a:pPr>
            <a:r>
              <a:rPr lang="en-US" sz="1700" b="1" dirty="0">
                <a:solidFill>
                  <a:srgbClr val="1F2430"/>
                </a:solidFill>
                <a:latin typeface="Arial" pitchFamily="34" charset="0"/>
                <a:ea typeface="Arial" pitchFamily="34" charset="-122"/>
                <a:cs typeface="Arial" pitchFamily="34" charset="-120"/>
              </a:rPr>
              <a:t>Phân tích từng chữ</a:t>
            </a:r>
            <a:endParaRPr lang="en-US" sz="1700" dirty="0"/>
          </a:p>
        </p:txBody>
      </p:sp>
      <p:sp>
        <p:nvSpPr>
          <p:cNvPr id="7" name="Text 5"/>
          <p:cNvSpPr/>
          <p:nvPr/>
        </p:nvSpPr>
        <p:spPr>
          <a:xfrm>
            <a:off x="812800" y="4064000"/>
            <a:ext cx="5207000" cy="571500"/>
          </a:xfrm>
          <a:prstGeom prst="rect">
            <a:avLst/>
          </a:prstGeom>
          <a:noFill/>
          <a:ln/>
        </p:spPr>
        <p:txBody>
          <a:bodyPr wrap="square" lIns="0" tIns="0" rIns="0" bIns="0" rtlCol="0" anchor="t"/>
          <a:lstStyle/>
          <a:p>
            <a:pPr algn="l" indent="0" marL="0">
              <a:lnSpc>
                <a:spcPct val="130000"/>
              </a:lnSpc>
              <a:buNone/>
            </a:pPr>
            <a:r>
              <a:rPr lang="en-US" sz="1400" dirty="0">
                <a:solidFill>
                  <a:srgbClr val="4A5160"/>
                </a:solidFill>
                <a:latin typeface="Arial" pitchFamily="34" charset="0"/>
                <a:ea typeface="Arial" pitchFamily="34" charset="-122"/>
                <a:cs typeface="Arial" pitchFamily="34" charset="-120"/>
              </a:rPr>
              <a:t>学 học + 生 sinh → học sinh; kèm cách viết từng nét, câu ví dụ, lượng từ.</a:t>
            </a:r>
            <a:endParaRPr lang="en-US" sz="1400" dirty="0"/>
          </a:p>
        </p:txBody>
      </p:sp>
      <p:sp>
        <p:nvSpPr>
          <p:cNvPr id="8" name="Text 6"/>
          <p:cNvSpPr/>
          <p:nvPr/>
        </p:nvSpPr>
        <p:spPr>
          <a:xfrm>
            <a:off x="812800" y="4762500"/>
            <a:ext cx="5207000" cy="317500"/>
          </a:xfrm>
          <a:prstGeom prst="rect">
            <a:avLst/>
          </a:prstGeom>
          <a:noFill/>
          <a:ln/>
        </p:spPr>
        <p:txBody>
          <a:bodyPr wrap="square" lIns="0" tIns="0" rIns="0" bIns="0" rtlCol="0" anchor="t"/>
          <a:lstStyle/>
          <a:p>
            <a:pPr algn="l" indent="0" marL="0">
              <a:lnSpc>
                <a:spcPct val="115000"/>
              </a:lnSpc>
              <a:buNone/>
            </a:pPr>
            <a:r>
              <a:rPr lang="en-US" sz="1700" b="1" dirty="0">
                <a:solidFill>
                  <a:srgbClr val="1F2430"/>
                </a:solidFill>
                <a:latin typeface="Arial" pitchFamily="34" charset="0"/>
                <a:ea typeface="Arial" pitchFamily="34" charset="-122"/>
                <a:cs typeface="Arial" pitchFamily="34" charset="-120"/>
              </a:rPr>
              <a:t>Dán cả câu</a:t>
            </a:r>
            <a:endParaRPr lang="en-US" sz="1700" dirty="0"/>
          </a:p>
        </p:txBody>
      </p:sp>
      <p:sp>
        <p:nvSpPr>
          <p:cNvPr id="9" name="Text 7"/>
          <p:cNvSpPr/>
          <p:nvPr/>
        </p:nvSpPr>
        <p:spPr>
          <a:xfrm>
            <a:off x="812800" y="5080000"/>
            <a:ext cx="5207000" cy="571500"/>
          </a:xfrm>
          <a:prstGeom prst="rect">
            <a:avLst/>
          </a:prstGeom>
          <a:noFill/>
          <a:ln/>
        </p:spPr>
        <p:txBody>
          <a:bodyPr wrap="square" lIns="0" tIns="0" rIns="0" bIns="0" rtlCol="0" anchor="t"/>
          <a:lstStyle/>
          <a:p>
            <a:pPr algn="l" indent="0" marL="0">
              <a:lnSpc>
                <a:spcPct val="130000"/>
              </a:lnSpc>
              <a:buNone/>
            </a:pPr>
            <a:r>
              <a:rPr lang="en-US" sz="1400" dirty="0">
                <a:solidFill>
                  <a:srgbClr val="4A5160"/>
                </a:solidFill>
                <a:latin typeface="Arial" pitchFamily="34" charset="0"/>
                <a:ea typeface="Arial" pitchFamily="34" charset="-122"/>
                <a:cs typeface="Arial" pitchFamily="34" charset="-120"/>
              </a:rPr>
              <a:t>Tách từng từ kèm phiên âm và âm Hán Việt — không cần AI; có nút AI phân tích ngữ pháp.</a:t>
            </a:r>
            <a:endParaRPr lang="en-US" sz="1400" dirty="0"/>
          </a:p>
        </p:txBody>
      </p:sp>
      <p:sp>
        <p:nvSpPr>
          <p:cNvPr id="10" name="Shape 8"/>
          <p:cNvSpPr/>
          <p:nvPr/>
        </p:nvSpPr>
        <p:spPr>
          <a:xfrm>
            <a:off x="6527800" y="1003300"/>
            <a:ext cx="2382424" cy="4978400"/>
          </a:xfrm>
          <a:prstGeom prst="roundRect">
            <a:avLst>
              <a:gd name="adj" fmla="val 4606"/>
            </a:avLst>
          </a:prstGeom>
          <a:solidFill>
            <a:srgbClr val="15161A"/>
          </a:solidFill>
          <a:ln/>
        </p:spPr>
      </p:sp>
      <p:pic>
        <p:nvPicPr>
          <p:cNvPr id="11" name="Image 0" descr="/home/haidang/Hanni-demo/build/snaps/tu-dien.png">    </p:cNvPr>
          <p:cNvPicPr>
            <a:picLocks noChangeAspect="1"/>
          </p:cNvPicPr>
          <p:nvPr/>
        </p:nvPicPr>
        <p:blipFill>
          <a:blip r:embed="rId1"/>
          <a:stretch>
            <a:fillRect/>
          </a:stretch>
        </p:blipFill>
        <p:spPr>
          <a:xfrm>
            <a:off x="6604000" y="1079500"/>
            <a:ext cx="2230024" cy="4826000"/>
          </a:xfrm>
          <a:prstGeom prst="rect">
            <a:avLst/>
          </a:prstGeom>
        </p:spPr>
      </p:pic>
      <p:sp>
        <p:nvSpPr>
          <p:cNvPr id="12" name="Shape 9"/>
          <p:cNvSpPr/>
          <p:nvPr/>
        </p:nvSpPr>
        <p:spPr>
          <a:xfrm>
            <a:off x="9113424" y="1003300"/>
            <a:ext cx="2382424" cy="4978400"/>
          </a:xfrm>
          <a:prstGeom prst="roundRect">
            <a:avLst>
              <a:gd name="adj" fmla="val 4606"/>
            </a:avLst>
          </a:prstGeom>
          <a:solidFill>
            <a:srgbClr val="15161A"/>
          </a:solidFill>
          <a:ln/>
        </p:spPr>
      </p:sp>
      <p:pic>
        <p:nvPicPr>
          <p:cNvPr id="13" name="Image 1" descr="/home/haidang/Hanni-demo/build/snaps/cau.png">    </p:cNvPr>
          <p:cNvPicPr>
            <a:picLocks noChangeAspect="1"/>
          </p:cNvPicPr>
          <p:nvPr/>
        </p:nvPicPr>
        <p:blipFill>
          <a:blip r:embed="rId2"/>
          <a:stretch>
            <a:fillRect/>
          </a:stretch>
        </p:blipFill>
        <p:spPr>
          <a:xfrm>
            <a:off x="9189624" y="1079500"/>
            <a:ext cx="2230024" cy="4826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6EF"/>
        </a:solidFill>
      </p:bgPr>
    </p:bg>
    <p:spTree>
      <p:nvGrpSpPr>
        <p:cNvPr id="1" name=""/>
        <p:cNvGrpSpPr/>
        <p:nvPr/>
      </p:nvGrpSpPr>
      <p:grpSpPr>
        <a:xfrm>
          <a:off x="0" y="0"/>
          <a:ext cx="0" cy="0"/>
          <a:chOff x="0" y="0"/>
          <a:chExt cx="0" cy="0"/>
        </a:xfrm>
      </p:grpSpPr>
      <p:sp>
        <p:nvSpPr>
          <p:cNvPr id="2" name="Text 0"/>
          <p:cNvSpPr/>
          <p:nvPr/>
        </p:nvSpPr>
        <p:spPr>
          <a:xfrm>
            <a:off x="812800" y="812800"/>
            <a:ext cx="10566400" cy="254000"/>
          </a:xfrm>
          <a:prstGeom prst="rect">
            <a:avLst/>
          </a:prstGeom>
          <a:noFill/>
          <a:ln/>
        </p:spPr>
        <p:txBody>
          <a:bodyPr wrap="square" lIns="0" tIns="0" rIns="0" bIns="0" rtlCol="0" anchor="t"/>
          <a:lstStyle/>
          <a:p>
            <a:pPr algn="l" indent="0" marL="0">
              <a:lnSpc>
                <a:spcPct val="115000"/>
              </a:lnSpc>
              <a:buNone/>
            </a:pPr>
            <a:r>
              <a:rPr lang="en-US" sz="1200" b="1" spc="300" kern="0" dirty="0">
                <a:solidFill>
                  <a:srgbClr val="BD2B1F"/>
                </a:solidFill>
                <a:latin typeface="Arial" pitchFamily="34" charset="0"/>
                <a:ea typeface="Arial" pitchFamily="34" charset="-122"/>
                <a:cs typeface="Arial" pitchFamily="34" charset="-120"/>
              </a:rPr>
              <a:t>TÍNH NĂNG</a:t>
            </a:r>
            <a:endParaRPr lang="en-US" sz="1200" dirty="0"/>
          </a:p>
        </p:txBody>
      </p:sp>
      <p:sp>
        <p:nvSpPr>
          <p:cNvPr id="3" name="Text 1"/>
          <p:cNvSpPr/>
          <p:nvPr/>
        </p:nvSpPr>
        <p:spPr>
          <a:xfrm>
            <a:off x="812800" y="1117600"/>
            <a:ext cx="5207000" cy="1397000"/>
          </a:xfrm>
          <a:prstGeom prst="rect">
            <a:avLst/>
          </a:prstGeom>
          <a:noFill/>
          <a:ln/>
        </p:spPr>
        <p:txBody>
          <a:bodyPr wrap="square" lIns="0" tIns="0" rIns="0" bIns="0" rtlCol="0" anchor="t"/>
          <a:lstStyle/>
          <a:p>
            <a:pPr algn="l" indent="0" marL="0">
              <a:lnSpc>
                <a:spcPct val="108000"/>
              </a:lnSpc>
              <a:buNone/>
            </a:pPr>
            <a:r>
              <a:rPr lang="en-US" sz="3200" b="1" dirty="0">
                <a:solidFill>
                  <a:srgbClr val="1F2430"/>
                </a:solidFill>
                <a:latin typeface="Arial" pitchFamily="34" charset="0"/>
                <a:ea typeface="Arial" pitchFamily="34" charset="-122"/>
                <a:cs typeface="Arial" pitchFamily="34" charset="-120"/>
              </a:rPr>
              <a:t>Luyện thi HSK đúng cấu trúc đề thật</a:t>
            </a:r>
            <a:endParaRPr lang="en-US" sz="3200" dirty="0"/>
          </a:p>
        </p:txBody>
      </p:sp>
      <p:sp>
        <p:nvSpPr>
          <p:cNvPr id="4" name="Text 2"/>
          <p:cNvSpPr/>
          <p:nvPr/>
        </p:nvSpPr>
        <p:spPr>
          <a:xfrm>
            <a:off x="812800" y="2730500"/>
            <a:ext cx="5207000" cy="317500"/>
          </a:xfrm>
          <a:prstGeom prst="rect">
            <a:avLst/>
          </a:prstGeom>
          <a:noFill/>
          <a:ln/>
        </p:spPr>
        <p:txBody>
          <a:bodyPr wrap="square" lIns="0" tIns="0" rIns="0" bIns="0" rtlCol="0" anchor="t"/>
          <a:lstStyle/>
          <a:p>
            <a:pPr algn="l" indent="0" marL="0">
              <a:lnSpc>
                <a:spcPct val="115000"/>
              </a:lnSpc>
              <a:buNone/>
            </a:pPr>
            <a:r>
              <a:rPr lang="en-US" sz="1700" b="1" dirty="0">
                <a:solidFill>
                  <a:srgbClr val="1F2430"/>
                </a:solidFill>
                <a:latin typeface="Arial" pitchFamily="34" charset="0"/>
                <a:ea typeface="Arial" pitchFamily="34" charset="-122"/>
                <a:cs typeface="Arial" pitchFamily="34" charset="-120"/>
              </a:rPr>
              <a:t>10 đề HSK 1–4</a:t>
            </a:r>
            <a:endParaRPr lang="en-US" sz="1700" dirty="0"/>
          </a:p>
        </p:txBody>
      </p:sp>
      <p:sp>
        <p:nvSpPr>
          <p:cNvPr id="5" name="Text 3"/>
          <p:cNvSpPr/>
          <p:nvPr/>
        </p:nvSpPr>
        <p:spPr>
          <a:xfrm>
            <a:off x="812800" y="3048000"/>
            <a:ext cx="5207000" cy="571500"/>
          </a:xfrm>
          <a:prstGeom prst="rect">
            <a:avLst/>
          </a:prstGeom>
          <a:noFill/>
          <a:ln/>
        </p:spPr>
        <p:txBody>
          <a:bodyPr wrap="square" lIns="0" tIns="0" rIns="0" bIns="0" rtlCol="0" anchor="t"/>
          <a:lstStyle/>
          <a:p>
            <a:pPr algn="l" indent="0" marL="0">
              <a:lnSpc>
                <a:spcPct val="130000"/>
              </a:lnSpc>
              <a:buNone/>
            </a:pPr>
            <a:r>
              <a:rPr lang="en-US" sz="1400" dirty="0">
                <a:solidFill>
                  <a:srgbClr val="4A5160"/>
                </a:solidFill>
                <a:latin typeface="Arial" pitchFamily="34" charset="0"/>
                <a:ea typeface="Arial" pitchFamily="34" charset="-122"/>
                <a:cs typeface="Arial" pitchFamily="34" charset="-120"/>
              </a:rPr>
              <a:t>Nghe, đọc, viết; đồng hồ đếm ngược, bảng câu, đánh dấu câu.</a:t>
            </a:r>
            <a:endParaRPr lang="en-US" sz="1400" dirty="0"/>
          </a:p>
        </p:txBody>
      </p:sp>
      <p:sp>
        <p:nvSpPr>
          <p:cNvPr id="6" name="Text 4"/>
          <p:cNvSpPr/>
          <p:nvPr/>
        </p:nvSpPr>
        <p:spPr>
          <a:xfrm>
            <a:off x="812800" y="3746500"/>
            <a:ext cx="5207000" cy="317500"/>
          </a:xfrm>
          <a:prstGeom prst="rect">
            <a:avLst/>
          </a:prstGeom>
          <a:noFill/>
          <a:ln/>
        </p:spPr>
        <p:txBody>
          <a:bodyPr wrap="square" lIns="0" tIns="0" rIns="0" bIns="0" rtlCol="0" anchor="t"/>
          <a:lstStyle/>
          <a:p>
            <a:pPr algn="l" indent="0" marL="0">
              <a:lnSpc>
                <a:spcPct val="115000"/>
              </a:lnSpc>
              <a:buNone/>
            </a:pPr>
            <a:r>
              <a:rPr lang="en-US" sz="1700" b="1" dirty="0">
                <a:solidFill>
                  <a:srgbClr val="1F2430"/>
                </a:solidFill>
                <a:latin typeface="Arial" pitchFamily="34" charset="0"/>
                <a:ea typeface="Arial" pitchFamily="34" charset="-122"/>
                <a:cs typeface="Arial" pitchFamily="34" charset="-120"/>
              </a:rPr>
              <a:t>Chấm và chữa bằng tiếng Việt</a:t>
            </a:r>
            <a:endParaRPr lang="en-US" sz="1700" dirty="0"/>
          </a:p>
        </p:txBody>
      </p:sp>
      <p:sp>
        <p:nvSpPr>
          <p:cNvPr id="7" name="Text 5"/>
          <p:cNvSpPr/>
          <p:nvPr/>
        </p:nvSpPr>
        <p:spPr>
          <a:xfrm>
            <a:off x="812800" y="4064000"/>
            <a:ext cx="5207000" cy="571500"/>
          </a:xfrm>
          <a:prstGeom prst="rect">
            <a:avLst/>
          </a:prstGeom>
          <a:noFill/>
          <a:ln/>
        </p:spPr>
        <p:txBody>
          <a:bodyPr wrap="square" lIns="0" tIns="0" rIns="0" bIns="0" rtlCol="0" anchor="t"/>
          <a:lstStyle/>
          <a:p>
            <a:pPr algn="l" indent="0" marL="0">
              <a:lnSpc>
                <a:spcPct val="130000"/>
              </a:lnSpc>
              <a:buNone/>
            </a:pPr>
            <a:r>
              <a:rPr lang="en-US" sz="1400" dirty="0">
                <a:solidFill>
                  <a:srgbClr val="4A5160"/>
                </a:solidFill>
                <a:latin typeface="Arial" pitchFamily="34" charset="0"/>
                <a:ea typeface="Arial" pitchFamily="34" charset="-122"/>
                <a:cs typeface="Arial" pitchFamily="34" charset="-120"/>
              </a:rPr>
              <a:t>Điểm từng phần, bảng đáp án, lời thoại có pinyin, bản dịch, từ vựng kèm Hán Việt.</a:t>
            </a:r>
            <a:endParaRPr lang="en-US" sz="1400" dirty="0"/>
          </a:p>
        </p:txBody>
      </p:sp>
      <p:sp>
        <p:nvSpPr>
          <p:cNvPr id="8" name="Text 6"/>
          <p:cNvSpPr/>
          <p:nvPr/>
        </p:nvSpPr>
        <p:spPr>
          <a:xfrm>
            <a:off x="812800" y="4762500"/>
            <a:ext cx="5207000" cy="317500"/>
          </a:xfrm>
          <a:prstGeom prst="rect">
            <a:avLst/>
          </a:prstGeom>
          <a:noFill/>
          <a:ln/>
        </p:spPr>
        <p:txBody>
          <a:bodyPr wrap="square" lIns="0" tIns="0" rIns="0" bIns="0" rtlCol="0" anchor="t"/>
          <a:lstStyle/>
          <a:p>
            <a:pPr algn="l" indent="0" marL="0">
              <a:lnSpc>
                <a:spcPct val="115000"/>
              </a:lnSpc>
              <a:buNone/>
            </a:pPr>
            <a:r>
              <a:rPr lang="en-US" sz="1700" b="1" dirty="0">
                <a:solidFill>
                  <a:srgbClr val="1F2430"/>
                </a:solidFill>
                <a:latin typeface="Arial" pitchFamily="34" charset="0"/>
                <a:ea typeface="Arial" pitchFamily="34" charset="-122"/>
                <a:cs typeface="Arial" pitchFamily="34" charset="-120"/>
              </a:rPr>
              <a:t>Khách làm trọn đề</a:t>
            </a:r>
            <a:endParaRPr lang="en-US" sz="1700" dirty="0"/>
          </a:p>
        </p:txBody>
      </p:sp>
      <p:sp>
        <p:nvSpPr>
          <p:cNvPr id="9" name="Text 7"/>
          <p:cNvSpPr/>
          <p:nvPr/>
        </p:nvSpPr>
        <p:spPr>
          <a:xfrm>
            <a:off x="812800" y="5080000"/>
            <a:ext cx="5207000" cy="571500"/>
          </a:xfrm>
          <a:prstGeom prst="rect">
            <a:avLst/>
          </a:prstGeom>
          <a:noFill/>
          <a:ln/>
        </p:spPr>
        <p:txBody>
          <a:bodyPr wrap="square" lIns="0" tIns="0" rIns="0" bIns="0" rtlCol="0" anchor="t"/>
          <a:lstStyle/>
          <a:p>
            <a:pPr algn="l" indent="0" marL="0">
              <a:lnSpc>
                <a:spcPct val="130000"/>
              </a:lnSpc>
              <a:buNone/>
            </a:pPr>
            <a:r>
              <a:rPr lang="en-US" sz="1400" dirty="0">
                <a:solidFill>
                  <a:srgbClr val="4A5160"/>
                </a:solidFill>
                <a:latin typeface="Arial" pitchFamily="34" charset="0"/>
                <a:ea typeface="Arial" pitchFamily="34" charset="-122"/>
                <a:cs typeface="Arial" pitchFamily="34" charset="-120"/>
              </a:rPr>
              <a:t>Không cần tài khoản; đăng nhập để lưu điểm và xem điểm mạnh, yếu.</a:t>
            </a:r>
            <a:endParaRPr lang="en-US" sz="1400" dirty="0"/>
          </a:p>
        </p:txBody>
      </p:sp>
      <p:sp>
        <p:nvSpPr>
          <p:cNvPr id="10" name="Shape 8"/>
          <p:cNvSpPr/>
          <p:nvPr/>
        </p:nvSpPr>
        <p:spPr>
          <a:xfrm>
            <a:off x="6527800" y="1003300"/>
            <a:ext cx="2382424" cy="4978400"/>
          </a:xfrm>
          <a:prstGeom prst="roundRect">
            <a:avLst>
              <a:gd name="adj" fmla="val 4606"/>
            </a:avLst>
          </a:prstGeom>
          <a:solidFill>
            <a:srgbClr val="15161A"/>
          </a:solidFill>
          <a:ln/>
        </p:spPr>
      </p:sp>
      <p:pic>
        <p:nvPicPr>
          <p:cNvPr id="11" name="Image 0" descr="/home/haidang/Hanni-demo/build/snaps/thi-ket-qua.png">    </p:cNvPr>
          <p:cNvPicPr>
            <a:picLocks noChangeAspect="1"/>
          </p:cNvPicPr>
          <p:nvPr/>
        </p:nvPicPr>
        <p:blipFill>
          <a:blip r:embed="rId1"/>
          <a:stretch>
            <a:fillRect/>
          </a:stretch>
        </p:blipFill>
        <p:spPr>
          <a:xfrm>
            <a:off x="6604000" y="1079500"/>
            <a:ext cx="2230024" cy="4826000"/>
          </a:xfrm>
          <a:prstGeom prst="rect">
            <a:avLst/>
          </a:prstGeom>
        </p:spPr>
      </p:pic>
      <p:sp>
        <p:nvSpPr>
          <p:cNvPr id="12" name="Shape 9"/>
          <p:cNvSpPr/>
          <p:nvPr/>
        </p:nvSpPr>
        <p:spPr>
          <a:xfrm>
            <a:off x="9113424" y="1003300"/>
            <a:ext cx="2382424" cy="4978400"/>
          </a:xfrm>
          <a:prstGeom prst="roundRect">
            <a:avLst>
              <a:gd name="adj" fmla="val 4606"/>
            </a:avLst>
          </a:prstGeom>
          <a:solidFill>
            <a:srgbClr val="15161A"/>
          </a:solidFill>
          <a:ln/>
        </p:spPr>
      </p:sp>
      <p:pic>
        <p:nvPicPr>
          <p:cNvPr id="13" name="Image 1" descr="/home/haidang/Hanni-demo/build/snaps/chua-bai.png">    </p:cNvPr>
          <p:cNvPicPr>
            <a:picLocks noChangeAspect="1"/>
          </p:cNvPicPr>
          <p:nvPr/>
        </p:nvPicPr>
        <p:blipFill>
          <a:blip r:embed="rId2"/>
          <a:stretch>
            <a:fillRect/>
          </a:stretch>
        </p:blipFill>
        <p:spPr>
          <a:xfrm>
            <a:off x="9189624" y="1079500"/>
            <a:ext cx="2230024" cy="4826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6EF"/>
        </a:solidFill>
      </p:bgPr>
    </p:bg>
    <p:spTree>
      <p:nvGrpSpPr>
        <p:cNvPr id="1" name=""/>
        <p:cNvGrpSpPr/>
        <p:nvPr/>
      </p:nvGrpSpPr>
      <p:grpSpPr>
        <a:xfrm>
          <a:off x="0" y="0"/>
          <a:ext cx="0" cy="0"/>
          <a:chOff x="0" y="0"/>
          <a:chExt cx="0" cy="0"/>
        </a:xfrm>
      </p:grpSpPr>
      <p:sp>
        <p:nvSpPr>
          <p:cNvPr id="2" name="Text 0"/>
          <p:cNvSpPr/>
          <p:nvPr/>
        </p:nvSpPr>
        <p:spPr>
          <a:xfrm>
            <a:off x="812800" y="812800"/>
            <a:ext cx="10566400" cy="254000"/>
          </a:xfrm>
          <a:prstGeom prst="rect">
            <a:avLst/>
          </a:prstGeom>
          <a:noFill/>
          <a:ln/>
        </p:spPr>
        <p:txBody>
          <a:bodyPr wrap="square" lIns="0" tIns="0" rIns="0" bIns="0" rtlCol="0" anchor="t"/>
          <a:lstStyle/>
          <a:p>
            <a:pPr algn="l" indent="0" marL="0">
              <a:lnSpc>
                <a:spcPct val="115000"/>
              </a:lnSpc>
              <a:buNone/>
            </a:pPr>
            <a:r>
              <a:rPr lang="en-US" sz="1200" b="1" spc="300" kern="0" dirty="0">
                <a:solidFill>
                  <a:srgbClr val="BD2B1F"/>
                </a:solidFill>
                <a:latin typeface="Arial" pitchFamily="34" charset="0"/>
                <a:ea typeface="Arial" pitchFamily="34" charset="-122"/>
                <a:cs typeface="Arial" pitchFamily="34" charset="-120"/>
              </a:rPr>
              <a:t>TÍNH NĂNG</a:t>
            </a:r>
            <a:endParaRPr lang="en-US" sz="1200" dirty="0"/>
          </a:p>
        </p:txBody>
      </p:sp>
      <p:sp>
        <p:nvSpPr>
          <p:cNvPr id="3" name="Text 1"/>
          <p:cNvSpPr/>
          <p:nvPr/>
        </p:nvSpPr>
        <p:spPr>
          <a:xfrm>
            <a:off x="812800" y="1117600"/>
            <a:ext cx="5207000" cy="1397000"/>
          </a:xfrm>
          <a:prstGeom prst="rect">
            <a:avLst/>
          </a:prstGeom>
          <a:noFill/>
          <a:ln/>
        </p:spPr>
        <p:txBody>
          <a:bodyPr wrap="square" lIns="0" tIns="0" rIns="0" bIns="0" rtlCol="0" anchor="t"/>
          <a:lstStyle/>
          <a:p>
            <a:pPr algn="l" indent="0" marL="0">
              <a:lnSpc>
                <a:spcPct val="108000"/>
              </a:lnSpc>
              <a:buNone/>
            </a:pPr>
            <a:r>
              <a:rPr lang="en-US" sz="3200" b="1" dirty="0">
                <a:solidFill>
                  <a:srgbClr val="1F2430"/>
                </a:solidFill>
                <a:latin typeface="Arial" pitchFamily="34" charset="0"/>
                <a:ea typeface="Arial" pitchFamily="34" charset="-122"/>
                <a:cs typeface="Arial" pitchFamily="34" charset="-120"/>
              </a:rPr>
              <a:t>AI trong luồng học và lớp học</a:t>
            </a:r>
            <a:endParaRPr lang="en-US" sz="3200" dirty="0"/>
          </a:p>
        </p:txBody>
      </p:sp>
      <p:sp>
        <p:nvSpPr>
          <p:cNvPr id="4" name="Text 2"/>
          <p:cNvSpPr/>
          <p:nvPr/>
        </p:nvSpPr>
        <p:spPr>
          <a:xfrm>
            <a:off x="812800" y="2730500"/>
            <a:ext cx="5207000" cy="317500"/>
          </a:xfrm>
          <a:prstGeom prst="rect">
            <a:avLst/>
          </a:prstGeom>
          <a:noFill/>
          <a:ln/>
        </p:spPr>
        <p:txBody>
          <a:bodyPr wrap="square" lIns="0" tIns="0" rIns="0" bIns="0" rtlCol="0" anchor="t"/>
          <a:lstStyle/>
          <a:p>
            <a:pPr algn="l" indent="0" marL="0">
              <a:lnSpc>
                <a:spcPct val="115000"/>
              </a:lnSpc>
              <a:buNone/>
            </a:pPr>
            <a:r>
              <a:rPr lang="en-US" sz="1700" b="1" dirty="0">
                <a:solidFill>
                  <a:srgbClr val="1F2430"/>
                </a:solidFill>
                <a:latin typeface="Arial" pitchFamily="34" charset="0"/>
                <a:ea typeface="Arial" pitchFamily="34" charset="-122"/>
                <a:cs typeface="Arial" pitchFamily="34" charset="-120"/>
              </a:rPr>
              <a:t>Luyện nói với AI</a:t>
            </a:r>
            <a:endParaRPr lang="en-US" sz="1700" dirty="0"/>
          </a:p>
        </p:txBody>
      </p:sp>
      <p:sp>
        <p:nvSpPr>
          <p:cNvPr id="5" name="Text 3"/>
          <p:cNvSpPr/>
          <p:nvPr/>
        </p:nvSpPr>
        <p:spPr>
          <a:xfrm>
            <a:off x="812800" y="3048000"/>
            <a:ext cx="5207000" cy="571500"/>
          </a:xfrm>
          <a:prstGeom prst="rect">
            <a:avLst/>
          </a:prstGeom>
          <a:noFill/>
          <a:ln/>
        </p:spPr>
        <p:txBody>
          <a:bodyPr wrap="square" lIns="0" tIns="0" rIns="0" bIns="0" rtlCol="0" anchor="t"/>
          <a:lstStyle/>
          <a:p>
            <a:pPr algn="l" indent="0" marL="0">
              <a:lnSpc>
                <a:spcPct val="130000"/>
              </a:lnSpc>
              <a:buNone/>
            </a:pPr>
            <a:r>
              <a:rPr lang="en-US" sz="1400" dirty="0">
                <a:solidFill>
                  <a:srgbClr val="4A5160"/>
                </a:solidFill>
                <a:latin typeface="Arial" pitchFamily="34" charset="0"/>
                <a:ea typeface="Arial" pitchFamily="34" charset="-122"/>
                <a:cs typeface="Arial" pitchFamily="34" charset="-120"/>
              </a:rPr>
              <a:t>6 tình huống đời thường; AI đóng vai bằng tiếng Trung, có phiên âm, gợi ý câu.</a:t>
            </a:r>
            <a:endParaRPr lang="en-US" sz="1400" dirty="0"/>
          </a:p>
        </p:txBody>
      </p:sp>
      <p:sp>
        <p:nvSpPr>
          <p:cNvPr id="6" name="Text 4"/>
          <p:cNvSpPr/>
          <p:nvPr/>
        </p:nvSpPr>
        <p:spPr>
          <a:xfrm>
            <a:off x="812800" y="3746500"/>
            <a:ext cx="5207000" cy="317500"/>
          </a:xfrm>
          <a:prstGeom prst="rect">
            <a:avLst/>
          </a:prstGeom>
          <a:noFill/>
          <a:ln/>
        </p:spPr>
        <p:txBody>
          <a:bodyPr wrap="square" lIns="0" tIns="0" rIns="0" bIns="0" rtlCol="0" anchor="t"/>
          <a:lstStyle/>
          <a:p>
            <a:pPr algn="l" indent="0" marL="0">
              <a:lnSpc>
                <a:spcPct val="115000"/>
              </a:lnSpc>
              <a:buNone/>
            </a:pPr>
            <a:r>
              <a:rPr lang="en-US" sz="1700" b="1" dirty="0">
                <a:solidFill>
                  <a:srgbClr val="1F2430"/>
                </a:solidFill>
                <a:latin typeface="Arial" pitchFamily="34" charset="0"/>
                <a:ea typeface="Arial" pitchFamily="34" charset="-122"/>
                <a:cs typeface="Arial" pitchFamily="34" charset="-120"/>
              </a:rPr>
              <a:t>AI ở từ điển và báo cáo</a:t>
            </a:r>
            <a:endParaRPr lang="en-US" sz="1700" dirty="0"/>
          </a:p>
        </p:txBody>
      </p:sp>
      <p:sp>
        <p:nvSpPr>
          <p:cNvPr id="7" name="Text 5"/>
          <p:cNvSpPr/>
          <p:nvPr/>
        </p:nvSpPr>
        <p:spPr>
          <a:xfrm>
            <a:off x="812800" y="4064000"/>
            <a:ext cx="5207000" cy="571500"/>
          </a:xfrm>
          <a:prstGeom prst="rect">
            <a:avLst/>
          </a:prstGeom>
          <a:noFill/>
          <a:ln/>
        </p:spPr>
        <p:txBody>
          <a:bodyPr wrap="square" lIns="0" tIns="0" rIns="0" bIns="0" rtlCol="0" anchor="t"/>
          <a:lstStyle/>
          <a:p>
            <a:pPr algn="l" indent="0" marL="0">
              <a:lnSpc>
                <a:spcPct val="130000"/>
              </a:lnSpc>
              <a:buNone/>
            </a:pPr>
            <a:r>
              <a:rPr lang="en-US" sz="1400" dirty="0">
                <a:solidFill>
                  <a:srgbClr val="4A5160"/>
                </a:solidFill>
                <a:latin typeface="Arial" pitchFamily="34" charset="0"/>
                <a:ea typeface="Arial" pitchFamily="34" charset="-122"/>
                <a:cs typeface="Arial" pitchFamily="34" charset="-120"/>
              </a:rPr>
              <a:t>Mẹo nhớ theo Hán Việt, chấm câu tự đặt, phân tích câu, Hanni Coach.</a:t>
            </a:r>
            <a:endParaRPr lang="en-US" sz="1400" dirty="0"/>
          </a:p>
        </p:txBody>
      </p:sp>
      <p:sp>
        <p:nvSpPr>
          <p:cNvPr id="8" name="Text 6"/>
          <p:cNvSpPr/>
          <p:nvPr/>
        </p:nvSpPr>
        <p:spPr>
          <a:xfrm>
            <a:off x="812800" y="4762500"/>
            <a:ext cx="5207000" cy="317500"/>
          </a:xfrm>
          <a:prstGeom prst="rect">
            <a:avLst/>
          </a:prstGeom>
          <a:noFill/>
          <a:ln/>
        </p:spPr>
        <p:txBody>
          <a:bodyPr wrap="square" lIns="0" tIns="0" rIns="0" bIns="0" rtlCol="0" anchor="t"/>
          <a:lstStyle/>
          <a:p>
            <a:pPr algn="l" indent="0" marL="0">
              <a:lnSpc>
                <a:spcPct val="115000"/>
              </a:lnSpc>
              <a:buNone/>
            </a:pPr>
            <a:r>
              <a:rPr lang="en-US" sz="1700" b="1" dirty="0">
                <a:solidFill>
                  <a:srgbClr val="1F2430"/>
                </a:solidFill>
                <a:latin typeface="Arial" pitchFamily="34" charset="0"/>
                <a:ea typeface="Arial" pitchFamily="34" charset="-122"/>
                <a:cs typeface="Arial" pitchFamily="34" charset="-120"/>
              </a:rPr>
              <a:t>Lớp học cho giáo viên</a:t>
            </a:r>
            <a:endParaRPr lang="en-US" sz="1700" dirty="0"/>
          </a:p>
        </p:txBody>
      </p:sp>
      <p:sp>
        <p:nvSpPr>
          <p:cNvPr id="9" name="Text 7"/>
          <p:cNvSpPr/>
          <p:nvPr/>
        </p:nvSpPr>
        <p:spPr>
          <a:xfrm>
            <a:off x="812800" y="5080000"/>
            <a:ext cx="5207000" cy="571500"/>
          </a:xfrm>
          <a:prstGeom prst="rect">
            <a:avLst/>
          </a:prstGeom>
          <a:noFill/>
          <a:ln/>
        </p:spPr>
        <p:txBody>
          <a:bodyPr wrap="square" lIns="0" tIns="0" rIns="0" bIns="0" rtlCol="0" anchor="t"/>
          <a:lstStyle/>
          <a:p>
            <a:pPr algn="l" indent="0" marL="0">
              <a:lnSpc>
                <a:spcPct val="130000"/>
              </a:lnSpc>
              <a:buNone/>
            </a:pPr>
            <a:r>
              <a:rPr lang="en-US" sz="1400" dirty="0">
                <a:solidFill>
                  <a:srgbClr val="4A5160"/>
                </a:solidFill>
                <a:latin typeface="Arial" pitchFamily="34" charset="0"/>
                <a:ea typeface="Arial" pitchFamily="34" charset="-122"/>
                <a:cs typeface="Arial" pitchFamily="34" charset="-120"/>
              </a:rPr>
              <a:t>Mã lớp 6 ký tự, giao bài học hoặc đề thi thử, xem tiến độ từng học viên.</a:t>
            </a:r>
            <a:endParaRPr lang="en-US" sz="1400" dirty="0"/>
          </a:p>
        </p:txBody>
      </p:sp>
      <p:sp>
        <p:nvSpPr>
          <p:cNvPr id="10" name="Shape 8"/>
          <p:cNvSpPr/>
          <p:nvPr/>
        </p:nvSpPr>
        <p:spPr>
          <a:xfrm>
            <a:off x="6527800" y="1003300"/>
            <a:ext cx="2382424" cy="4978400"/>
          </a:xfrm>
          <a:prstGeom prst="roundRect">
            <a:avLst>
              <a:gd name="adj" fmla="val 4606"/>
            </a:avLst>
          </a:prstGeom>
          <a:solidFill>
            <a:srgbClr val="15161A"/>
          </a:solidFill>
          <a:ln/>
        </p:spPr>
      </p:sp>
      <p:pic>
        <p:nvPicPr>
          <p:cNvPr id="11" name="Image 0" descr="/home/haidang/Hanni-demo/build/snaps/luyen-noi-ai.png">    </p:cNvPr>
          <p:cNvPicPr>
            <a:picLocks noChangeAspect="1"/>
          </p:cNvPicPr>
          <p:nvPr/>
        </p:nvPicPr>
        <p:blipFill>
          <a:blip r:embed="rId1"/>
          <a:stretch>
            <a:fillRect/>
          </a:stretch>
        </p:blipFill>
        <p:spPr>
          <a:xfrm>
            <a:off x="6604000" y="1079500"/>
            <a:ext cx="2230024" cy="4826000"/>
          </a:xfrm>
          <a:prstGeom prst="rect">
            <a:avLst/>
          </a:prstGeom>
        </p:spPr>
      </p:pic>
      <p:sp>
        <p:nvSpPr>
          <p:cNvPr id="12" name="Shape 9"/>
          <p:cNvSpPr/>
          <p:nvPr/>
        </p:nvSpPr>
        <p:spPr>
          <a:xfrm>
            <a:off x="9113424" y="1003300"/>
            <a:ext cx="2382424" cy="4978400"/>
          </a:xfrm>
          <a:prstGeom prst="roundRect">
            <a:avLst>
              <a:gd name="adj" fmla="val 4606"/>
            </a:avLst>
          </a:prstGeom>
          <a:solidFill>
            <a:srgbClr val="15161A"/>
          </a:solidFill>
          <a:ln/>
        </p:spPr>
      </p:sp>
      <p:pic>
        <p:nvPicPr>
          <p:cNvPr id="13" name="Image 1" descr="/home/haidang/Hanni-demo/build/snaps/lop-hoc.png">    </p:cNvPr>
          <p:cNvPicPr>
            <a:picLocks noChangeAspect="1"/>
          </p:cNvPicPr>
          <p:nvPr/>
        </p:nvPicPr>
        <p:blipFill>
          <a:blip r:embed="rId2"/>
          <a:stretch>
            <a:fillRect/>
          </a:stretch>
        </p:blipFill>
        <p:spPr>
          <a:xfrm>
            <a:off x="9189624" y="1079500"/>
            <a:ext cx="2230024" cy="4826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F2430"/>
        </a:solidFill>
      </p:bgPr>
    </p:bg>
    <p:spTree>
      <p:nvGrpSpPr>
        <p:cNvPr id="1" name=""/>
        <p:cNvGrpSpPr/>
        <p:nvPr/>
      </p:nvGrpSpPr>
      <p:grpSpPr>
        <a:xfrm>
          <a:off x="0" y="0"/>
          <a:ext cx="0" cy="0"/>
          <a:chOff x="0" y="0"/>
          <a:chExt cx="0" cy="0"/>
        </a:xfrm>
      </p:grpSpPr>
      <p:sp>
        <p:nvSpPr>
          <p:cNvPr id="2" name="Text 0"/>
          <p:cNvSpPr/>
          <p:nvPr/>
        </p:nvSpPr>
        <p:spPr>
          <a:xfrm>
            <a:off x="812800" y="1587500"/>
            <a:ext cx="3810000" cy="254000"/>
          </a:xfrm>
          <a:prstGeom prst="rect">
            <a:avLst/>
          </a:prstGeom>
          <a:noFill/>
          <a:ln/>
        </p:spPr>
        <p:txBody>
          <a:bodyPr wrap="square" lIns="0" tIns="0" rIns="0" bIns="0" rtlCol="0" anchor="t"/>
          <a:lstStyle/>
          <a:p>
            <a:pPr algn="l" indent="0" marL="0">
              <a:lnSpc>
                <a:spcPct val="115000"/>
              </a:lnSpc>
              <a:buNone/>
            </a:pPr>
            <a:r>
              <a:rPr lang="en-US" sz="1200" b="1" spc="300" kern="0" dirty="0">
                <a:solidFill>
                  <a:srgbClr val="F0A39A"/>
                </a:solidFill>
                <a:latin typeface="Arial" pitchFamily="34" charset="0"/>
                <a:ea typeface="Arial" pitchFamily="34" charset="-122"/>
                <a:cs typeface="Arial" pitchFamily="34" charset="-120"/>
              </a:rPr>
              <a:t>DEMO</a:t>
            </a:r>
            <a:endParaRPr lang="en-US" sz="1200" dirty="0"/>
          </a:p>
        </p:txBody>
      </p:sp>
      <p:sp>
        <p:nvSpPr>
          <p:cNvPr id="3" name="Shape 1"/>
          <p:cNvSpPr/>
          <p:nvPr/>
        </p:nvSpPr>
        <p:spPr>
          <a:xfrm>
            <a:off x="812800" y="2032000"/>
            <a:ext cx="889000" cy="889000"/>
          </a:xfrm>
          <a:prstGeom prst="ellipse">
            <a:avLst/>
          </a:prstGeom>
          <a:solidFill>
            <a:srgbClr val="BD2B1F"/>
          </a:solidFill>
          <a:ln/>
        </p:spPr>
      </p:sp>
      <p:sp>
        <p:nvSpPr>
          <p:cNvPr id="4" name="Shape 2"/>
          <p:cNvSpPr/>
          <p:nvPr/>
        </p:nvSpPr>
        <p:spPr>
          <a:xfrm rot="5400000">
            <a:off x="1130300" y="2254250"/>
            <a:ext cx="355600" cy="444500"/>
          </a:xfrm>
          <a:prstGeom prst="triangle">
            <a:avLst/>
          </a:prstGeom>
          <a:solidFill>
            <a:srgbClr val="FBF6EF"/>
          </a:solidFill>
          <a:ln/>
        </p:spPr>
      </p:sp>
      <p:sp>
        <p:nvSpPr>
          <p:cNvPr id="5" name="Text 3"/>
          <p:cNvSpPr/>
          <p:nvPr/>
        </p:nvSpPr>
        <p:spPr>
          <a:xfrm>
            <a:off x="1968500" y="2095500"/>
            <a:ext cx="9398000" cy="825500"/>
          </a:xfrm>
          <a:prstGeom prst="rect">
            <a:avLst/>
          </a:prstGeom>
          <a:noFill/>
          <a:ln/>
        </p:spPr>
        <p:txBody>
          <a:bodyPr wrap="square" lIns="0" tIns="0" rIns="0" bIns="0" rtlCol="0" anchor="t"/>
          <a:lstStyle/>
          <a:p>
            <a:pPr algn="l" indent="0" marL="0">
              <a:lnSpc>
                <a:spcPct val="115000"/>
              </a:lnSpc>
              <a:buNone/>
            </a:pPr>
            <a:r>
              <a:rPr lang="en-US" sz="4800" b="1" dirty="0">
                <a:solidFill>
                  <a:srgbClr val="FBF6EF"/>
                </a:solidFill>
                <a:latin typeface="Arial" pitchFamily="34" charset="0"/>
                <a:ea typeface="Arial" pitchFamily="34" charset="-122"/>
                <a:cs typeface="Arial" pitchFamily="34" charset="-120"/>
              </a:rPr>
              <a:t>Video demo ứng dụng</a:t>
            </a:r>
            <a:endParaRPr lang="en-US" sz="4800" dirty="0"/>
          </a:p>
        </p:txBody>
      </p:sp>
      <p:sp>
        <p:nvSpPr>
          <p:cNvPr id="6" name="Text 4"/>
          <p:cNvSpPr/>
          <p:nvPr/>
        </p:nvSpPr>
        <p:spPr>
          <a:xfrm>
            <a:off x="812800" y="3302000"/>
            <a:ext cx="9525000" cy="825500"/>
          </a:xfrm>
          <a:prstGeom prst="rect">
            <a:avLst/>
          </a:prstGeom>
          <a:noFill/>
          <a:ln/>
        </p:spPr>
        <p:txBody>
          <a:bodyPr wrap="square" lIns="0" tIns="0" rIns="0" bIns="0" rtlCol="0" anchor="t"/>
          <a:lstStyle/>
          <a:p>
            <a:pPr algn="l" indent="0" marL="0">
              <a:lnSpc>
                <a:spcPct val="130000"/>
              </a:lnSpc>
              <a:buNone/>
            </a:pPr>
            <a:r>
              <a:rPr lang="en-US" sz="2000" dirty="0">
                <a:solidFill>
                  <a:srgbClr val="D9DCE3"/>
                </a:solidFill>
                <a:latin typeface="Arial" pitchFamily="34" charset="0"/>
                <a:ea typeface="Arial" pitchFamily="34" charset="-122"/>
                <a:cs typeface="Arial" pitchFamily="34" charset="-120"/>
              </a:rPr>
              <a:t>Khoảng 7 phút — từ lúc mở app ở chế độ khách tới khi tạo tài khoản, ôn tập, luyện nói với AI, mở lớp học.</a:t>
            </a:r>
            <a:endParaRPr lang="en-US" sz="2000" dirty="0"/>
          </a:p>
        </p:txBody>
      </p:sp>
      <p:sp>
        <p:nvSpPr>
          <p:cNvPr id="7" name="Shape 5"/>
          <p:cNvSpPr/>
          <p:nvPr/>
        </p:nvSpPr>
        <p:spPr>
          <a:xfrm>
            <a:off x="812800" y="4572000"/>
            <a:ext cx="1879600" cy="355600"/>
          </a:xfrm>
          <a:prstGeom prst="roundRect">
            <a:avLst>
              <a:gd name="adj" fmla="val 128571"/>
            </a:avLst>
          </a:prstGeom>
          <a:solidFill>
            <a:srgbClr val="2C3240"/>
          </a:solidFill>
          <a:ln/>
        </p:spPr>
      </p:sp>
      <p:sp>
        <p:nvSpPr>
          <p:cNvPr id="8" name="Text 6"/>
          <p:cNvSpPr/>
          <p:nvPr/>
        </p:nvSpPr>
        <p:spPr>
          <a:xfrm>
            <a:off x="812800" y="4635500"/>
            <a:ext cx="1879600" cy="254000"/>
          </a:xfrm>
          <a:prstGeom prst="rect">
            <a:avLst/>
          </a:prstGeom>
          <a:noFill/>
          <a:ln/>
        </p:spPr>
        <p:txBody>
          <a:bodyPr wrap="square" lIns="0" tIns="0" rIns="0" bIns="0" rtlCol="0" anchor="t"/>
          <a:lstStyle/>
          <a:p>
            <a:pPr algn="ctr" indent="0" marL="0">
              <a:lnSpc>
                <a:spcPct val="115000"/>
              </a:lnSpc>
              <a:buNone/>
            </a:pPr>
            <a:r>
              <a:rPr lang="en-US" sz="1300" b="1" dirty="0">
                <a:solidFill>
                  <a:srgbClr val="FBF6EF"/>
                </a:solidFill>
                <a:latin typeface="Arial" pitchFamily="34" charset="0"/>
                <a:ea typeface="Arial" pitchFamily="34" charset="-122"/>
                <a:cs typeface="Arial" pitchFamily="34" charset="-120"/>
              </a:rPr>
              <a:t>1 · Vào học ngay</a:t>
            </a:r>
            <a:endParaRPr lang="en-US" sz="1300" dirty="0"/>
          </a:p>
        </p:txBody>
      </p:sp>
      <p:sp>
        <p:nvSpPr>
          <p:cNvPr id="9" name="Shape 7"/>
          <p:cNvSpPr/>
          <p:nvPr/>
        </p:nvSpPr>
        <p:spPr>
          <a:xfrm>
            <a:off x="2781300" y="4572000"/>
            <a:ext cx="2070100" cy="355600"/>
          </a:xfrm>
          <a:prstGeom prst="roundRect">
            <a:avLst>
              <a:gd name="adj" fmla="val 128571"/>
            </a:avLst>
          </a:prstGeom>
          <a:solidFill>
            <a:srgbClr val="2C3240"/>
          </a:solidFill>
          <a:ln/>
        </p:spPr>
      </p:sp>
      <p:sp>
        <p:nvSpPr>
          <p:cNvPr id="10" name="Text 8"/>
          <p:cNvSpPr/>
          <p:nvPr/>
        </p:nvSpPr>
        <p:spPr>
          <a:xfrm>
            <a:off x="2781300" y="4635500"/>
            <a:ext cx="2070100" cy="254000"/>
          </a:xfrm>
          <a:prstGeom prst="rect">
            <a:avLst/>
          </a:prstGeom>
          <a:noFill/>
          <a:ln/>
        </p:spPr>
        <p:txBody>
          <a:bodyPr wrap="square" lIns="0" tIns="0" rIns="0" bIns="0" rtlCol="0" anchor="t"/>
          <a:lstStyle/>
          <a:p>
            <a:pPr algn="ctr" indent="0" marL="0">
              <a:lnSpc>
                <a:spcPct val="115000"/>
              </a:lnSpc>
              <a:buNone/>
            </a:pPr>
            <a:r>
              <a:rPr lang="en-US" sz="1300" b="1" dirty="0">
                <a:solidFill>
                  <a:srgbClr val="FBF6EF"/>
                </a:solidFill>
                <a:latin typeface="Arial" pitchFamily="34" charset="0"/>
                <a:ea typeface="Arial" pitchFamily="34" charset="-122"/>
                <a:cs typeface="Arial" pitchFamily="34" charset="-120"/>
              </a:rPr>
              <a:t>2 · Bài học 5 phút</a:t>
            </a:r>
            <a:endParaRPr lang="en-US" sz="1300" dirty="0"/>
          </a:p>
        </p:txBody>
      </p:sp>
      <p:sp>
        <p:nvSpPr>
          <p:cNvPr id="11" name="Shape 9"/>
          <p:cNvSpPr/>
          <p:nvPr/>
        </p:nvSpPr>
        <p:spPr>
          <a:xfrm>
            <a:off x="4940300" y="4572000"/>
            <a:ext cx="1403350" cy="355600"/>
          </a:xfrm>
          <a:prstGeom prst="roundRect">
            <a:avLst>
              <a:gd name="adj" fmla="val 128571"/>
            </a:avLst>
          </a:prstGeom>
          <a:solidFill>
            <a:srgbClr val="2C3240"/>
          </a:solidFill>
          <a:ln/>
        </p:spPr>
      </p:sp>
      <p:sp>
        <p:nvSpPr>
          <p:cNvPr id="12" name="Text 10"/>
          <p:cNvSpPr/>
          <p:nvPr/>
        </p:nvSpPr>
        <p:spPr>
          <a:xfrm>
            <a:off x="4940300" y="4635500"/>
            <a:ext cx="1403350" cy="254000"/>
          </a:xfrm>
          <a:prstGeom prst="rect">
            <a:avLst/>
          </a:prstGeom>
          <a:noFill/>
          <a:ln/>
        </p:spPr>
        <p:txBody>
          <a:bodyPr wrap="square" lIns="0" tIns="0" rIns="0" bIns="0" rtlCol="0" anchor="t"/>
          <a:lstStyle/>
          <a:p>
            <a:pPr algn="ctr" indent="0" marL="0">
              <a:lnSpc>
                <a:spcPct val="115000"/>
              </a:lnSpc>
              <a:buNone/>
            </a:pPr>
            <a:r>
              <a:rPr lang="en-US" sz="1300" b="1" dirty="0">
                <a:solidFill>
                  <a:srgbClr val="FBF6EF"/>
                </a:solidFill>
                <a:latin typeface="Arial" pitchFamily="34" charset="0"/>
                <a:ea typeface="Arial" pitchFamily="34" charset="-122"/>
                <a:cs typeface="Arial" pitchFamily="34" charset="-120"/>
              </a:rPr>
              <a:t>3 · Từ điển</a:t>
            </a:r>
            <a:endParaRPr lang="en-US" sz="1300" dirty="0"/>
          </a:p>
        </p:txBody>
      </p:sp>
      <p:sp>
        <p:nvSpPr>
          <p:cNvPr id="13" name="Shape 11"/>
          <p:cNvSpPr/>
          <p:nvPr/>
        </p:nvSpPr>
        <p:spPr>
          <a:xfrm>
            <a:off x="6432550" y="4572000"/>
            <a:ext cx="1974850" cy="355600"/>
          </a:xfrm>
          <a:prstGeom prst="roundRect">
            <a:avLst>
              <a:gd name="adj" fmla="val 128571"/>
            </a:avLst>
          </a:prstGeom>
          <a:solidFill>
            <a:srgbClr val="2C3240"/>
          </a:solidFill>
          <a:ln/>
        </p:spPr>
      </p:sp>
      <p:sp>
        <p:nvSpPr>
          <p:cNvPr id="14" name="Text 12"/>
          <p:cNvSpPr/>
          <p:nvPr/>
        </p:nvSpPr>
        <p:spPr>
          <a:xfrm>
            <a:off x="6432550" y="4635500"/>
            <a:ext cx="1974850" cy="254000"/>
          </a:xfrm>
          <a:prstGeom prst="rect">
            <a:avLst/>
          </a:prstGeom>
          <a:noFill/>
          <a:ln/>
        </p:spPr>
        <p:txBody>
          <a:bodyPr wrap="square" lIns="0" tIns="0" rIns="0" bIns="0" rtlCol="0" anchor="t"/>
          <a:lstStyle/>
          <a:p>
            <a:pPr algn="ctr" indent="0" marL="0">
              <a:lnSpc>
                <a:spcPct val="115000"/>
              </a:lnSpc>
              <a:buNone/>
            </a:pPr>
            <a:r>
              <a:rPr lang="en-US" sz="1300" b="1" dirty="0">
                <a:solidFill>
                  <a:srgbClr val="FBF6EF"/>
                </a:solidFill>
                <a:latin typeface="Arial" pitchFamily="34" charset="0"/>
                <a:ea typeface="Arial" pitchFamily="34" charset="-122"/>
                <a:cs typeface="Arial" pitchFamily="34" charset="-120"/>
              </a:rPr>
              <a:t>4 · Luyện thi HSK</a:t>
            </a:r>
            <a:endParaRPr lang="en-US" sz="1300" dirty="0"/>
          </a:p>
        </p:txBody>
      </p:sp>
      <p:sp>
        <p:nvSpPr>
          <p:cNvPr id="15" name="Shape 13"/>
          <p:cNvSpPr/>
          <p:nvPr/>
        </p:nvSpPr>
        <p:spPr>
          <a:xfrm>
            <a:off x="8496300" y="4572000"/>
            <a:ext cx="1593850" cy="355600"/>
          </a:xfrm>
          <a:prstGeom prst="roundRect">
            <a:avLst>
              <a:gd name="adj" fmla="val 128571"/>
            </a:avLst>
          </a:prstGeom>
          <a:solidFill>
            <a:srgbClr val="2C3240"/>
          </a:solidFill>
          <a:ln/>
        </p:spPr>
      </p:sp>
      <p:sp>
        <p:nvSpPr>
          <p:cNvPr id="16" name="Text 14"/>
          <p:cNvSpPr/>
          <p:nvPr/>
        </p:nvSpPr>
        <p:spPr>
          <a:xfrm>
            <a:off x="8496300" y="4635500"/>
            <a:ext cx="1593850" cy="254000"/>
          </a:xfrm>
          <a:prstGeom prst="rect">
            <a:avLst/>
          </a:prstGeom>
          <a:noFill/>
          <a:ln/>
        </p:spPr>
        <p:txBody>
          <a:bodyPr wrap="square" lIns="0" tIns="0" rIns="0" bIns="0" rtlCol="0" anchor="t"/>
          <a:lstStyle/>
          <a:p>
            <a:pPr algn="ctr" indent="0" marL="0">
              <a:lnSpc>
                <a:spcPct val="115000"/>
              </a:lnSpc>
              <a:buNone/>
            </a:pPr>
            <a:r>
              <a:rPr lang="en-US" sz="1300" b="1" dirty="0">
                <a:solidFill>
                  <a:srgbClr val="FBF6EF"/>
                </a:solidFill>
                <a:latin typeface="Arial" pitchFamily="34" charset="0"/>
                <a:ea typeface="Arial" pitchFamily="34" charset="-122"/>
                <a:cs typeface="Arial" pitchFamily="34" charset="-120"/>
              </a:rPr>
              <a:t>5 · Luyện tập</a:t>
            </a:r>
            <a:endParaRPr lang="en-US" sz="1300" dirty="0"/>
          </a:p>
        </p:txBody>
      </p:sp>
      <p:sp>
        <p:nvSpPr>
          <p:cNvPr id="17" name="Shape 15"/>
          <p:cNvSpPr/>
          <p:nvPr/>
        </p:nvSpPr>
        <p:spPr>
          <a:xfrm>
            <a:off x="812800" y="5054600"/>
            <a:ext cx="1784350" cy="355600"/>
          </a:xfrm>
          <a:prstGeom prst="roundRect">
            <a:avLst>
              <a:gd name="adj" fmla="val 128571"/>
            </a:avLst>
          </a:prstGeom>
          <a:solidFill>
            <a:srgbClr val="2C3240"/>
          </a:solidFill>
          <a:ln/>
        </p:spPr>
      </p:sp>
      <p:sp>
        <p:nvSpPr>
          <p:cNvPr id="18" name="Text 16"/>
          <p:cNvSpPr/>
          <p:nvPr/>
        </p:nvSpPr>
        <p:spPr>
          <a:xfrm>
            <a:off x="812800" y="5118100"/>
            <a:ext cx="1784350" cy="254000"/>
          </a:xfrm>
          <a:prstGeom prst="rect">
            <a:avLst/>
          </a:prstGeom>
          <a:noFill/>
          <a:ln/>
        </p:spPr>
        <p:txBody>
          <a:bodyPr wrap="square" lIns="0" tIns="0" rIns="0" bIns="0" rtlCol="0" anchor="t"/>
          <a:lstStyle/>
          <a:p>
            <a:pPr algn="ctr" indent="0" marL="0">
              <a:lnSpc>
                <a:spcPct val="115000"/>
              </a:lnSpc>
              <a:buNone/>
            </a:pPr>
            <a:r>
              <a:rPr lang="en-US" sz="1300" b="1" dirty="0">
                <a:solidFill>
                  <a:srgbClr val="FBF6EF"/>
                </a:solidFill>
                <a:latin typeface="Arial" pitchFamily="34" charset="0"/>
                <a:ea typeface="Arial" pitchFamily="34" charset="-122"/>
                <a:cs typeface="Arial" pitchFamily="34" charset="-120"/>
              </a:rPr>
              <a:t>6 · Lưu tiến độ</a:t>
            </a:r>
            <a:endParaRPr lang="en-US" sz="1300" dirty="0"/>
          </a:p>
        </p:txBody>
      </p:sp>
      <p:sp>
        <p:nvSpPr>
          <p:cNvPr id="19" name="Shape 17"/>
          <p:cNvSpPr/>
          <p:nvPr/>
        </p:nvSpPr>
        <p:spPr>
          <a:xfrm>
            <a:off x="2686050" y="5054600"/>
            <a:ext cx="927100" cy="355600"/>
          </a:xfrm>
          <a:prstGeom prst="roundRect">
            <a:avLst>
              <a:gd name="adj" fmla="val 128571"/>
            </a:avLst>
          </a:prstGeom>
          <a:solidFill>
            <a:srgbClr val="2C3240"/>
          </a:solidFill>
          <a:ln/>
        </p:spPr>
      </p:sp>
      <p:sp>
        <p:nvSpPr>
          <p:cNvPr id="20" name="Text 18"/>
          <p:cNvSpPr/>
          <p:nvPr/>
        </p:nvSpPr>
        <p:spPr>
          <a:xfrm>
            <a:off x="2686050" y="5118100"/>
            <a:ext cx="927100" cy="254000"/>
          </a:xfrm>
          <a:prstGeom prst="rect">
            <a:avLst/>
          </a:prstGeom>
          <a:noFill/>
          <a:ln/>
        </p:spPr>
        <p:txBody>
          <a:bodyPr wrap="square" lIns="0" tIns="0" rIns="0" bIns="0" rtlCol="0" anchor="t"/>
          <a:lstStyle/>
          <a:p>
            <a:pPr algn="ctr" indent="0" marL="0">
              <a:lnSpc>
                <a:spcPct val="115000"/>
              </a:lnSpc>
              <a:buNone/>
            </a:pPr>
            <a:r>
              <a:rPr lang="en-US" sz="1300" b="1" dirty="0">
                <a:solidFill>
                  <a:srgbClr val="FBF6EF"/>
                </a:solidFill>
                <a:latin typeface="Arial" pitchFamily="34" charset="0"/>
                <a:ea typeface="Arial" pitchFamily="34" charset="-122"/>
                <a:cs typeface="Arial" pitchFamily="34" charset="-120"/>
              </a:rPr>
              <a:t>7 · AI</a:t>
            </a:r>
            <a:endParaRPr lang="en-US" sz="1300" dirty="0"/>
          </a:p>
        </p:txBody>
      </p:sp>
      <p:sp>
        <p:nvSpPr>
          <p:cNvPr id="21" name="Shape 19"/>
          <p:cNvSpPr/>
          <p:nvPr/>
        </p:nvSpPr>
        <p:spPr>
          <a:xfrm>
            <a:off x="3702050" y="5054600"/>
            <a:ext cx="1403350" cy="355600"/>
          </a:xfrm>
          <a:prstGeom prst="roundRect">
            <a:avLst>
              <a:gd name="adj" fmla="val 128571"/>
            </a:avLst>
          </a:prstGeom>
          <a:solidFill>
            <a:srgbClr val="2C3240"/>
          </a:solidFill>
          <a:ln/>
        </p:spPr>
      </p:sp>
      <p:sp>
        <p:nvSpPr>
          <p:cNvPr id="22" name="Text 20"/>
          <p:cNvSpPr/>
          <p:nvPr/>
        </p:nvSpPr>
        <p:spPr>
          <a:xfrm>
            <a:off x="3702050" y="5118100"/>
            <a:ext cx="1403350" cy="254000"/>
          </a:xfrm>
          <a:prstGeom prst="rect">
            <a:avLst/>
          </a:prstGeom>
          <a:noFill/>
          <a:ln/>
        </p:spPr>
        <p:txBody>
          <a:bodyPr wrap="square" lIns="0" tIns="0" rIns="0" bIns="0" rtlCol="0" anchor="t"/>
          <a:lstStyle/>
          <a:p>
            <a:pPr algn="ctr" indent="0" marL="0">
              <a:lnSpc>
                <a:spcPct val="115000"/>
              </a:lnSpc>
              <a:buNone/>
            </a:pPr>
            <a:r>
              <a:rPr lang="en-US" sz="1300" b="1" dirty="0">
                <a:solidFill>
                  <a:srgbClr val="FBF6EF"/>
                </a:solidFill>
                <a:latin typeface="Arial" pitchFamily="34" charset="0"/>
                <a:ea typeface="Arial" pitchFamily="34" charset="-122"/>
                <a:cs typeface="Arial" pitchFamily="34" charset="-120"/>
              </a:rPr>
              <a:t>8 · Lớp học</a:t>
            </a:r>
            <a:endParaRPr lang="en-US" sz="1300" dirty="0"/>
          </a:p>
        </p:txBody>
      </p:sp>
      <p:sp>
        <p:nvSpPr>
          <p:cNvPr id="23" name="Shape 21"/>
          <p:cNvSpPr/>
          <p:nvPr/>
        </p:nvSpPr>
        <p:spPr>
          <a:xfrm>
            <a:off x="5194300" y="5054600"/>
            <a:ext cx="2546350" cy="355600"/>
          </a:xfrm>
          <a:prstGeom prst="roundRect">
            <a:avLst>
              <a:gd name="adj" fmla="val 128571"/>
            </a:avLst>
          </a:prstGeom>
          <a:solidFill>
            <a:srgbClr val="2C3240"/>
          </a:solidFill>
          <a:ln/>
        </p:spPr>
      </p:sp>
      <p:sp>
        <p:nvSpPr>
          <p:cNvPr id="24" name="Text 22"/>
          <p:cNvSpPr/>
          <p:nvPr/>
        </p:nvSpPr>
        <p:spPr>
          <a:xfrm>
            <a:off x="5194300" y="5118100"/>
            <a:ext cx="2546350" cy="254000"/>
          </a:xfrm>
          <a:prstGeom prst="rect">
            <a:avLst/>
          </a:prstGeom>
          <a:noFill/>
          <a:ln/>
        </p:spPr>
        <p:txBody>
          <a:bodyPr wrap="square" lIns="0" tIns="0" rIns="0" bIns="0" rtlCol="0" anchor="t"/>
          <a:lstStyle/>
          <a:p>
            <a:pPr algn="ctr" indent="0" marL="0">
              <a:lnSpc>
                <a:spcPct val="115000"/>
              </a:lnSpc>
              <a:buNone/>
            </a:pPr>
            <a:r>
              <a:rPr lang="en-US" sz="1300" b="1" dirty="0">
                <a:solidFill>
                  <a:srgbClr val="FBF6EF"/>
                </a:solidFill>
                <a:latin typeface="Arial" pitchFamily="34" charset="0"/>
                <a:ea typeface="Arial" pitchFamily="34" charset="-122"/>
                <a:cs typeface="Arial" pitchFamily="34" charset="-120"/>
              </a:rPr>
              <a:t>9 · Premium &amp; tài khoản</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6EF"/>
        </a:solidFill>
      </p:bgPr>
    </p:bg>
    <p:spTree>
      <p:nvGrpSpPr>
        <p:cNvPr id="1" name=""/>
        <p:cNvGrpSpPr/>
        <p:nvPr/>
      </p:nvGrpSpPr>
      <p:grpSpPr>
        <a:xfrm>
          <a:off x="0" y="0"/>
          <a:ext cx="0" cy="0"/>
          <a:chOff x="0" y="0"/>
          <a:chExt cx="0" cy="0"/>
        </a:xfrm>
      </p:grpSpPr>
      <p:sp>
        <p:nvSpPr>
          <p:cNvPr id="2" name="Text 0"/>
          <p:cNvSpPr/>
          <p:nvPr/>
        </p:nvSpPr>
        <p:spPr>
          <a:xfrm>
            <a:off x="812800" y="812800"/>
            <a:ext cx="10566400" cy="254000"/>
          </a:xfrm>
          <a:prstGeom prst="rect">
            <a:avLst/>
          </a:prstGeom>
          <a:noFill/>
          <a:ln/>
        </p:spPr>
        <p:txBody>
          <a:bodyPr wrap="square" lIns="0" tIns="0" rIns="0" bIns="0" rtlCol="0" anchor="t"/>
          <a:lstStyle/>
          <a:p>
            <a:pPr algn="l" indent="0" marL="0">
              <a:lnSpc>
                <a:spcPct val="115000"/>
              </a:lnSpc>
              <a:buNone/>
            </a:pPr>
            <a:r>
              <a:rPr lang="en-US" sz="1200" b="1" spc="300" kern="0" dirty="0">
                <a:solidFill>
                  <a:srgbClr val="BD2B1F"/>
                </a:solidFill>
                <a:latin typeface="Arial" pitchFamily="34" charset="0"/>
                <a:ea typeface="Arial" pitchFamily="34" charset="-122"/>
                <a:cs typeface="Arial" pitchFamily="34" charset="-120"/>
              </a:rPr>
              <a:t>KỸ THUẬT</a:t>
            </a:r>
            <a:endParaRPr lang="en-US" sz="1200" dirty="0"/>
          </a:p>
        </p:txBody>
      </p:sp>
      <p:sp>
        <p:nvSpPr>
          <p:cNvPr id="3" name="Text 1"/>
          <p:cNvSpPr/>
          <p:nvPr/>
        </p:nvSpPr>
        <p:spPr>
          <a:xfrm>
            <a:off x="812800" y="1117600"/>
            <a:ext cx="10566400" cy="635000"/>
          </a:xfrm>
          <a:prstGeom prst="rect">
            <a:avLst/>
          </a:prstGeom>
          <a:noFill/>
          <a:ln/>
        </p:spPr>
        <p:txBody>
          <a:bodyPr wrap="square" lIns="0" tIns="0" rIns="0" bIns="0" rtlCol="0" anchor="t"/>
          <a:lstStyle/>
          <a:p>
            <a:pPr algn="l" indent="0" marL="0">
              <a:lnSpc>
                <a:spcPct val="105000"/>
              </a:lnSpc>
              <a:buNone/>
            </a:pPr>
            <a:r>
              <a:rPr lang="en-US" sz="3600" b="1" dirty="0">
                <a:solidFill>
                  <a:srgbClr val="1F2430"/>
                </a:solidFill>
                <a:latin typeface="Arial" pitchFamily="34" charset="0"/>
                <a:ea typeface="Arial" pitchFamily="34" charset="-122"/>
                <a:cs typeface="Arial" pitchFamily="34" charset="-120"/>
              </a:rPr>
              <a:t>Một server, hai giao diện</a:t>
            </a:r>
            <a:endParaRPr lang="en-US" sz="3600" dirty="0"/>
          </a:p>
        </p:txBody>
      </p:sp>
      <p:sp>
        <p:nvSpPr>
          <p:cNvPr id="4" name="Shape 2"/>
          <p:cNvSpPr/>
          <p:nvPr/>
        </p:nvSpPr>
        <p:spPr>
          <a:xfrm>
            <a:off x="3860800" y="2667000"/>
            <a:ext cx="965200" cy="539750"/>
          </a:xfrm>
          <a:prstGeom prst="line">
            <a:avLst/>
          </a:prstGeom>
          <a:noFill/>
          <a:ln w="38100">
            <a:solidFill>
              <a:srgbClr val="8A7F70"/>
            </a:solidFill>
            <a:prstDash val="solid"/>
            <a:tailEnd type="triangle"/>
          </a:ln>
        </p:spPr>
      </p:sp>
      <p:sp>
        <p:nvSpPr>
          <p:cNvPr id="5" name="Shape 3"/>
          <p:cNvSpPr/>
          <p:nvPr/>
        </p:nvSpPr>
        <p:spPr>
          <a:xfrm flipV="1">
            <a:off x="3860800" y="3714750"/>
            <a:ext cx="965200" cy="666750"/>
          </a:xfrm>
          <a:prstGeom prst="line">
            <a:avLst/>
          </a:prstGeom>
          <a:noFill/>
          <a:ln w="38100">
            <a:solidFill>
              <a:srgbClr val="8A7F70"/>
            </a:solidFill>
            <a:prstDash val="solid"/>
            <a:tailEnd type="triangle"/>
          </a:ln>
        </p:spPr>
      </p:sp>
      <p:sp>
        <p:nvSpPr>
          <p:cNvPr id="6" name="Shape 4"/>
          <p:cNvSpPr/>
          <p:nvPr/>
        </p:nvSpPr>
        <p:spPr>
          <a:xfrm flipV="1">
            <a:off x="7493000" y="2190750"/>
            <a:ext cx="952500" cy="1270000"/>
          </a:xfrm>
          <a:prstGeom prst="line">
            <a:avLst/>
          </a:prstGeom>
          <a:noFill/>
          <a:ln w="38100">
            <a:solidFill>
              <a:srgbClr val="8A7F70"/>
            </a:solidFill>
            <a:prstDash val="solid"/>
            <a:tailEnd type="triangle"/>
          </a:ln>
        </p:spPr>
      </p:sp>
      <p:sp>
        <p:nvSpPr>
          <p:cNvPr id="7" name="Shape 5"/>
          <p:cNvSpPr/>
          <p:nvPr/>
        </p:nvSpPr>
        <p:spPr>
          <a:xfrm flipV="1">
            <a:off x="7493000" y="3206750"/>
            <a:ext cx="952500" cy="254000"/>
          </a:xfrm>
          <a:prstGeom prst="line">
            <a:avLst/>
          </a:prstGeom>
          <a:noFill/>
          <a:ln w="38100">
            <a:solidFill>
              <a:srgbClr val="8A7F70"/>
            </a:solidFill>
            <a:prstDash val="solid"/>
            <a:tailEnd type="triangle"/>
          </a:ln>
        </p:spPr>
      </p:sp>
      <p:sp>
        <p:nvSpPr>
          <p:cNvPr id="8" name="Shape 6"/>
          <p:cNvSpPr/>
          <p:nvPr/>
        </p:nvSpPr>
        <p:spPr>
          <a:xfrm>
            <a:off x="7493000" y="3460750"/>
            <a:ext cx="952500" cy="762000"/>
          </a:xfrm>
          <a:prstGeom prst="line">
            <a:avLst/>
          </a:prstGeom>
          <a:noFill/>
          <a:ln w="38100">
            <a:solidFill>
              <a:srgbClr val="8A7F70"/>
            </a:solidFill>
            <a:prstDash val="solid"/>
            <a:tailEnd type="triangle"/>
          </a:ln>
        </p:spPr>
      </p:sp>
      <p:sp>
        <p:nvSpPr>
          <p:cNvPr id="9" name="Shape 7"/>
          <p:cNvSpPr/>
          <p:nvPr/>
        </p:nvSpPr>
        <p:spPr>
          <a:xfrm>
            <a:off x="7493000" y="3460750"/>
            <a:ext cx="952500" cy="1778000"/>
          </a:xfrm>
          <a:prstGeom prst="line">
            <a:avLst/>
          </a:prstGeom>
          <a:noFill/>
          <a:ln w="38100">
            <a:solidFill>
              <a:srgbClr val="8A7F70"/>
            </a:solidFill>
            <a:prstDash val="solid"/>
            <a:tailEnd type="triangle"/>
          </a:ln>
        </p:spPr>
      </p:sp>
      <p:sp>
        <p:nvSpPr>
          <p:cNvPr id="10" name="Shape 8"/>
          <p:cNvSpPr/>
          <p:nvPr/>
        </p:nvSpPr>
        <p:spPr>
          <a:xfrm>
            <a:off x="812800" y="1905000"/>
            <a:ext cx="3048000" cy="1524000"/>
          </a:xfrm>
          <a:prstGeom prst="roundRect">
            <a:avLst>
              <a:gd name="adj" fmla="val 10200"/>
            </a:avLst>
          </a:prstGeom>
          <a:solidFill>
            <a:srgbClr val="BD2B1F"/>
          </a:solidFill>
          <a:ln/>
        </p:spPr>
      </p:sp>
      <p:sp>
        <p:nvSpPr>
          <p:cNvPr id="11" name="Text 9"/>
          <p:cNvSpPr/>
          <p:nvPr/>
        </p:nvSpPr>
        <p:spPr>
          <a:xfrm>
            <a:off x="1016000" y="2108200"/>
            <a:ext cx="2667000" cy="317500"/>
          </a:xfrm>
          <a:prstGeom prst="rect">
            <a:avLst/>
          </a:prstGeom>
          <a:noFill/>
          <a:ln/>
        </p:spPr>
        <p:txBody>
          <a:bodyPr wrap="square" lIns="0" tIns="0" rIns="0" bIns="0" rtlCol="0" anchor="t"/>
          <a:lstStyle/>
          <a:p>
            <a:pPr algn="l" indent="0" marL="0">
              <a:lnSpc>
                <a:spcPct val="115000"/>
              </a:lnSpc>
              <a:buNone/>
            </a:pPr>
            <a:r>
              <a:rPr lang="en-US" sz="2000" b="1" dirty="0">
                <a:solidFill>
                  <a:srgbClr val="FBF6EF"/>
                </a:solidFill>
                <a:latin typeface="Arial" pitchFamily="34" charset="0"/>
                <a:ea typeface="Arial" pitchFamily="34" charset="-122"/>
                <a:cs typeface="Arial" pitchFamily="34" charset="-120"/>
              </a:rPr>
              <a:t>Ứng dụng di động</a:t>
            </a:r>
            <a:endParaRPr lang="en-US" sz="2000" dirty="0"/>
          </a:p>
        </p:txBody>
      </p:sp>
      <p:sp>
        <p:nvSpPr>
          <p:cNvPr id="12" name="Text 10"/>
          <p:cNvSpPr/>
          <p:nvPr/>
        </p:nvSpPr>
        <p:spPr>
          <a:xfrm>
            <a:off x="1016000" y="2508250"/>
            <a:ext cx="2667000" cy="762000"/>
          </a:xfrm>
          <a:prstGeom prst="rect">
            <a:avLst/>
          </a:prstGeom>
          <a:noFill/>
          <a:ln/>
        </p:spPr>
        <p:txBody>
          <a:bodyPr wrap="square" lIns="0" tIns="0" rIns="0" bIns="0" rtlCol="0" anchor="t"/>
          <a:lstStyle/>
          <a:p>
            <a:pPr algn="l" indent="0" marL="0">
              <a:lnSpc>
                <a:spcPct val="130000"/>
              </a:lnSpc>
              <a:buNone/>
            </a:pPr>
            <a:r>
              <a:rPr lang="en-US" sz="1300" dirty="0">
                <a:solidFill>
                  <a:srgbClr val="FBF6EF"/>
                </a:solidFill>
                <a:latin typeface="Arial" pitchFamily="34" charset="0"/>
                <a:ea typeface="Arial" pitchFamily="34" charset="-122"/>
                <a:cs typeface="Arial" pitchFamily="34" charset="-120"/>
              </a:rPr>
              <a:t>Expo SDK 58 · React Native 0.88 · expo-router · SWR — Android, iOS, web</a:t>
            </a:r>
            <a:endParaRPr lang="en-US" sz="1300" dirty="0"/>
          </a:p>
        </p:txBody>
      </p:sp>
      <p:sp>
        <p:nvSpPr>
          <p:cNvPr id="13" name="Shape 11"/>
          <p:cNvSpPr/>
          <p:nvPr/>
        </p:nvSpPr>
        <p:spPr>
          <a:xfrm>
            <a:off x="812800" y="3810000"/>
            <a:ext cx="3048000" cy="1143000"/>
          </a:xfrm>
          <a:prstGeom prst="roundRect">
            <a:avLst>
              <a:gd name="adj" fmla="val 13600"/>
            </a:avLst>
          </a:prstGeom>
          <a:solidFill>
            <a:srgbClr val="FFFFFF"/>
          </a:solidFill>
          <a:ln w="12700">
            <a:solidFill>
              <a:srgbClr val="EADFCE"/>
            </a:solidFill>
            <a:prstDash val="solid"/>
          </a:ln>
        </p:spPr>
      </p:sp>
      <p:sp>
        <p:nvSpPr>
          <p:cNvPr id="14" name="Text 12"/>
          <p:cNvSpPr/>
          <p:nvPr/>
        </p:nvSpPr>
        <p:spPr>
          <a:xfrm>
            <a:off x="1016000" y="4013200"/>
            <a:ext cx="2667000" cy="317500"/>
          </a:xfrm>
          <a:prstGeom prst="rect">
            <a:avLst/>
          </a:prstGeom>
          <a:noFill/>
          <a:ln/>
        </p:spPr>
        <p:txBody>
          <a:bodyPr wrap="square" lIns="0" tIns="0" rIns="0" bIns="0" rtlCol="0" anchor="t"/>
          <a:lstStyle/>
          <a:p>
            <a:pPr algn="l" indent="0" marL="0">
              <a:lnSpc>
                <a:spcPct val="115000"/>
              </a:lnSpc>
              <a:buNone/>
            </a:pPr>
            <a:r>
              <a:rPr lang="en-US" sz="2000" b="1" dirty="0">
                <a:solidFill>
                  <a:srgbClr val="1F2430"/>
                </a:solidFill>
                <a:latin typeface="Arial" pitchFamily="34" charset="0"/>
                <a:ea typeface="Arial" pitchFamily="34" charset="-122"/>
                <a:cs typeface="Arial" pitchFamily="34" charset="-120"/>
              </a:rPr>
              <a:t>Web</a:t>
            </a:r>
            <a:endParaRPr lang="en-US" sz="2000" dirty="0"/>
          </a:p>
        </p:txBody>
      </p:sp>
      <p:sp>
        <p:nvSpPr>
          <p:cNvPr id="15" name="Text 13"/>
          <p:cNvSpPr/>
          <p:nvPr/>
        </p:nvSpPr>
        <p:spPr>
          <a:xfrm>
            <a:off x="1016000" y="4413250"/>
            <a:ext cx="2667000" cy="317500"/>
          </a:xfrm>
          <a:prstGeom prst="rect">
            <a:avLst/>
          </a:prstGeom>
          <a:noFill/>
          <a:ln/>
        </p:spPr>
        <p:txBody>
          <a:bodyPr wrap="square" lIns="0" tIns="0" rIns="0" bIns="0" rtlCol="0" anchor="t"/>
          <a:lstStyle/>
          <a:p>
            <a:pPr algn="l" indent="0" marL="0">
              <a:lnSpc>
                <a:spcPct val="115000"/>
              </a:lnSpc>
              <a:buNone/>
            </a:pPr>
            <a:r>
              <a:rPr lang="en-US" sz="1300" dirty="0">
                <a:solidFill>
                  <a:srgbClr val="4A5160"/>
                </a:solidFill>
                <a:latin typeface="Arial" pitchFamily="34" charset="0"/>
                <a:ea typeface="Arial" pitchFamily="34" charset="-122"/>
                <a:cs typeface="Arial" pitchFamily="34" charset="-120"/>
              </a:rPr>
              <a:t>Next.js 16 · PWA · SEO</a:t>
            </a:r>
            <a:endParaRPr lang="en-US" sz="1300" dirty="0"/>
          </a:p>
        </p:txBody>
      </p:sp>
      <p:sp>
        <p:nvSpPr>
          <p:cNvPr id="16" name="Shape 14"/>
          <p:cNvSpPr/>
          <p:nvPr/>
        </p:nvSpPr>
        <p:spPr>
          <a:xfrm>
            <a:off x="4826000" y="2603500"/>
            <a:ext cx="2667000" cy="1714500"/>
          </a:xfrm>
          <a:prstGeom prst="roundRect">
            <a:avLst>
              <a:gd name="adj" fmla="val 9067"/>
            </a:avLst>
          </a:prstGeom>
          <a:solidFill>
            <a:srgbClr val="1F2430"/>
          </a:solidFill>
          <a:ln/>
        </p:spPr>
      </p:sp>
      <p:sp>
        <p:nvSpPr>
          <p:cNvPr id="17" name="Text 15"/>
          <p:cNvSpPr/>
          <p:nvPr/>
        </p:nvSpPr>
        <p:spPr>
          <a:xfrm>
            <a:off x="5029200" y="2806700"/>
            <a:ext cx="2286000" cy="317500"/>
          </a:xfrm>
          <a:prstGeom prst="rect">
            <a:avLst/>
          </a:prstGeom>
          <a:noFill/>
          <a:ln/>
        </p:spPr>
        <p:txBody>
          <a:bodyPr wrap="square" lIns="0" tIns="0" rIns="0" bIns="0" rtlCol="0" anchor="t"/>
          <a:lstStyle/>
          <a:p>
            <a:pPr algn="l" indent="0" marL="0">
              <a:lnSpc>
                <a:spcPct val="115000"/>
              </a:lnSpc>
              <a:buNone/>
            </a:pPr>
            <a:r>
              <a:rPr lang="en-US" sz="2000" b="1" dirty="0">
                <a:solidFill>
                  <a:srgbClr val="FBF6EF"/>
                </a:solidFill>
                <a:latin typeface="Arial" pitchFamily="34" charset="0"/>
                <a:ea typeface="Arial" pitchFamily="34" charset="-122"/>
                <a:cs typeface="Arial" pitchFamily="34" charset="-120"/>
              </a:rPr>
              <a:t>API REST</a:t>
            </a:r>
            <a:endParaRPr lang="en-US" sz="2000" dirty="0"/>
          </a:p>
        </p:txBody>
      </p:sp>
      <p:sp>
        <p:nvSpPr>
          <p:cNvPr id="18" name="Text 16"/>
          <p:cNvSpPr/>
          <p:nvPr/>
        </p:nvSpPr>
        <p:spPr>
          <a:xfrm>
            <a:off x="5029200" y="3206750"/>
            <a:ext cx="2286000" cy="952500"/>
          </a:xfrm>
          <a:prstGeom prst="rect">
            <a:avLst/>
          </a:prstGeom>
          <a:noFill/>
          <a:ln/>
        </p:spPr>
        <p:txBody>
          <a:bodyPr wrap="square" lIns="0" tIns="0" rIns="0" bIns="0" rtlCol="0" anchor="t"/>
          <a:lstStyle/>
          <a:p>
            <a:pPr algn="l" indent="0" marL="0">
              <a:lnSpc>
                <a:spcPct val="130000"/>
              </a:lnSpc>
              <a:buNone/>
            </a:pPr>
            <a:r>
              <a:rPr lang="en-US" sz="1300" dirty="0">
                <a:solidFill>
                  <a:srgbClr val="D9DCE3"/>
                </a:solidFill>
                <a:latin typeface="Arial" pitchFamily="34" charset="0"/>
                <a:ea typeface="Arial" pitchFamily="34" charset="-122"/>
                <a:cs typeface="Arial" pitchFamily="34" charset="-120"/>
              </a:rPr>
              <a:t>NestJS 11 · 126 route · 29 module · WebSocket thông báo</a:t>
            </a:r>
            <a:endParaRPr lang="en-US" sz="1300" dirty="0"/>
          </a:p>
        </p:txBody>
      </p:sp>
      <p:sp>
        <p:nvSpPr>
          <p:cNvPr id="19" name="Shape 17"/>
          <p:cNvSpPr/>
          <p:nvPr/>
        </p:nvSpPr>
        <p:spPr>
          <a:xfrm>
            <a:off x="8445500" y="1714500"/>
            <a:ext cx="2933700" cy="952500"/>
          </a:xfrm>
          <a:prstGeom prst="roundRect">
            <a:avLst>
              <a:gd name="adj" fmla="val 16320"/>
            </a:avLst>
          </a:prstGeom>
          <a:solidFill>
            <a:srgbClr val="FFFFFF"/>
          </a:solidFill>
          <a:ln w="12700">
            <a:solidFill>
              <a:srgbClr val="EADFCE"/>
            </a:solidFill>
            <a:prstDash val="solid"/>
          </a:ln>
        </p:spPr>
      </p:sp>
      <p:sp>
        <p:nvSpPr>
          <p:cNvPr id="20" name="Text 18"/>
          <p:cNvSpPr/>
          <p:nvPr/>
        </p:nvSpPr>
        <p:spPr>
          <a:xfrm>
            <a:off x="8623300" y="1854200"/>
            <a:ext cx="2667000" cy="279400"/>
          </a:xfrm>
          <a:prstGeom prst="rect">
            <a:avLst/>
          </a:prstGeom>
          <a:noFill/>
          <a:ln/>
        </p:spPr>
        <p:txBody>
          <a:bodyPr wrap="square" lIns="0" tIns="0" rIns="0" bIns="0" rtlCol="0" anchor="t"/>
          <a:lstStyle/>
          <a:p>
            <a:pPr algn="l" indent="0" marL="0">
              <a:lnSpc>
                <a:spcPct val="115000"/>
              </a:lnSpc>
              <a:buNone/>
            </a:pPr>
            <a:r>
              <a:rPr lang="en-US" sz="1600" b="1" dirty="0">
                <a:solidFill>
                  <a:srgbClr val="1F2430"/>
                </a:solidFill>
                <a:latin typeface="Arial" pitchFamily="34" charset="0"/>
                <a:ea typeface="Arial" pitchFamily="34" charset="-122"/>
                <a:cs typeface="Arial" pitchFamily="34" charset="-120"/>
              </a:rPr>
              <a:t>PostgreSQL 16</a:t>
            </a:r>
            <a:endParaRPr lang="en-US" sz="1600" dirty="0"/>
          </a:p>
        </p:txBody>
      </p:sp>
      <p:sp>
        <p:nvSpPr>
          <p:cNvPr id="21" name="Text 19"/>
          <p:cNvSpPr/>
          <p:nvPr/>
        </p:nvSpPr>
        <p:spPr>
          <a:xfrm>
            <a:off x="8623300" y="2159000"/>
            <a:ext cx="2667000" cy="254000"/>
          </a:xfrm>
          <a:prstGeom prst="rect">
            <a:avLst/>
          </a:prstGeom>
          <a:noFill/>
          <a:ln/>
        </p:spPr>
        <p:txBody>
          <a:bodyPr wrap="square" lIns="0" tIns="0" rIns="0" bIns="0" rtlCol="0" anchor="t"/>
          <a:lstStyle/>
          <a:p>
            <a:pPr algn="l" indent="0" marL="0">
              <a:lnSpc>
                <a:spcPct val="115000"/>
              </a:lnSpc>
              <a:buNone/>
            </a:pPr>
            <a:r>
              <a:rPr lang="en-US" sz="1200" dirty="0">
                <a:solidFill>
                  <a:srgbClr val="4A5160"/>
                </a:solidFill>
                <a:latin typeface="Arial" pitchFamily="34" charset="0"/>
                <a:ea typeface="Arial" pitchFamily="34" charset="-122"/>
                <a:cs typeface="Arial" pitchFamily="34" charset="-120"/>
              </a:rPr>
              <a:t>TypeORM · 42 bảng</a:t>
            </a:r>
            <a:endParaRPr lang="en-US" sz="1200" dirty="0"/>
          </a:p>
        </p:txBody>
      </p:sp>
      <p:sp>
        <p:nvSpPr>
          <p:cNvPr id="22" name="Shape 20"/>
          <p:cNvSpPr/>
          <p:nvPr/>
        </p:nvSpPr>
        <p:spPr>
          <a:xfrm>
            <a:off x="8445500" y="2794000"/>
            <a:ext cx="2933700" cy="825500"/>
          </a:xfrm>
          <a:prstGeom prst="roundRect">
            <a:avLst>
              <a:gd name="adj" fmla="val 18831"/>
            </a:avLst>
          </a:prstGeom>
          <a:solidFill>
            <a:srgbClr val="FFFFFF"/>
          </a:solidFill>
          <a:ln w="12700">
            <a:solidFill>
              <a:srgbClr val="EADFCE"/>
            </a:solidFill>
            <a:prstDash val="solid"/>
          </a:ln>
        </p:spPr>
      </p:sp>
      <p:sp>
        <p:nvSpPr>
          <p:cNvPr id="23" name="Text 21"/>
          <p:cNvSpPr/>
          <p:nvPr/>
        </p:nvSpPr>
        <p:spPr>
          <a:xfrm>
            <a:off x="8623300" y="2933700"/>
            <a:ext cx="2667000" cy="279400"/>
          </a:xfrm>
          <a:prstGeom prst="rect">
            <a:avLst/>
          </a:prstGeom>
          <a:noFill/>
          <a:ln/>
        </p:spPr>
        <p:txBody>
          <a:bodyPr wrap="square" lIns="0" tIns="0" rIns="0" bIns="0" rtlCol="0" anchor="t"/>
          <a:lstStyle/>
          <a:p>
            <a:pPr algn="l" indent="0" marL="0">
              <a:lnSpc>
                <a:spcPct val="115000"/>
              </a:lnSpc>
              <a:buNone/>
            </a:pPr>
            <a:r>
              <a:rPr lang="en-US" sz="1600" b="1" dirty="0">
                <a:solidFill>
                  <a:srgbClr val="1F2430"/>
                </a:solidFill>
                <a:latin typeface="Arial" pitchFamily="34" charset="0"/>
                <a:ea typeface="Arial" pitchFamily="34" charset="-122"/>
                <a:cs typeface="Arial" pitchFamily="34" charset="-120"/>
              </a:rPr>
              <a:t>Redis</a:t>
            </a:r>
            <a:endParaRPr lang="en-US" sz="1600" dirty="0"/>
          </a:p>
        </p:txBody>
      </p:sp>
      <p:sp>
        <p:nvSpPr>
          <p:cNvPr id="24" name="Text 22"/>
          <p:cNvSpPr/>
          <p:nvPr/>
        </p:nvSpPr>
        <p:spPr>
          <a:xfrm>
            <a:off x="8623300" y="3238500"/>
            <a:ext cx="2667000" cy="254000"/>
          </a:xfrm>
          <a:prstGeom prst="rect">
            <a:avLst/>
          </a:prstGeom>
          <a:noFill/>
          <a:ln/>
        </p:spPr>
        <p:txBody>
          <a:bodyPr wrap="square" lIns="0" tIns="0" rIns="0" bIns="0" rtlCol="0" anchor="t"/>
          <a:lstStyle/>
          <a:p>
            <a:pPr algn="l" indent="0" marL="0">
              <a:lnSpc>
                <a:spcPct val="115000"/>
              </a:lnSpc>
              <a:buNone/>
            </a:pPr>
            <a:r>
              <a:rPr lang="en-US" sz="1200" dirty="0">
                <a:solidFill>
                  <a:srgbClr val="4A5160"/>
                </a:solidFill>
                <a:latin typeface="Arial" pitchFamily="34" charset="0"/>
                <a:ea typeface="Arial" pitchFamily="34" charset="-122"/>
                <a:cs typeface="Arial" pitchFamily="34" charset="-120"/>
              </a:rPr>
              <a:t>Hạn mức AI, đệm, socket</a:t>
            </a:r>
            <a:endParaRPr lang="en-US" sz="1200" dirty="0"/>
          </a:p>
        </p:txBody>
      </p:sp>
      <p:sp>
        <p:nvSpPr>
          <p:cNvPr id="25" name="Shape 23"/>
          <p:cNvSpPr/>
          <p:nvPr/>
        </p:nvSpPr>
        <p:spPr>
          <a:xfrm>
            <a:off x="8445500" y="3810000"/>
            <a:ext cx="2933700" cy="825500"/>
          </a:xfrm>
          <a:prstGeom prst="roundRect">
            <a:avLst>
              <a:gd name="adj" fmla="val 18831"/>
            </a:avLst>
          </a:prstGeom>
          <a:solidFill>
            <a:srgbClr val="FFFFFF"/>
          </a:solidFill>
          <a:ln w="12700">
            <a:solidFill>
              <a:srgbClr val="EADFCE"/>
            </a:solidFill>
            <a:prstDash val="solid"/>
          </a:ln>
        </p:spPr>
      </p:sp>
      <p:sp>
        <p:nvSpPr>
          <p:cNvPr id="26" name="Text 24"/>
          <p:cNvSpPr/>
          <p:nvPr/>
        </p:nvSpPr>
        <p:spPr>
          <a:xfrm>
            <a:off x="8623300" y="3949700"/>
            <a:ext cx="2667000" cy="279400"/>
          </a:xfrm>
          <a:prstGeom prst="rect">
            <a:avLst/>
          </a:prstGeom>
          <a:noFill/>
          <a:ln/>
        </p:spPr>
        <p:txBody>
          <a:bodyPr wrap="square" lIns="0" tIns="0" rIns="0" bIns="0" rtlCol="0" anchor="t"/>
          <a:lstStyle/>
          <a:p>
            <a:pPr algn="l" indent="0" marL="0">
              <a:lnSpc>
                <a:spcPct val="115000"/>
              </a:lnSpc>
              <a:buNone/>
            </a:pPr>
            <a:r>
              <a:rPr lang="en-US" sz="1600" b="1" dirty="0">
                <a:solidFill>
                  <a:srgbClr val="1F2430"/>
                </a:solidFill>
                <a:latin typeface="Arial" pitchFamily="34" charset="0"/>
                <a:ea typeface="Arial" pitchFamily="34" charset="-122"/>
                <a:cs typeface="Arial" pitchFamily="34" charset="-120"/>
              </a:rPr>
              <a:t>Gemini API</a:t>
            </a:r>
            <a:endParaRPr lang="en-US" sz="1600" dirty="0"/>
          </a:p>
        </p:txBody>
      </p:sp>
      <p:sp>
        <p:nvSpPr>
          <p:cNvPr id="27" name="Text 25"/>
          <p:cNvSpPr/>
          <p:nvPr/>
        </p:nvSpPr>
        <p:spPr>
          <a:xfrm>
            <a:off x="8623300" y="4254500"/>
            <a:ext cx="2667000" cy="254000"/>
          </a:xfrm>
          <a:prstGeom prst="rect">
            <a:avLst/>
          </a:prstGeom>
          <a:noFill/>
          <a:ln/>
        </p:spPr>
        <p:txBody>
          <a:bodyPr wrap="square" lIns="0" tIns="0" rIns="0" bIns="0" rtlCol="0" anchor="t"/>
          <a:lstStyle/>
          <a:p>
            <a:pPr algn="l" indent="0" marL="0">
              <a:lnSpc>
                <a:spcPct val="115000"/>
              </a:lnSpc>
              <a:buNone/>
            </a:pPr>
            <a:r>
              <a:rPr lang="en-US" sz="1200" dirty="0">
                <a:solidFill>
                  <a:srgbClr val="4A5160"/>
                </a:solidFill>
                <a:latin typeface="Arial" pitchFamily="34" charset="0"/>
                <a:ea typeface="Arial" pitchFamily="34" charset="-122"/>
                <a:cs typeface="Arial" pitchFamily="34" charset="-120"/>
              </a:rPr>
              <a:t>Luyện nói, mẹo nhớ, Coach</a:t>
            </a:r>
            <a:endParaRPr lang="en-US" sz="1200" dirty="0"/>
          </a:p>
        </p:txBody>
      </p:sp>
      <p:sp>
        <p:nvSpPr>
          <p:cNvPr id="28" name="Shape 26"/>
          <p:cNvSpPr/>
          <p:nvPr/>
        </p:nvSpPr>
        <p:spPr>
          <a:xfrm>
            <a:off x="8445500" y="4826000"/>
            <a:ext cx="2933700" cy="825500"/>
          </a:xfrm>
          <a:prstGeom prst="roundRect">
            <a:avLst>
              <a:gd name="adj" fmla="val 18831"/>
            </a:avLst>
          </a:prstGeom>
          <a:solidFill>
            <a:srgbClr val="FFFFFF"/>
          </a:solidFill>
          <a:ln w="12700">
            <a:solidFill>
              <a:srgbClr val="EADFCE"/>
            </a:solidFill>
            <a:prstDash val="solid"/>
          </a:ln>
        </p:spPr>
      </p:sp>
      <p:sp>
        <p:nvSpPr>
          <p:cNvPr id="29" name="Text 27"/>
          <p:cNvSpPr/>
          <p:nvPr/>
        </p:nvSpPr>
        <p:spPr>
          <a:xfrm>
            <a:off x="8623300" y="4965700"/>
            <a:ext cx="2667000" cy="279400"/>
          </a:xfrm>
          <a:prstGeom prst="rect">
            <a:avLst/>
          </a:prstGeom>
          <a:noFill/>
          <a:ln/>
        </p:spPr>
        <p:txBody>
          <a:bodyPr wrap="square" lIns="0" tIns="0" rIns="0" bIns="0" rtlCol="0" anchor="t"/>
          <a:lstStyle/>
          <a:p>
            <a:pPr algn="l" indent="0" marL="0">
              <a:lnSpc>
                <a:spcPct val="115000"/>
              </a:lnSpc>
              <a:buNone/>
            </a:pPr>
            <a:r>
              <a:rPr lang="en-US" sz="1600" b="1" dirty="0">
                <a:solidFill>
                  <a:srgbClr val="1F2430"/>
                </a:solidFill>
                <a:latin typeface="Arial" pitchFamily="34" charset="0"/>
                <a:ea typeface="Arial" pitchFamily="34" charset="-122"/>
                <a:cs typeface="Arial" pitchFamily="34" charset="-120"/>
              </a:rPr>
              <a:t>payOS</a:t>
            </a:r>
            <a:endParaRPr lang="en-US" sz="1600" dirty="0"/>
          </a:p>
        </p:txBody>
      </p:sp>
      <p:sp>
        <p:nvSpPr>
          <p:cNvPr id="30" name="Text 28"/>
          <p:cNvSpPr/>
          <p:nvPr/>
        </p:nvSpPr>
        <p:spPr>
          <a:xfrm>
            <a:off x="8623300" y="5270500"/>
            <a:ext cx="2667000" cy="254000"/>
          </a:xfrm>
          <a:prstGeom prst="rect">
            <a:avLst/>
          </a:prstGeom>
          <a:noFill/>
          <a:ln/>
        </p:spPr>
        <p:txBody>
          <a:bodyPr wrap="square" lIns="0" tIns="0" rIns="0" bIns="0" rtlCol="0" anchor="t"/>
          <a:lstStyle/>
          <a:p>
            <a:pPr algn="l" indent="0" marL="0">
              <a:lnSpc>
                <a:spcPct val="115000"/>
              </a:lnSpc>
              <a:buNone/>
            </a:pPr>
            <a:r>
              <a:rPr lang="en-US" sz="1200" dirty="0">
                <a:solidFill>
                  <a:srgbClr val="4A5160"/>
                </a:solidFill>
                <a:latin typeface="Arial" pitchFamily="34" charset="0"/>
                <a:ea typeface="Arial" pitchFamily="34" charset="-122"/>
                <a:cs typeface="Arial" pitchFamily="34" charset="-120"/>
              </a:rPr>
              <a:t>Thanh toán QR ngân hàng</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6EF"/>
        </a:solidFill>
      </p:bgPr>
    </p:bg>
    <p:spTree>
      <p:nvGrpSpPr>
        <p:cNvPr id="1" name=""/>
        <p:cNvGrpSpPr/>
        <p:nvPr/>
      </p:nvGrpSpPr>
      <p:grpSpPr>
        <a:xfrm>
          <a:off x="0" y="0"/>
          <a:ext cx="0" cy="0"/>
          <a:chOff x="0" y="0"/>
          <a:chExt cx="0" cy="0"/>
        </a:xfrm>
      </p:grpSpPr>
      <p:sp>
        <p:nvSpPr>
          <p:cNvPr id="2" name="Text 0"/>
          <p:cNvSpPr/>
          <p:nvPr/>
        </p:nvSpPr>
        <p:spPr>
          <a:xfrm>
            <a:off x="812800" y="812800"/>
            <a:ext cx="10566400" cy="254000"/>
          </a:xfrm>
          <a:prstGeom prst="rect">
            <a:avLst/>
          </a:prstGeom>
          <a:noFill/>
          <a:ln/>
        </p:spPr>
        <p:txBody>
          <a:bodyPr wrap="square" lIns="0" tIns="0" rIns="0" bIns="0" rtlCol="0" anchor="t"/>
          <a:lstStyle/>
          <a:p>
            <a:pPr algn="l" indent="0" marL="0">
              <a:lnSpc>
                <a:spcPct val="115000"/>
              </a:lnSpc>
              <a:buNone/>
            </a:pPr>
            <a:r>
              <a:rPr lang="en-US" sz="1200" b="1" spc="300" kern="0" dirty="0">
                <a:solidFill>
                  <a:srgbClr val="BD2B1F"/>
                </a:solidFill>
                <a:latin typeface="Arial" pitchFamily="34" charset="0"/>
                <a:ea typeface="Arial" pitchFamily="34" charset="-122"/>
                <a:cs typeface="Arial" pitchFamily="34" charset="-120"/>
              </a:rPr>
              <a:t>KỸ THUẬT</a:t>
            </a:r>
            <a:endParaRPr lang="en-US" sz="1200" dirty="0"/>
          </a:p>
        </p:txBody>
      </p:sp>
      <p:sp>
        <p:nvSpPr>
          <p:cNvPr id="3" name="Text 1"/>
          <p:cNvSpPr/>
          <p:nvPr/>
        </p:nvSpPr>
        <p:spPr>
          <a:xfrm>
            <a:off x="812800" y="1117600"/>
            <a:ext cx="5207000" cy="1397000"/>
          </a:xfrm>
          <a:prstGeom prst="rect">
            <a:avLst/>
          </a:prstGeom>
          <a:noFill/>
          <a:ln/>
        </p:spPr>
        <p:txBody>
          <a:bodyPr wrap="square" lIns="0" tIns="0" rIns="0" bIns="0" rtlCol="0" anchor="t"/>
          <a:lstStyle/>
          <a:p>
            <a:pPr algn="l" indent="0" marL="0">
              <a:lnSpc>
                <a:spcPct val="108000"/>
              </a:lnSpc>
              <a:buNone/>
            </a:pPr>
            <a:r>
              <a:rPr lang="en-US" sz="3200" b="1" dirty="0">
                <a:solidFill>
                  <a:srgbClr val="1F2430"/>
                </a:solidFill>
                <a:latin typeface="Arial" pitchFamily="34" charset="0"/>
                <a:ea typeface="Arial" pitchFamily="34" charset="-122"/>
                <a:cs typeface="Arial" pitchFamily="34" charset="-120"/>
              </a:rPr>
              <a:t>Ứng dụng di động</a:t>
            </a:r>
            <a:endParaRPr lang="en-US" sz="3200" dirty="0"/>
          </a:p>
        </p:txBody>
      </p:sp>
      <p:sp>
        <p:nvSpPr>
          <p:cNvPr id="4" name="Text 2"/>
          <p:cNvSpPr/>
          <p:nvPr/>
        </p:nvSpPr>
        <p:spPr>
          <a:xfrm>
            <a:off x="812800" y="2730500"/>
            <a:ext cx="5207000" cy="317500"/>
          </a:xfrm>
          <a:prstGeom prst="rect">
            <a:avLst/>
          </a:prstGeom>
          <a:noFill/>
          <a:ln/>
        </p:spPr>
        <p:txBody>
          <a:bodyPr wrap="square" lIns="0" tIns="0" rIns="0" bIns="0" rtlCol="0" anchor="t"/>
          <a:lstStyle/>
          <a:p>
            <a:pPr algn="l" indent="0" marL="0">
              <a:lnSpc>
                <a:spcPct val="115000"/>
              </a:lnSpc>
              <a:buNone/>
            </a:pPr>
            <a:r>
              <a:rPr lang="en-US" sz="1700" b="1" dirty="0">
                <a:solidFill>
                  <a:srgbClr val="1F2430"/>
                </a:solidFill>
                <a:latin typeface="Arial" pitchFamily="34" charset="0"/>
                <a:ea typeface="Arial" pitchFamily="34" charset="-122"/>
                <a:cs typeface="Arial" pitchFamily="34" charset="-120"/>
              </a:rPr>
              <a:t>5 tab, hơn 40 màn hình</a:t>
            </a:r>
            <a:endParaRPr lang="en-US" sz="1700" dirty="0"/>
          </a:p>
        </p:txBody>
      </p:sp>
      <p:sp>
        <p:nvSpPr>
          <p:cNvPr id="5" name="Text 3"/>
          <p:cNvSpPr/>
          <p:nvPr/>
        </p:nvSpPr>
        <p:spPr>
          <a:xfrm>
            <a:off x="812800" y="3048000"/>
            <a:ext cx="5207000" cy="571500"/>
          </a:xfrm>
          <a:prstGeom prst="rect">
            <a:avLst/>
          </a:prstGeom>
          <a:noFill/>
          <a:ln/>
        </p:spPr>
        <p:txBody>
          <a:bodyPr wrap="square" lIns="0" tIns="0" rIns="0" bIns="0" rtlCol="0" anchor="t"/>
          <a:lstStyle/>
          <a:p>
            <a:pPr algn="l" indent="0" marL="0">
              <a:lnSpc>
                <a:spcPct val="130000"/>
              </a:lnSpc>
              <a:buNone/>
            </a:pPr>
            <a:r>
              <a:rPr lang="en-US" sz="1400" dirty="0">
                <a:solidFill>
                  <a:srgbClr val="4A5160"/>
                </a:solidFill>
                <a:latin typeface="Arial" pitchFamily="34" charset="0"/>
                <a:ea typeface="Arial" pitchFamily="34" charset="-122"/>
                <a:cs typeface="Arial" pitchFamily="34" charset="-120"/>
              </a:rPr>
              <a:t>Trang chủ, Ôn tập, Luyện thi, Luyện tập, Thêm; khách dùng thử gần như mọi màn.</a:t>
            </a:r>
            <a:endParaRPr lang="en-US" sz="1400" dirty="0"/>
          </a:p>
        </p:txBody>
      </p:sp>
      <p:sp>
        <p:nvSpPr>
          <p:cNvPr id="6" name="Text 4"/>
          <p:cNvSpPr/>
          <p:nvPr/>
        </p:nvSpPr>
        <p:spPr>
          <a:xfrm>
            <a:off x="812800" y="3746500"/>
            <a:ext cx="5207000" cy="317500"/>
          </a:xfrm>
          <a:prstGeom prst="rect">
            <a:avLst/>
          </a:prstGeom>
          <a:noFill/>
          <a:ln/>
        </p:spPr>
        <p:txBody>
          <a:bodyPr wrap="square" lIns="0" tIns="0" rIns="0" bIns="0" rtlCol="0" anchor="t"/>
          <a:lstStyle/>
          <a:p>
            <a:pPr algn="l" indent="0" marL="0">
              <a:lnSpc>
                <a:spcPct val="115000"/>
              </a:lnSpc>
              <a:buNone/>
            </a:pPr>
            <a:r>
              <a:rPr lang="en-US" sz="1700" b="1" dirty="0">
                <a:solidFill>
                  <a:srgbClr val="1F2430"/>
                </a:solidFill>
                <a:latin typeface="Arial" pitchFamily="34" charset="0"/>
                <a:ea typeface="Arial" pitchFamily="34" charset="-122"/>
                <a:cs typeface="Arial" pitchFamily="34" charset="-120"/>
              </a:rPr>
              <a:t>Dùng tính năng của máy</a:t>
            </a:r>
            <a:endParaRPr lang="en-US" sz="1700" dirty="0"/>
          </a:p>
        </p:txBody>
      </p:sp>
      <p:sp>
        <p:nvSpPr>
          <p:cNvPr id="7" name="Text 5"/>
          <p:cNvSpPr/>
          <p:nvPr/>
        </p:nvSpPr>
        <p:spPr>
          <a:xfrm>
            <a:off x="812800" y="4064000"/>
            <a:ext cx="5207000" cy="571500"/>
          </a:xfrm>
          <a:prstGeom prst="rect">
            <a:avLst/>
          </a:prstGeom>
          <a:noFill/>
          <a:ln/>
        </p:spPr>
        <p:txBody>
          <a:bodyPr wrap="square" lIns="0" tIns="0" rIns="0" bIns="0" rtlCol="0" anchor="t"/>
          <a:lstStyle/>
          <a:p>
            <a:pPr algn="l" indent="0" marL="0">
              <a:lnSpc>
                <a:spcPct val="130000"/>
              </a:lnSpc>
              <a:buNone/>
            </a:pPr>
            <a:r>
              <a:rPr lang="en-US" sz="1400" dirty="0">
                <a:solidFill>
                  <a:srgbClr val="4A5160"/>
                </a:solidFill>
                <a:latin typeface="Arial" pitchFamily="34" charset="0"/>
                <a:ea typeface="Arial" pitchFamily="34" charset="-122"/>
                <a:cs typeface="Arial" pitchFamily="34" charset="-120"/>
              </a:rPr>
              <a:t>Micro chấm thanh điệu, WebView (video, viết chữ, thanh toán), thông báo nhắc học, chọn ảnh.</a:t>
            </a:r>
            <a:endParaRPr lang="en-US" sz="1400" dirty="0"/>
          </a:p>
        </p:txBody>
      </p:sp>
      <p:sp>
        <p:nvSpPr>
          <p:cNvPr id="8" name="Text 6"/>
          <p:cNvSpPr/>
          <p:nvPr/>
        </p:nvSpPr>
        <p:spPr>
          <a:xfrm>
            <a:off x="812800" y="4762500"/>
            <a:ext cx="5207000" cy="317500"/>
          </a:xfrm>
          <a:prstGeom prst="rect">
            <a:avLst/>
          </a:prstGeom>
          <a:noFill/>
          <a:ln/>
        </p:spPr>
        <p:txBody>
          <a:bodyPr wrap="square" lIns="0" tIns="0" rIns="0" bIns="0" rtlCol="0" anchor="t"/>
          <a:lstStyle/>
          <a:p>
            <a:pPr algn="l" indent="0" marL="0">
              <a:lnSpc>
                <a:spcPct val="115000"/>
              </a:lnSpc>
              <a:buNone/>
            </a:pPr>
            <a:r>
              <a:rPr lang="en-US" sz="1700" b="1" dirty="0">
                <a:solidFill>
                  <a:srgbClr val="1F2430"/>
                </a:solidFill>
                <a:latin typeface="Arial" pitchFamily="34" charset="0"/>
                <a:ea typeface="Arial" pitchFamily="34" charset="-122"/>
                <a:cs typeface="Arial" pitchFamily="34" charset="-120"/>
              </a:rPr>
              <a:t>Giao diện sáng / tối</a:t>
            </a:r>
            <a:endParaRPr lang="en-US" sz="1700" dirty="0"/>
          </a:p>
        </p:txBody>
      </p:sp>
      <p:sp>
        <p:nvSpPr>
          <p:cNvPr id="9" name="Text 7"/>
          <p:cNvSpPr/>
          <p:nvPr/>
        </p:nvSpPr>
        <p:spPr>
          <a:xfrm>
            <a:off x="812800" y="5080000"/>
            <a:ext cx="5207000" cy="571500"/>
          </a:xfrm>
          <a:prstGeom prst="rect">
            <a:avLst/>
          </a:prstGeom>
          <a:noFill/>
          <a:ln/>
        </p:spPr>
        <p:txBody>
          <a:bodyPr wrap="square" lIns="0" tIns="0" rIns="0" bIns="0" rtlCol="0" anchor="t"/>
          <a:lstStyle/>
          <a:p>
            <a:pPr algn="l" indent="0" marL="0">
              <a:lnSpc>
                <a:spcPct val="130000"/>
              </a:lnSpc>
              <a:buNone/>
            </a:pPr>
            <a:r>
              <a:rPr lang="en-US" sz="1400" dirty="0">
                <a:solidFill>
                  <a:srgbClr val="4A5160"/>
                </a:solidFill>
                <a:latin typeface="Arial" pitchFamily="34" charset="0"/>
                <a:ea typeface="Arial" pitchFamily="34" charset="-122"/>
                <a:cs typeface="Arial" pitchFamily="34" charset="-120"/>
              </a:rPr>
              <a:t>Cùng bảng màu với web; chữ tối thiểu 12px, vùng bấm ≥ 44px.</a:t>
            </a:r>
            <a:endParaRPr lang="en-US" sz="1400" dirty="0"/>
          </a:p>
        </p:txBody>
      </p:sp>
      <p:sp>
        <p:nvSpPr>
          <p:cNvPr id="10" name="Shape 8"/>
          <p:cNvSpPr/>
          <p:nvPr/>
        </p:nvSpPr>
        <p:spPr>
          <a:xfrm>
            <a:off x="6527800" y="1003300"/>
            <a:ext cx="2382424" cy="4978400"/>
          </a:xfrm>
          <a:prstGeom prst="roundRect">
            <a:avLst>
              <a:gd name="adj" fmla="val 4606"/>
            </a:avLst>
          </a:prstGeom>
          <a:solidFill>
            <a:srgbClr val="15161A"/>
          </a:solidFill>
          <a:ln/>
        </p:spPr>
      </p:sp>
      <p:pic>
        <p:nvPicPr>
          <p:cNvPr id="11" name="Image 0" descr="/home/haidang/Hanni-demo/build/snaps/trang-chu-tai-khoan.png">    </p:cNvPr>
          <p:cNvPicPr>
            <a:picLocks noChangeAspect="1"/>
          </p:cNvPicPr>
          <p:nvPr/>
        </p:nvPicPr>
        <p:blipFill>
          <a:blip r:embed="rId1"/>
          <a:stretch>
            <a:fillRect/>
          </a:stretch>
        </p:blipFill>
        <p:spPr>
          <a:xfrm>
            <a:off x="6604000" y="1079500"/>
            <a:ext cx="2230024" cy="4826000"/>
          </a:xfrm>
          <a:prstGeom prst="rect">
            <a:avLst/>
          </a:prstGeom>
        </p:spPr>
      </p:pic>
      <p:sp>
        <p:nvSpPr>
          <p:cNvPr id="12" name="Shape 9"/>
          <p:cNvSpPr/>
          <p:nvPr/>
        </p:nvSpPr>
        <p:spPr>
          <a:xfrm>
            <a:off x="9113424" y="1003300"/>
            <a:ext cx="2382424" cy="4978400"/>
          </a:xfrm>
          <a:prstGeom prst="roundRect">
            <a:avLst>
              <a:gd name="adj" fmla="val 4606"/>
            </a:avLst>
          </a:prstGeom>
          <a:solidFill>
            <a:srgbClr val="15161A"/>
          </a:solidFill>
          <a:ln/>
        </p:spPr>
      </p:sp>
      <p:pic>
        <p:nvPicPr>
          <p:cNvPr id="13" name="Image 1" descr="/home/haidang/Hanni-demo/build/snaps/che-do-toi.png">    </p:cNvPr>
          <p:cNvPicPr>
            <a:picLocks noChangeAspect="1"/>
          </p:cNvPicPr>
          <p:nvPr/>
        </p:nvPicPr>
        <p:blipFill>
          <a:blip r:embed="rId2"/>
          <a:stretch>
            <a:fillRect/>
          </a:stretch>
        </p:blipFill>
        <p:spPr>
          <a:xfrm>
            <a:off x="9189624" y="1079500"/>
            <a:ext cx="2230024" cy="4826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6EF"/>
        </a:solidFill>
      </p:bgPr>
    </p:bg>
    <p:spTree>
      <p:nvGrpSpPr>
        <p:cNvPr id="1" name=""/>
        <p:cNvGrpSpPr/>
        <p:nvPr/>
      </p:nvGrpSpPr>
      <p:grpSpPr>
        <a:xfrm>
          <a:off x="0" y="0"/>
          <a:ext cx="0" cy="0"/>
          <a:chOff x="0" y="0"/>
          <a:chExt cx="0" cy="0"/>
        </a:xfrm>
      </p:grpSpPr>
      <p:sp>
        <p:nvSpPr>
          <p:cNvPr id="2" name="Text 0"/>
          <p:cNvSpPr/>
          <p:nvPr/>
        </p:nvSpPr>
        <p:spPr>
          <a:xfrm>
            <a:off x="812800" y="812800"/>
            <a:ext cx="10566400" cy="254000"/>
          </a:xfrm>
          <a:prstGeom prst="rect">
            <a:avLst/>
          </a:prstGeom>
          <a:noFill/>
          <a:ln/>
        </p:spPr>
        <p:txBody>
          <a:bodyPr wrap="square" lIns="0" tIns="0" rIns="0" bIns="0" rtlCol="0" anchor="t"/>
          <a:lstStyle/>
          <a:p>
            <a:pPr algn="l" indent="0" marL="0">
              <a:lnSpc>
                <a:spcPct val="115000"/>
              </a:lnSpc>
              <a:buNone/>
            </a:pPr>
            <a:r>
              <a:rPr lang="en-US" sz="1200" b="1" spc="300" kern="0" dirty="0">
                <a:solidFill>
                  <a:srgbClr val="BD2B1F"/>
                </a:solidFill>
                <a:latin typeface="Arial" pitchFamily="34" charset="0"/>
                <a:ea typeface="Arial" pitchFamily="34" charset="-122"/>
                <a:cs typeface="Arial" pitchFamily="34" charset="-120"/>
              </a:rPr>
              <a:t>KỸ THUẬT</a:t>
            </a:r>
            <a:endParaRPr lang="en-US" sz="1200" dirty="0"/>
          </a:p>
        </p:txBody>
      </p:sp>
      <p:sp>
        <p:nvSpPr>
          <p:cNvPr id="3" name="Text 1"/>
          <p:cNvSpPr/>
          <p:nvPr/>
        </p:nvSpPr>
        <p:spPr>
          <a:xfrm>
            <a:off x="812800" y="1117600"/>
            <a:ext cx="10566400" cy="635000"/>
          </a:xfrm>
          <a:prstGeom prst="rect">
            <a:avLst/>
          </a:prstGeom>
          <a:noFill/>
          <a:ln/>
        </p:spPr>
        <p:txBody>
          <a:bodyPr wrap="square" lIns="0" tIns="0" rIns="0" bIns="0" rtlCol="0" anchor="t"/>
          <a:lstStyle/>
          <a:p>
            <a:pPr algn="l" indent="0" marL="0">
              <a:lnSpc>
                <a:spcPct val="105000"/>
              </a:lnSpc>
              <a:buNone/>
            </a:pPr>
            <a:r>
              <a:rPr lang="en-US" sz="3600" b="1" dirty="0">
                <a:solidFill>
                  <a:srgbClr val="1F2430"/>
                </a:solidFill>
                <a:latin typeface="Arial" pitchFamily="34" charset="0"/>
                <a:ea typeface="Arial" pitchFamily="34" charset="-122"/>
                <a:cs typeface="Arial" pitchFamily="34" charset="-120"/>
              </a:rPr>
              <a:t>Nội dung có sẵn trong app</a:t>
            </a:r>
            <a:endParaRPr lang="en-US" sz="3600" dirty="0"/>
          </a:p>
        </p:txBody>
      </p:sp>
      <p:sp>
        <p:nvSpPr>
          <p:cNvPr id="4" name="Shape 2"/>
          <p:cNvSpPr/>
          <p:nvPr/>
        </p:nvSpPr>
        <p:spPr>
          <a:xfrm>
            <a:off x="812800" y="2095500"/>
            <a:ext cx="3409950" cy="1727200"/>
          </a:xfrm>
          <a:prstGeom prst="roundRect">
            <a:avLst>
              <a:gd name="adj" fmla="val 9000"/>
            </a:avLst>
          </a:prstGeom>
          <a:solidFill>
            <a:srgbClr val="FFFFFF"/>
          </a:solidFill>
          <a:ln w="12700">
            <a:solidFill>
              <a:srgbClr val="EADFCE"/>
            </a:solidFill>
            <a:prstDash val="solid"/>
          </a:ln>
        </p:spPr>
      </p:sp>
      <p:sp>
        <p:nvSpPr>
          <p:cNvPr id="5" name="Text 3"/>
          <p:cNvSpPr/>
          <p:nvPr/>
        </p:nvSpPr>
        <p:spPr>
          <a:xfrm>
            <a:off x="1066800" y="2324100"/>
            <a:ext cx="2984500" cy="635000"/>
          </a:xfrm>
          <a:prstGeom prst="rect">
            <a:avLst/>
          </a:prstGeom>
          <a:noFill/>
          <a:ln/>
        </p:spPr>
        <p:txBody>
          <a:bodyPr wrap="square" lIns="0" tIns="0" rIns="0" bIns="0" rtlCol="0" anchor="t"/>
          <a:lstStyle/>
          <a:p>
            <a:pPr algn="l" indent="0" marL="0">
              <a:lnSpc>
                <a:spcPct val="115000"/>
              </a:lnSpc>
              <a:buNone/>
            </a:pPr>
            <a:r>
              <a:rPr lang="en-US" sz="4200" b="1" dirty="0">
                <a:solidFill>
                  <a:srgbClr val="BD2B1F"/>
                </a:solidFill>
                <a:latin typeface="Arial" pitchFamily="34" charset="0"/>
                <a:ea typeface="Arial" pitchFamily="34" charset="-122"/>
                <a:cs typeface="Arial" pitchFamily="34" charset="-120"/>
              </a:rPr>
              <a:t>10.958</a:t>
            </a:r>
            <a:endParaRPr lang="en-US" sz="4200" dirty="0"/>
          </a:p>
        </p:txBody>
      </p:sp>
      <p:sp>
        <p:nvSpPr>
          <p:cNvPr id="6" name="Text 4"/>
          <p:cNvSpPr/>
          <p:nvPr/>
        </p:nvSpPr>
        <p:spPr>
          <a:xfrm>
            <a:off x="1066800" y="3048000"/>
            <a:ext cx="2984500" cy="635000"/>
          </a:xfrm>
          <a:prstGeom prst="rect">
            <a:avLst/>
          </a:prstGeom>
          <a:noFill/>
          <a:ln/>
        </p:spPr>
        <p:txBody>
          <a:bodyPr wrap="square" lIns="0" tIns="0" rIns="0" bIns="0" rtlCol="0" anchor="t"/>
          <a:lstStyle/>
          <a:p>
            <a:pPr algn="l" indent="0" marL="0">
              <a:lnSpc>
                <a:spcPct val="125000"/>
              </a:lnSpc>
              <a:buNone/>
            </a:pPr>
            <a:r>
              <a:rPr lang="en-US" sz="1500" dirty="0">
                <a:solidFill>
                  <a:srgbClr val="1F2430"/>
                </a:solidFill>
                <a:latin typeface="Arial" pitchFamily="34" charset="0"/>
                <a:ea typeface="Arial" pitchFamily="34" charset="-122"/>
                <a:cs typeface="Arial" pitchFamily="34" charset="-120"/>
              </a:rPr>
              <a:t>từ chuẩn HSK 3.0, đủ 9 cấp</a:t>
            </a:r>
            <a:endParaRPr lang="en-US" sz="1500" dirty="0"/>
          </a:p>
        </p:txBody>
      </p:sp>
      <p:sp>
        <p:nvSpPr>
          <p:cNvPr id="7" name="Shape 5"/>
          <p:cNvSpPr/>
          <p:nvPr/>
        </p:nvSpPr>
        <p:spPr>
          <a:xfrm>
            <a:off x="4400550" y="2095500"/>
            <a:ext cx="3409950" cy="1727200"/>
          </a:xfrm>
          <a:prstGeom prst="roundRect">
            <a:avLst>
              <a:gd name="adj" fmla="val 9000"/>
            </a:avLst>
          </a:prstGeom>
          <a:solidFill>
            <a:srgbClr val="FFFFFF"/>
          </a:solidFill>
          <a:ln w="12700">
            <a:solidFill>
              <a:srgbClr val="EADFCE"/>
            </a:solidFill>
            <a:prstDash val="solid"/>
          </a:ln>
        </p:spPr>
      </p:sp>
      <p:sp>
        <p:nvSpPr>
          <p:cNvPr id="8" name="Text 6"/>
          <p:cNvSpPr/>
          <p:nvPr/>
        </p:nvSpPr>
        <p:spPr>
          <a:xfrm>
            <a:off x="4654550" y="2324100"/>
            <a:ext cx="2984500" cy="635000"/>
          </a:xfrm>
          <a:prstGeom prst="rect">
            <a:avLst/>
          </a:prstGeom>
          <a:noFill/>
          <a:ln/>
        </p:spPr>
        <p:txBody>
          <a:bodyPr wrap="square" lIns="0" tIns="0" rIns="0" bIns="0" rtlCol="0" anchor="t"/>
          <a:lstStyle/>
          <a:p>
            <a:pPr algn="l" indent="0" marL="0">
              <a:lnSpc>
                <a:spcPct val="115000"/>
              </a:lnSpc>
              <a:buNone/>
            </a:pPr>
            <a:r>
              <a:rPr lang="en-US" sz="4200" b="1" dirty="0">
                <a:solidFill>
                  <a:srgbClr val="946311"/>
                </a:solidFill>
                <a:latin typeface="Arial" pitchFamily="34" charset="0"/>
                <a:ea typeface="Arial" pitchFamily="34" charset="-122"/>
                <a:cs typeface="Arial" pitchFamily="34" charset="-120"/>
              </a:rPr>
              <a:t>89,7%</a:t>
            </a:r>
            <a:endParaRPr lang="en-US" sz="4200" dirty="0"/>
          </a:p>
        </p:txBody>
      </p:sp>
      <p:sp>
        <p:nvSpPr>
          <p:cNvPr id="9" name="Text 7"/>
          <p:cNvSpPr/>
          <p:nvPr/>
        </p:nvSpPr>
        <p:spPr>
          <a:xfrm>
            <a:off x="4654550" y="3048000"/>
            <a:ext cx="2984500" cy="635000"/>
          </a:xfrm>
          <a:prstGeom prst="rect">
            <a:avLst/>
          </a:prstGeom>
          <a:noFill/>
          <a:ln/>
        </p:spPr>
        <p:txBody>
          <a:bodyPr wrap="square" lIns="0" tIns="0" rIns="0" bIns="0" rtlCol="0" anchor="t"/>
          <a:lstStyle/>
          <a:p>
            <a:pPr algn="l" indent="0" marL="0">
              <a:lnSpc>
                <a:spcPct val="125000"/>
              </a:lnSpc>
              <a:buNone/>
            </a:pPr>
            <a:r>
              <a:rPr lang="en-US" sz="1500" dirty="0">
                <a:solidFill>
                  <a:srgbClr val="1F2430"/>
                </a:solidFill>
                <a:latin typeface="Arial" pitchFamily="34" charset="0"/>
                <a:ea typeface="Arial" pitchFamily="34" charset="-122"/>
                <a:cs typeface="Arial" pitchFamily="34" charset="-120"/>
              </a:rPr>
              <a:t>từ có âm Hán Việt (9.824 từ)</a:t>
            </a:r>
            <a:endParaRPr lang="en-US" sz="1500" dirty="0"/>
          </a:p>
        </p:txBody>
      </p:sp>
      <p:sp>
        <p:nvSpPr>
          <p:cNvPr id="10" name="Shape 8"/>
          <p:cNvSpPr/>
          <p:nvPr/>
        </p:nvSpPr>
        <p:spPr>
          <a:xfrm>
            <a:off x="7988300" y="2095500"/>
            <a:ext cx="3409950" cy="1727200"/>
          </a:xfrm>
          <a:prstGeom prst="roundRect">
            <a:avLst>
              <a:gd name="adj" fmla="val 9000"/>
            </a:avLst>
          </a:prstGeom>
          <a:solidFill>
            <a:srgbClr val="FFFFFF"/>
          </a:solidFill>
          <a:ln w="12700">
            <a:solidFill>
              <a:srgbClr val="EADFCE"/>
            </a:solidFill>
            <a:prstDash val="solid"/>
          </a:ln>
        </p:spPr>
      </p:sp>
      <p:sp>
        <p:nvSpPr>
          <p:cNvPr id="11" name="Text 9"/>
          <p:cNvSpPr/>
          <p:nvPr/>
        </p:nvSpPr>
        <p:spPr>
          <a:xfrm>
            <a:off x="8242300" y="2324100"/>
            <a:ext cx="2984500" cy="635000"/>
          </a:xfrm>
          <a:prstGeom prst="rect">
            <a:avLst/>
          </a:prstGeom>
          <a:noFill/>
          <a:ln/>
        </p:spPr>
        <p:txBody>
          <a:bodyPr wrap="square" lIns="0" tIns="0" rIns="0" bIns="0" rtlCol="0" anchor="t"/>
          <a:lstStyle/>
          <a:p>
            <a:pPr algn="l" indent="0" marL="0">
              <a:lnSpc>
                <a:spcPct val="115000"/>
              </a:lnSpc>
              <a:buNone/>
            </a:pPr>
            <a:r>
              <a:rPr lang="en-US" sz="4200" b="1" dirty="0">
                <a:solidFill>
                  <a:srgbClr val="BD2B1F"/>
                </a:solidFill>
                <a:latin typeface="Arial" pitchFamily="34" charset="0"/>
                <a:ea typeface="Arial" pitchFamily="34" charset="-122"/>
                <a:cs typeface="Arial" pitchFamily="34" charset="-120"/>
              </a:rPr>
              <a:t>744</a:t>
            </a:r>
            <a:endParaRPr lang="en-US" sz="4200" dirty="0"/>
          </a:p>
        </p:txBody>
      </p:sp>
      <p:sp>
        <p:nvSpPr>
          <p:cNvPr id="12" name="Text 10"/>
          <p:cNvSpPr/>
          <p:nvPr/>
        </p:nvSpPr>
        <p:spPr>
          <a:xfrm>
            <a:off x="8242300" y="3048000"/>
            <a:ext cx="2984500" cy="635000"/>
          </a:xfrm>
          <a:prstGeom prst="rect">
            <a:avLst/>
          </a:prstGeom>
          <a:noFill/>
          <a:ln/>
        </p:spPr>
        <p:txBody>
          <a:bodyPr wrap="square" lIns="0" tIns="0" rIns="0" bIns="0" rtlCol="0" anchor="t"/>
          <a:lstStyle/>
          <a:p>
            <a:pPr algn="l" indent="0" marL="0">
              <a:lnSpc>
                <a:spcPct val="125000"/>
              </a:lnSpc>
              <a:buNone/>
            </a:pPr>
            <a:r>
              <a:rPr lang="en-US" sz="1500" dirty="0">
                <a:solidFill>
                  <a:srgbClr val="1F2430"/>
                </a:solidFill>
                <a:latin typeface="Arial" pitchFamily="34" charset="0"/>
                <a:ea typeface="Arial" pitchFamily="34" charset="-122"/>
                <a:cs typeface="Arial" pitchFamily="34" charset="-120"/>
              </a:rPr>
              <a:t>bài học chia theo chủ đề</a:t>
            </a:r>
            <a:endParaRPr lang="en-US" sz="1500" dirty="0"/>
          </a:p>
        </p:txBody>
      </p:sp>
      <p:sp>
        <p:nvSpPr>
          <p:cNvPr id="13" name="Shape 11"/>
          <p:cNvSpPr/>
          <p:nvPr/>
        </p:nvSpPr>
        <p:spPr>
          <a:xfrm>
            <a:off x="812800" y="4000500"/>
            <a:ext cx="3409950" cy="1727200"/>
          </a:xfrm>
          <a:prstGeom prst="roundRect">
            <a:avLst>
              <a:gd name="adj" fmla="val 9000"/>
            </a:avLst>
          </a:prstGeom>
          <a:solidFill>
            <a:srgbClr val="FFFFFF"/>
          </a:solidFill>
          <a:ln w="12700">
            <a:solidFill>
              <a:srgbClr val="EADFCE"/>
            </a:solidFill>
            <a:prstDash val="solid"/>
          </a:ln>
        </p:spPr>
      </p:sp>
      <p:sp>
        <p:nvSpPr>
          <p:cNvPr id="14" name="Text 12"/>
          <p:cNvSpPr/>
          <p:nvPr/>
        </p:nvSpPr>
        <p:spPr>
          <a:xfrm>
            <a:off x="1066800" y="4229100"/>
            <a:ext cx="2984500" cy="635000"/>
          </a:xfrm>
          <a:prstGeom prst="rect">
            <a:avLst/>
          </a:prstGeom>
          <a:noFill/>
          <a:ln/>
        </p:spPr>
        <p:txBody>
          <a:bodyPr wrap="square" lIns="0" tIns="0" rIns="0" bIns="0" rtlCol="0" anchor="t"/>
          <a:lstStyle/>
          <a:p>
            <a:pPr algn="l" indent="0" marL="0">
              <a:lnSpc>
                <a:spcPct val="115000"/>
              </a:lnSpc>
              <a:buNone/>
            </a:pPr>
            <a:r>
              <a:rPr lang="en-US" sz="4200" b="1" dirty="0">
                <a:solidFill>
                  <a:srgbClr val="BD2B1F"/>
                </a:solidFill>
                <a:latin typeface="Arial" pitchFamily="34" charset="0"/>
                <a:ea typeface="Arial" pitchFamily="34" charset="-122"/>
                <a:cs typeface="Arial" pitchFamily="34" charset="-120"/>
              </a:rPr>
              <a:t>235</a:t>
            </a:r>
            <a:endParaRPr lang="en-US" sz="4200" dirty="0"/>
          </a:p>
        </p:txBody>
      </p:sp>
      <p:sp>
        <p:nvSpPr>
          <p:cNvPr id="15" name="Text 13"/>
          <p:cNvSpPr/>
          <p:nvPr/>
        </p:nvSpPr>
        <p:spPr>
          <a:xfrm>
            <a:off x="1066800" y="4953000"/>
            <a:ext cx="2984500" cy="635000"/>
          </a:xfrm>
          <a:prstGeom prst="rect">
            <a:avLst/>
          </a:prstGeom>
          <a:noFill/>
          <a:ln/>
        </p:spPr>
        <p:txBody>
          <a:bodyPr wrap="square" lIns="0" tIns="0" rIns="0" bIns="0" rtlCol="0" anchor="t"/>
          <a:lstStyle/>
          <a:p>
            <a:pPr algn="l" indent="0" marL="0">
              <a:lnSpc>
                <a:spcPct val="125000"/>
              </a:lnSpc>
              <a:buNone/>
            </a:pPr>
            <a:r>
              <a:rPr lang="en-US" sz="1500" dirty="0">
                <a:solidFill>
                  <a:srgbClr val="1F2430"/>
                </a:solidFill>
                <a:latin typeface="Arial" pitchFamily="34" charset="0"/>
                <a:ea typeface="Arial" pitchFamily="34" charset="-122"/>
                <a:cs typeface="Arial" pitchFamily="34" charset="-120"/>
              </a:rPr>
              <a:t>điểm ngữ pháp giải thích bằng tiếng Việt</a:t>
            </a:r>
            <a:endParaRPr lang="en-US" sz="1500" dirty="0"/>
          </a:p>
        </p:txBody>
      </p:sp>
      <p:sp>
        <p:nvSpPr>
          <p:cNvPr id="16" name="Shape 14"/>
          <p:cNvSpPr/>
          <p:nvPr/>
        </p:nvSpPr>
        <p:spPr>
          <a:xfrm>
            <a:off x="4400550" y="4000500"/>
            <a:ext cx="3409950" cy="1727200"/>
          </a:xfrm>
          <a:prstGeom prst="roundRect">
            <a:avLst>
              <a:gd name="adj" fmla="val 9000"/>
            </a:avLst>
          </a:prstGeom>
          <a:solidFill>
            <a:srgbClr val="FFFFFF"/>
          </a:solidFill>
          <a:ln w="12700">
            <a:solidFill>
              <a:srgbClr val="EADFCE"/>
            </a:solidFill>
            <a:prstDash val="solid"/>
          </a:ln>
        </p:spPr>
      </p:sp>
      <p:sp>
        <p:nvSpPr>
          <p:cNvPr id="17" name="Text 15"/>
          <p:cNvSpPr/>
          <p:nvPr/>
        </p:nvSpPr>
        <p:spPr>
          <a:xfrm>
            <a:off x="4654550" y="4229100"/>
            <a:ext cx="2984500" cy="635000"/>
          </a:xfrm>
          <a:prstGeom prst="rect">
            <a:avLst/>
          </a:prstGeom>
          <a:noFill/>
          <a:ln/>
        </p:spPr>
        <p:txBody>
          <a:bodyPr wrap="square" lIns="0" tIns="0" rIns="0" bIns="0" rtlCol="0" anchor="t"/>
          <a:lstStyle/>
          <a:p>
            <a:pPr algn="l" indent="0" marL="0">
              <a:lnSpc>
                <a:spcPct val="115000"/>
              </a:lnSpc>
              <a:buNone/>
            </a:pPr>
            <a:r>
              <a:rPr lang="en-US" sz="4200" b="1" dirty="0">
                <a:solidFill>
                  <a:srgbClr val="BD2B1F"/>
                </a:solidFill>
                <a:latin typeface="Arial" pitchFamily="34" charset="0"/>
                <a:ea typeface="Arial" pitchFamily="34" charset="-122"/>
                <a:cs typeface="Arial" pitchFamily="34" charset="-120"/>
              </a:rPr>
              <a:t>10</a:t>
            </a:r>
            <a:endParaRPr lang="en-US" sz="4200" dirty="0"/>
          </a:p>
        </p:txBody>
      </p:sp>
      <p:sp>
        <p:nvSpPr>
          <p:cNvPr id="18" name="Text 16"/>
          <p:cNvSpPr/>
          <p:nvPr/>
        </p:nvSpPr>
        <p:spPr>
          <a:xfrm>
            <a:off x="4654550" y="4953000"/>
            <a:ext cx="2984500" cy="635000"/>
          </a:xfrm>
          <a:prstGeom prst="rect">
            <a:avLst/>
          </a:prstGeom>
          <a:noFill/>
          <a:ln/>
        </p:spPr>
        <p:txBody>
          <a:bodyPr wrap="square" lIns="0" tIns="0" rIns="0" bIns="0" rtlCol="0" anchor="t"/>
          <a:lstStyle/>
          <a:p>
            <a:pPr algn="l" indent="0" marL="0">
              <a:lnSpc>
                <a:spcPct val="125000"/>
              </a:lnSpc>
              <a:buNone/>
            </a:pPr>
            <a:r>
              <a:rPr lang="en-US" sz="1500" dirty="0">
                <a:solidFill>
                  <a:srgbClr val="1F2430"/>
                </a:solidFill>
                <a:latin typeface="Arial" pitchFamily="34" charset="0"/>
                <a:ea typeface="Arial" pitchFamily="34" charset="-122"/>
                <a:cs typeface="Arial" pitchFamily="34" charset="-120"/>
              </a:rPr>
              <a:t>đề thi thử HSK 1–4 đúng cấu trúc đề thật</a:t>
            </a:r>
            <a:endParaRPr lang="en-US" sz="1500" dirty="0"/>
          </a:p>
        </p:txBody>
      </p:sp>
      <p:sp>
        <p:nvSpPr>
          <p:cNvPr id="19" name="Shape 17"/>
          <p:cNvSpPr/>
          <p:nvPr/>
        </p:nvSpPr>
        <p:spPr>
          <a:xfrm>
            <a:off x="7988300" y="4000500"/>
            <a:ext cx="3409950" cy="1727200"/>
          </a:xfrm>
          <a:prstGeom prst="roundRect">
            <a:avLst>
              <a:gd name="adj" fmla="val 9000"/>
            </a:avLst>
          </a:prstGeom>
          <a:solidFill>
            <a:srgbClr val="FFFFFF"/>
          </a:solidFill>
          <a:ln w="12700">
            <a:solidFill>
              <a:srgbClr val="EADFCE"/>
            </a:solidFill>
            <a:prstDash val="solid"/>
          </a:ln>
        </p:spPr>
      </p:sp>
      <p:sp>
        <p:nvSpPr>
          <p:cNvPr id="20" name="Text 18"/>
          <p:cNvSpPr/>
          <p:nvPr/>
        </p:nvSpPr>
        <p:spPr>
          <a:xfrm>
            <a:off x="8242300" y="4229100"/>
            <a:ext cx="2984500" cy="635000"/>
          </a:xfrm>
          <a:prstGeom prst="rect">
            <a:avLst/>
          </a:prstGeom>
          <a:noFill/>
          <a:ln/>
        </p:spPr>
        <p:txBody>
          <a:bodyPr wrap="square" lIns="0" tIns="0" rIns="0" bIns="0" rtlCol="0" anchor="t"/>
          <a:lstStyle/>
          <a:p>
            <a:pPr algn="l" indent="0" marL="0">
              <a:lnSpc>
                <a:spcPct val="115000"/>
              </a:lnSpc>
              <a:buNone/>
            </a:pPr>
            <a:r>
              <a:rPr lang="en-US" sz="4200" b="1" dirty="0">
                <a:solidFill>
                  <a:srgbClr val="BD2B1F"/>
                </a:solidFill>
                <a:latin typeface="Arial" pitchFamily="34" charset="0"/>
                <a:ea typeface="Arial" pitchFamily="34" charset="-122"/>
                <a:cs typeface="Arial" pitchFamily="34" charset="-120"/>
              </a:rPr>
              <a:t>~10.900</a:t>
            </a:r>
            <a:endParaRPr lang="en-US" sz="4200" dirty="0"/>
          </a:p>
        </p:txBody>
      </p:sp>
      <p:sp>
        <p:nvSpPr>
          <p:cNvPr id="21" name="Text 19"/>
          <p:cNvSpPr/>
          <p:nvPr/>
        </p:nvSpPr>
        <p:spPr>
          <a:xfrm>
            <a:off x="8242300" y="4953000"/>
            <a:ext cx="2984500" cy="635000"/>
          </a:xfrm>
          <a:prstGeom prst="rect">
            <a:avLst/>
          </a:prstGeom>
          <a:noFill/>
          <a:ln/>
        </p:spPr>
        <p:txBody>
          <a:bodyPr wrap="square" lIns="0" tIns="0" rIns="0" bIns="0" rtlCol="0" anchor="t"/>
          <a:lstStyle/>
          <a:p>
            <a:pPr algn="l" indent="0" marL="0">
              <a:lnSpc>
                <a:spcPct val="125000"/>
              </a:lnSpc>
              <a:buNone/>
            </a:pPr>
            <a:r>
              <a:rPr lang="en-US" sz="1500" dirty="0">
                <a:solidFill>
                  <a:srgbClr val="1F2430"/>
                </a:solidFill>
                <a:latin typeface="Arial" pitchFamily="34" charset="0"/>
                <a:ea typeface="Arial" pitchFamily="34" charset="-122"/>
                <a:cs typeface="Arial" pitchFamily="34" charset="-120"/>
              </a:rPr>
              <a:t>file phát âm chuẩn cho từ điển, bài học, chấm thanh</a:t>
            </a:r>
            <a:endParaRPr lang="en-US" sz="1500" dirty="0"/>
          </a:p>
        </p:txBody>
      </p:sp>
      <p:sp>
        <p:nvSpPr>
          <p:cNvPr id="22" name="Text 20"/>
          <p:cNvSpPr/>
          <p:nvPr/>
        </p:nvSpPr>
        <p:spPr>
          <a:xfrm>
            <a:off x="812800" y="6223000"/>
            <a:ext cx="10566400" cy="254000"/>
          </a:xfrm>
          <a:prstGeom prst="rect">
            <a:avLst/>
          </a:prstGeom>
          <a:noFill/>
          <a:ln/>
        </p:spPr>
        <p:txBody>
          <a:bodyPr wrap="square" lIns="0" tIns="0" rIns="0" bIns="0" rtlCol="0" anchor="t"/>
          <a:lstStyle/>
          <a:p>
            <a:pPr algn="l" indent="0" marL="0">
              <a:lnSpc>
                <a:spcPct val="115000"/>
              </a:lnSpc>
              <a:buNone/>
            </a:pPr>
            <a:r>
              <a:rPr lang="en-US" sz="1200" dirty="0">
                <a:solidFill>
                  <a:srgbClr val="5B6271"/>
                </a:solidFill>
                <a:latin typeface="Arial" pitchFamily="34" charset="0"/>
                <a:ea typeface="Arial" pitchFamily="34" charset="-122"/>
                <a:cs typeface="Arial" pitchFamily="34" charset="-120"/>
              </a:rPr>
              <a:t>Đếm từ cơ sở dữ liệu và mã nguồn, 10/2026 · Từ vựng: krmanik/HSK-3.0 + CVDICT (CC BY-SA 4.0) · Âm Hán Việt: Unihan + bù, sửa tay</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EADF"/>
        </a:solidFill>
      </p:bgPr>
    </p:bg>
    <p:spTree>
      <p:nvGrpSpPr>
        <p:cNvPr id="1" name=""/>
        <p:cNvGrpSpPr/>
        <p:nvPr/>
      </p:nvGrpSpPr>
      <p:grpSpPr>
        <a:xfrm>
          <a:off x="0" y="0"/>
          <a:ext cx="0" cy="0"/>
          <a:chOff x="0" y="0"/>
          <a:chExt cx="0" cy="0"/>
        </a:xfrm>
      </p:grpSpPr>
      <p:sp>
        <p:nvSpPr>
          <p:cNvPr id="2" name="Text 0"/>
          <p:cNvSpPr/>
          <p:nvPr/>
        </p:nvSpPr>
        <p:spPr>
          <a:xfrm>
            <a:off x="812800" y="812800"/>
            <a:ext cx="10566400" cy="254000"/>
          </a:xfrm>
          <a:prstGeom prst="rect">
            <a:avLst/>
          </a:prstGeom>
          <a:noFill/>
          <a:ln/>
        </p:spPr>
        <p:txBody>
          <a:bodyPr wrap="square" lIns="0" tIns="0" rIns="0" bIns="0" rtlCol="0" anchor="t"/>
          <a:lstStyle/>
          <a:p>
            <a:pPr algn="l" indent="0" marL="0">
              <a:lnSpc>
                <a:spcPct val="115000"/>
              </a:lnSpc>
              <a:buNone/>
            </a:pPr>
            <a:r>
              <a:rPr lang="en-US" sz="1200" b="1" spc="300" kern="0" dirty="0">
                <a:solidFill>
                  <a:srgbClr val="BD2B1F"/>
                </a:solidFill>
                <a:latin typeface="Arial" pitchFamily="34" charset="0"/>
                <a:ea typeface="Arial" pitchFamily="34" charset="-122"/>
                <a:cs typeface="Arial" pitchFamily="34" charset="-120"/>
              </a:rPr>
              <a:t>KỸ THUẬT</a:t>
            </a:r>
            <a:endParaRPr lang="en-US" sz="1200" dirty="0"/>
          </a:p>
        </p:txBody>
      </p:sp>
      <p:sp>
        <p:nvSpPr>
          <p:cNvPr id="3" name="Text 1"/>
          <p:cNvSpPr/>
          <p:nvPr/>
        </p:nvSpPr>
        <p:spPr>
          <a:xfrm>
            <a:off x="812800" y="1117600"/>
            <a:ext cx="10566400" cy="635000"/>
          </a:xfrm>
          <a:prstGeom prst="rect">
            <a:avLst/>
          </a:prstGeom>
          <a:noFill/>
          <a:ln/>
        </p:spPr>
        <p:txBody>
          <a:bodyPr wrap="square" lIns="0" tIns="0" rIns="0" bIns="0" rtlCol="0" anchor="t"/>
          <a:lstStyle/>
          <a:p>
            <a:pPr algn="l" indent="0" marL="0">
              <a:lnSpc>
                <a:spcPct val="105000"/>
              </a:lnSpc>
              <a:buNone/>
            </a:pPr>
            <a:r>
              <a:rPr lang="en-US" sz="3600" b="1" dirty="0">
                <a:solidFill>
                  <a:srgbClr val="1F2430"/>
                </a:solidFill>
                <a:latin typeface="Arial" pitchFamily="34" charset="0"/>
                <a:ea typeface="Arial" pitchFamily="34" charset="-122"/>
                <a:cs typeface="Arial" pitchFamily="34" charset="-120"/>
              </a:rPr>
              <a:t>Kiểm thử và đo chất lượng</a:t>
            </a:r>
            <a:endParaRPr lang="en-US" sz="3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812800" y="2159000"/>
          <a:ext cx="10566400" cy="914400"/>
        </p:xfrm>
        <a:graphic>
          <a:graphicData uri="http://schemas.openxmlformats.org/drawingml/2006/table">
            <a:tbl>
              <a:tblPr/>
              <a:tblGrid>
                <a:gridCol w="4445000"/>
                <a:gridCol w="6121400"/>
              </a:tblGrid>
              <a:tr h="609600">
                <a:tc>
                  <a:txBody>
                    <a:bodyPr/>
                    <a:lstStyle/>
                    <a:p>
                      <a:pPr indent="0" marL="0">
                        <a:buNone/>
                      </a:pPr>
                      <a:r>
                        <a:rPr lang="en-US" sz="1500" b="1" dirty="0">
                          <a:solidFill>
                            <a:srgbClr val="FBF6EF"/>
                          </a:solidFill>
                          <a:latin typeface="Arial" pitchFamily="34" charset="0"/>
                          <a:ea typeface="Arial" pitchFamily="34" charset="-122"/>
                          <a:cs typeface="Arial" pitchFamily="34" charset="-120"/>
                        </a:rPr>
                        <a:t>Hạng mục</a:t>
                      </a:r>
                      <a:endParaRPr lang="en-US" sz="1500" dirty="0">
                        <a:latin typeface="Arial" charset="0"/>
                        <a:ea typeface="Arial" charset="0"/>
                        <a:cs typeface="Arial" charset="0"/>
                      </a:endParaRPr>
                    </a:p>
                  </a:txBody>
                  <a:tcPr marL="109728" marR="109728" marT="109728" marB="109728" anchor="ctr">
                    <a:lnL w="12700" cap="flat" cmpd="sng" algn="ctr">
                      <a:solidFill>
                        <a:srgbClr val="EADFCE"/>
                      </a:solidFill>
                      <a:prstDash val="solid"/>
                      <a:round/>
                      <a:headEnd type="none" w="med" len="med"/>
                      <a:tailEnd type="none" w="med" len="med"/>
                    </a:lnL>
                    <a:lnR w="12700" cap="flat" cmpd="sng" algn="ctr">
                      <a:solidFill>
                        <a:srgbClr val="EADFCE"/>
                      </a:solidFill>
                      <a:prstDash val="solid"/>
                      <a:round/>
                      <a:headEnd type="none" w="med" len="med"/>
                      <a:tailEnd type="none" w="med" len="med"/>
                    </a:lnR>
                    <a:lnT w="12700" cap="flat" cmpd="sng" algn="ctr">
                      <a:solidFill>
                        <a:srgbClr val="EADFCE"/>
                      </a:solidFill>
                      <a:prstDash val="solid"/>
                      <a:round/>
                      <a:headEnd type="none" w="med" len="med"/>
                      <a:tailEnd type="none" w="med" len="med"/>
                    </a:lnT>
                    <a:lnB w="12700" cap="flat" cmpd="sng" algn="ctr">
                      <a:solidFill>
                        <a:srgbClr val="EADFCE"/>
                      </a:solidFill>
                      <a:prstDash val="solid"/>
                      <a:round/>
                      <a:headEnd type="none" w="med" len="med"/>
                      <a:tailEnd type="none" w="med" len="med"/>
                    </a:lnB>
                    <a:solidFill>
                      <a:srgbClr val="1F2430"/>
                    </a:solidFill>
                  </a:tcPr>
                </a:tc>
                <a:tc>
                  <a:txBody>
                    <a:bodyPr/>
                    <a:lstStyle/>
                    <a:p>
                      <a:pPr indent="0" marL="0">
                        <a:buNone/>
                      </a:pPr>
                      <a:r>
                        <a:rPr lang="en-US" sz="1500" b="1" dirty="0">
                          <a:solidFill>
                            <a:srgbClr val="FBF6EF"/>
                          </a:solidFill>
                          <a:latin typeface="Arial" pitchFamily="34" charset="0"/>
                          <a:ea typeface="Arial" pitchFamily="34" charset="-122"/>
                          <a:cs typeface="Arial" pitchFamily="34" charset="-120"/>
                        </a:rPr>
                        <a:t>Kết quả</a:t>
                      </a:r>
                      <a:endParaRPr lang="en-US" sz="1500" dirty="0">
                        <a:latin typeface="Arial" charset="0"/>
                        <a:ea typeface="Arial" charset="0"/>
                        <a:cs typeface="Arial" charset="0"/>
                      </a:endParaRPr>
                    </a:p>
                  </a:txBody>
                  <a:tcPr marL="109728" marR="109728" marT="109728" marB="109728" anchor="ctr">
                    <a:lnL w="12700" cap="flat" cmpd="sng" algn="ctr">
                      <a:solidFill>
                        <a:srgbClr val="EADFCE"/>
                      </a:solidFill>
                      <a:prstDash val="solid"/>
                      <a:round/>
                      <a:headEnd type="none" w="med" len="med"/>
                      <a:tailEnd type="none" w="med" len="med"/>
                    </a:lnL>
                    <a:lnR w="12700" cap="flat" cmpd="sng" algn="ctr">
                      <a:solidFill>
                        <a:srgbClr val="EADFCE"/>
                      </a:solidFill>
                      <a:prstDash val="solid"/>
                      <a:round/>
                      <a:headEnd type="none" w="med" len="med"/>
                      <a:tailEnd type="none" w="med" len="med"/>
                    </a:lnR>
                    <a:lnT w="12700" cap="flat" cmpd="sng" algn="ctr">
                      <a:solidFill>
                        <a:srgbClr val="EADFCE"/>
                      </a:solidFill>
                      <a:prstDash val="solid"/>
                      <a:round/>
                      <a:headEnd type="none" w="med" len="med"/>
                      <a:tailEnd type="none" w="med" len="med"/>
                    </a:lnT>
                    <a:lnB w="12700" cap="flat" cmpd="sng" algn="ctr">
                      <a:solidFill>
                        <a:srgbClr val="EADFCE"/>
                      </a:solidFill>
                      <a:prstDash val="solid"/>
                      <a:round/>
                      <a:headEnd type="none" w="med" len="med"/>
                      <a:tailEnd type="none" w="med" len="med"/>
                    </a:lnB>
                    <a:solidFill>
                      <a:srgbClr val="1F2430"/>
                    </a:solidFill>
                  </a:tcPr>
                </a:tc>
              </a:tr>
              <a:tr h="609600">
                <a:tc>
                  <a:txBody>
                    <a:bodyPr/>
                    <a:lstStyle/>
                    <a:p>
                      <a:pPr indent="0" marL="0">
                        <a:buNone/>
                      </a:pPr>
                      <a:r>
                        <a:rPr lang="en-US" sz="1500" dirty="0">
                          <a:solidFill>
                            <a:srgbClr val="1F2430"/>
                          </a:solidFill>
                          <a:latin typeface="Arial" pitchFamily="34" charset="0"/>
                          <a:ea typeface="Arial" pitchFamily="34" charset="-122"/>
                          <a:cs typeface="Arial" pitchFamily="34" charset="-120"/>
                        </a:rPr>
                        <a:t>Server — unit test</a:t>
                      </a:r>
                      <a:endParaRPr lang="en-US" sz="1500" dirty="0">
                        <a:latin typeface="Arial" charset="0"/>
                        <a:ea typeface="Arial" charset="0"/>
                        <a:cs typeface="Arial" charset="0"/>
                      </a:endParaRPr>
                    </a:p>
                  </a:txBody>
                  <a:tcPr marL="109728" marR="109728" marT="109728" marB="109728" anchor="ctr">
                    <a:lnL w="12700" cap="flat" cmpd="sng" algn="ctr">
                      <a:solidFill>
                        <a:srgbClr val="EADFCE"/>
                      </a:solidFill>
                      <a:prstDash val="solid"/>
                      <a:round/>
                      <a:headEnd type="none" w="med" len="med"/>
                      <a:tailEnd type="none" w="med" len="med"/>
                    </a:lnL>
                    <a:lnR w="12700" cap="flat" cmpd="sng" algn="ctr">
                      <a:solidFill>
                        <a:srgbClr val="EADFCE"/>
                      </a:solidFill>
                      <a:prstDash val="solid"/>
                      <a:round/>
                      <a:headEnd type="none" w="med" len="med"/>
                      <a:tailEnd type="none" w="med" len="med"/>
                    </a:lnR>
                    <a:lnT w="12700" cap="flat" cmpd="sng" algn="ctr">
                      <a:solidFill>
                        <a:srgbClr val="EADFCE"/>
                      </a:solidFill>
                      <a:prstDash val="solid"/>
                      <a:round/>
                      <a:headEnd type="none" w="med" len="med"/>
                      <a:tailEnd type="none" w="med" len="med"/>
                    </a:lnT>
                    <a:lnB w="12700" cap="flat" cmpd="sng" algn="ctr">
                      <a:solidFill>
                        <a:srgbClr val="EADFCE"/>
                      </a:solidFill>
                      <a:prstDash val="solid"/>
                      <a:round/>
                      <a:headEnd type="none" w="med" len="med"/>
                      <a:tailEnd type="none" w="med" len="med"/>
                    </a:lnB>
                    <a:solidFill>
                      <a:srgbClr val="FBF6EF"/>
                    </a:solidFill>
                  </a:tcPr>
                </a:tc>
                <a:tc>
                  <a:txBody>
                    <a:bodyPr/>
                    <a:lstStyle/>
                    <a:p>
                      <a:pPr indent="0" marL="0">
                        <a:buNone/>
                      </a:pPr>
                      <a:r>
                        <a:rPr lang="en-US" sz="1500" dirty="0">
                          <a:solidFill>
                            <a:srgbClr val="1F2430"/>
                          </a:solidFill>
                          <a:latin typeface="Arial" pitchFamily="34" charset="0"/>
                          <a:ea typeface="Arial" pitchFamily="34" charset="-122"/>
                          <a:cs typeface="Arial" pitchFamily="34" charset="-120"/>
                        </a:rPr>
                        <a:t>181 test đều đạt</a:t>
                      </a:r>
                      <a:endParaRPr lang="en-US" sz="1500" dirty="0">
                        <a:latin typeface="Arial" charset="0"/>
                        <a:ea typeface="Arial" charset="0"/>
                        <a:cs typeface="Arial" charset="0"/>
                      </a:endParaRPr>
                    </a:p>
                  </a:txBody>
                  <a:tcPr marL="109728" marR="109728" marT="109728" marB="109728" anchor="ctr">
                    <a:lnL w="12700" cap="flat" cmpd="sng" algn="ctr">
                      <a:solidFill>
                        <a:srgbClr val="EADFCE"/>
                      </a:solidFill>
                      <a:prstDash val="solid"/>
                      <a:round/>
                      <a:headEnd type="none" w="med" len="med"/>
                      <a:tailEnd type="none" w="med" len="med"/>
                    </a:lnL>
                    <a:lnR w="12700" cap="flat" cmpd="sng" algn="ctr">
                      <a:solidFill>
                        <a:srgbClr val="EADFCE"/>
                      </a:solidFill>
                      <a:prstDash val="solid"/>
                      <a:round/>
                      <a:headEnd type="none" w="med" len="med"/>
                      <a:tailEnd type="none" w="med" len="med"/>
                    </a:lnR>
                    <a:lnT w="12700" cap="flat" cmpd="sng" algn="ctr">
                      <a:solidFill>
                        <a:srgbClr val="EADFCE"/>
                      </a:solidFill>
                      <a:prstDash val="solid"/>
                      <a:round/>
                      <a:headEnd type="none" w="med" len="med"/>
                      <a:tailEnd type="none" w="med" len="med"/>
                    </a:lnT>
                    <a:lnB w="12700" cap="flat" cmpd="sng" algn="ctr">
                      <a:solidFill>
                        <a:srgbClr val="EADFCE"/>
                      </a:solidFill>
                      <a:prstDash val="solid"/>
                      <a:round/>
                      <a:headEnd type="none" w="med" len="med"/>
                      <a:tailEnd type="none" w="med" len="med"/>
                    </a:lnB>
                    <a:solidFill>
                      <a:srgbClr val="FBF6EF"/>
                    </a:solidFill>
                  </a:tcPr>
                </a:tc>
              </a:tr>
              <a:tr h="609600">
                <a:tc>
                  <a:txBody>
                    <a:bodyPr/>
                    <a:lstStyle/>
                    <a:p>
                      <a:pPr indent="0" marL="0">
                        <a:buNone/>
                      </a:pPr>
                      <a:r>
                        <a:rPr lang="en-US" sz="1500" dirty="0">
                          <a:solidFill>
                            <a:srgbClr val="1F2430"/>
                          </a:solidFill>
                          <a:latin typeface="Arial" pitchFamily="34" charset="0"/>
                          <a:ea typeface="Arial" pitchFamily="34" charset="-122"/>
                          <a:cs typeface="Arial" pitchFamily="34" charset="-120"/>
                        </a:rPr>
                        <a:t>Mobile — TypeScript, ESLint, test</a:t>
                      </a:r>
                      <a:endParaRPr lang="en-US" sz="1500" dirty="0">
                        <a:latin typeface="Arial" charset="0"/>
                        <a:ea typeface="Arial" charset="0"/>
                        <a:cs typeface="Arial" charset="0"/>
                      </a:endParaRPr>
                    </a:p>
                  </a:txBody>
                  <a:tcPr marL="109728" marR="109728" marT="109728" marB="109728" anchor="ctr">
                    <a:lnL w="12700" cap="flat" cmpd="sng" algn="ctr">
                      <a:solidFill>
                        <a:srgbClr val="EADFCE"/>
                      </a:solidFill>
                      <a:prstDash val="solid"/>
                      <a:round/>
                      <a:headEnd type="none" w="med" len="med"/>
                      <a:tailEnd type="none" w="med" len="med"/>
                    </a:lnL>
                    <a:lnR w="12700" cap="flat" cmpd="sng" algn="ctr">
                      <a:solidFill>
                        <a:srgbClr val="EADFCE"/>
                      </a:solidFill>
                      <a:prstDash val="solid"/>
                      <a:round/>
                      <a:headEnd type="none" w="med" len="med"/>
                      <a:tailEnd type="none" w="med" len="med"/>
                    </a:lnR>
                    <a:lnT w="12700" cap="flat" cmpd="sng" algn="ctr">
                      <a:solidFill>
                        <a:srgbClr val="EADFCE"/>
                      </a:solidFill>
                      <a:prstDash val="solid"/>
                      <a:round/>
                      <a:headEnd type="none" w="med" len="med"/>
                      <a:tailEnd type="none" w="med" len="med"/>
                    </a:lnT>
                    <a:lnB w="12700" cap="flat" cmpd="sng" algn="ctr">
                      <a:solidFill>
                        <a:srgbClr val="EADFCE"/>
                      </a:solidFill>
                      <a:prstDash val="solid"/>
                      <a:round/>
                      <a:headEnd type="none" w="med" len="med"/>
                      <a:tailEnd type="none" w="med" len="med"/>
                    </a:lnB>
                    <a:solidFill>
                      <a:srgbClr val="FBF6EF"/>
                    </a:solidFill>
                  </a:tcPr>
                </a:tc>
                <a:tc>
                  <a:txBody>
                    <a:bodyPr/>
                    <a:lstStyle/>
                    <a:p>
                      <a:pPr indent="0" marL="0">
                        <a:buNone/>
                      </a:pPr>
                      <a:r>
                        <a:rPr lang="en-US" sz="1500" dirty="0">
                          <a:solidFill>
                            <a:srgbClr val="1F2430"/>
                          </a:solidFill>
                          <a:latin typeface="Arial" pitchFamily="34" charset="0"/>
                          <a:ea typeface="Arial" pitchFamily="34" charset="-122"/>
                          <a:cs typeface="Arial" pitchFamily="34" charset="-120"/>
                        </a:rPr>
                        <a:t>tsc và lint sạch, 16/16 test đạt</a:t>
                      </a:r>
                      <a:endParaRPr lang="en-US" sz="1500" dirty="0">
                        <a:latin typeface="Arial" charset="0"/>
                        <a:ea typeface="Arial" charset="0"/>
                        <a:cs typeface="Arial" charset="0"/>
                      </a:endParaRPr>
                    </a:p>
                  </a:txBody>
                  <a:tcPr marL="109728" marR="109728" marT="109728" marB="109728" anchor="ctr">
                    <a:lnL w="12700" cap="flat" cmpd="sng" algn="ctr">
                      <a:solidFill>
                        <a:srgbClr val="EADFCE"/>
                      </a:solidFill>
                      <a:prstDash val="solid"/>
                      <a:round/>
                      <a:headEnd type="none" w="med" len="med"/>
                      <a:tailEnd type="none" w="med" len="med"/>
                    </a:lnL>
                    <a:lnR w="12700" cap="flat" cmpd="sng" algn="ctr">
                      <a:solidFill>
                        <a:srgbClr val="EADFCE"/>
                      </a:solidFill>
                      <a:prstDash val="solid"/>
                      <a:round/>
                      <a:headEnd type="none" w="med" len="med"/>
                      <a:tailEnd type="none" w="med" len="med"/>
                    </a:lnR>
                    <a:lnT w="12700" cap="flat" cmpd="sng" algn="ctr">
                      <a:solidFill>
                        <a:srgbClr val="EADFCE"/>
                      </a:solidFill>
                      <a:prstDash val="solid"/>
                      <a:round/>
                      <a:headEnd type="none" w="med" len="med"/>
                      <a:tailEnd type="none" w="med" len="med"/>
                    </a:lnT>
                    <a:lnB w="12700" cap="flat" cmpd="sng" algn="ctr">
                      <a:solidFill>
                        <a:srgbClr val="EADFCE"/>
                      </a:solidFill>
                      <a:prstDash val="solid"/>
                      <a:round/>
                      <a:headEnd type="none" w="med" len="med"/>
                      <a:tailEnd type="none" w="med" len="med"/>
                    </a:lnB>
                    <a:solidFill>
                      <a:srgbClr val="FBF6EF"/>
                    </a:solidFill>
                  </a:tcPr>
                </a:tc>
              </a:tr>
              <a:tr h="609600">
                <a:tc>
                  <a:txBody>
                    <a:bodyPr/>
                    <a:lstStyle/>
                    <a:p>
                      <a:pPr indent="0" marL="0">
                        <a:buNone/>
                      </a:pPr>
                      <a:r>
                        <a:rPr lang="en-US" sz="1500" dirty="0">
                          <a:solidFill>
                            <a:srgbClr val="1F2430"/>
                          </a:solidFill>
                          <a:latin typeface="Arial" pitchFamily="34" charset="0"/>
                          <a:ea typeface="Arial" pitchFamily="34" charset="-122"/>
                          <a:cs typeface="Arial" pitchFamily="34" charset="-120"/>
                        </a:rPr>
                        <a:t>Mobile ↔ server</a:t>
                      </a:r>
                      <a:endParaRPr lang="en-US" sz="1500" dirty="0">
                        <a:latin typeface="Arial" charset="0"/>
                        <a:ea typeface="Arial" charset="0"/>
                        <a:cs typeface="Arial" charset="0"/>
                      </a:endParaRPr>
                    </a:p>
                  </a:txBody>
                  <a:tcPr marL="109728" marR="109728" marT="109728" marB="109728" anchor="ctr">
                    <a:lnL w="12700" cap="flat" cmpd="sng" algn="ctr">
                      <a:solidFill>
                        <a:srgbClr val="EADFCE"/>
                      </a:solidFill>
                      <a:prstDash val="solid"/>
                      <a:round/>
                      <a:headEnd type="none" w="med" len="med"/>
                      <a:tailEnd type="none" w="med" len="med"/>
                    </a:lnL>
                    <a:lnR w="12700" cap="flat" cmpd="sng" algn="ctr">
                      <a:solidFill>
                        <a:srgbClr val="EADFCE"/>
                      </a:solidFill>
                      <a:prstDash val="solid"/>
                      <a:round/>
                      <a:headEnd type="none" w="med" len="med"/>
                      <a:tailEnd type="none" w="med" len="med"/>
                    </a:lnR>
                    <a:lnT w="12700" cap="flat" cmpd="sng" algn="ctr">
                      <a:solidFill>
                        <a:srgbClr val="EADFCE"/>
                      </a:solidFill>
                      <a:prstDash val="solid"/>
                      <a:round/>
                      <a:headEnd type="none" w="med" len="med"/>
                      <a:tailEnd type="none" w="med" len="med"/>
                    </a:lnT>
                    <a:lnB w="12700" cap="flat" cmpd="sng" algn="ctr">
                      <a:solidFill>
                        <a:srgbClr val="EADFCE"/>
                      </a:solidFill>
                      <a:prstDash val="solid"/>
                      <a:round/>
                      <a:headEnd type="none" w="med" len="med"/>
                      <a:tailEnd type="none" w="med" len="med"/>
                    </a:lnB>
                    <a:solidFill>
                      <a:srgbClr val="FBF6EF"/>
                    </a:solidFill>
                  </a:tcPr>
                </a:tc>
                <a:tc>
                  <a:txBody>
                    <a:bodyPr/>
                    <a:lstStyle/>
                    <a:p>
                      <a:pPr indent="0" marL="0">
                        <a:buNone/>
                      </a:pPr>
                      <a:r>
                        <a:rPr lang="en-US" sz="1500" dirty="0">
                          <a:solidFill>
                            <a:srgbClr val="1F2430"/>
                          </a:solidFill>
                          <a:latin typeface="Arial" pitchFamily="34" charset="0"/>
                          <a:ea typeface="Arial" pitchFamily="34" charset="-122"/>
                          <a:cs typeface="Arial" pitchFamily="34" charset="-120"/>
                        </a:rPr>
                        <a:t>124 lời gọi API, khớp 97/126 route của server</a:t>
                      </a:r>
                      <a:endParaRPr lang="en-US" sz="1500" dirty="0">
                        <a:latin typeface="Arial" charset="0"/>
                        <a:ea typeface="Arial" charset="0"/>
                        <a:cs typeface="Arial" charset="0"/>
                      </a:endParaRPr>
                    </a:p>
                  </a:txBody>
                  <a:tcPr marL="109728" marR="109728" marT="109728" marB="109728" anchor="ctr">
                    <a:lnL w="12700" cap="flat" cmpd="sng" algn="ctr">
                      <a:solidFill>
                        <a:srgbClr val="EADFCE"/>
                      </a:solidFill>
                      <a:prstDash val="solid"/>
                      <a:round/>
                      <a:headEnd type="none" w="med" len="med"/>
                      <a:tailEnd type="none" w="med" len="med"/>
                    </a:lnL>
                    <a:lnR w="12700" cap="flat" cmpd="sng" algn="ctr">
                      <a:solidFill>
                        <a:srgbClr val="EADFCE"/>
                      </a:solidFill>
                      <a:prstDash val="solid"/>
                      <a:round/>
                      <a:headEnd type="none" w="med" len="med"/>
                      <a:tailEnd type="none" w="med" len="med"/>
                    </a:lnR>
                    <a:lnT w="12700" cap="flat" cmpd="sng" algn="ctr">
                      <a:solidFill>
                        <a:srgbClr val="EADFCE"/>
                      </a:solidFill>
                      <a:prstDash val="solid"/>
                      <a:round/>
                      <a:headEnd type="none" w="med" len="med"/>
                      <a:tailEnd type="none" w="med" len="med"/>
                    </a:lnT>
                    <a:lnB w="12700" cap="flat" cmpd="sng" algn="ctr">
                      <a:solidFill>
                        <a:srgbClr val="EADFCE"/>
                      </a:solidFill>
                      <a:prstDash val="solid"/>
                      <a:round/>
                      <a:headEnd type="none" w="med" len="med"/>
                      <a:tailEnd type="none" w="med" len="med"/>
                    </a:lnB>
                    <a:solidFill>
                      <a:srgbClr val="FBF6EF"/>
                    </a:solidFill>
                  </a:tcPr>
                </a:tc>
              </a:tr>
              <a:tr h="609600">
                <a:tc>
                  <a:txBody>
                    <a:bodyPr/>
                    <a:lstStyle/>
                    <a:p>
                      <a:pPr indent="0" marL="0">
                        <a:buNone/>
                      </a:pPr>
                      <a:r>
                        <a:rPr lang="en-US" sz="1500" dirty="0">
                          <a:solidFill>
                            <a:srgbClr val="1F2430"/>
                          </a:solidFill>
                          <a:latin typeface="Arial" pitchFamily="34" charset="0"/>
                          <a:ea typeface="Arial" pitchFamily="34" charset="-122"/>
                          <a:cs typeface="Arial" pitchFamily="34" charset="-120"/>
                        </a:rPr>
                        <a:t>Giao diện mobile (khổ 390px)</a:t>
                      </a:r>
                      <a:endParaRPr lang="en-US" sz="1500" dirty="0">
                        <a:latin typeface="Arial" charset="0"/>
                        <a:ea typeface="Arial" charset="0"/>
                        <a:cs typeface="Arial" charset="0"/>
                      </a:endParaRPr>
                    </a:p>
                  </a:txBody>
                  <a:tcPr marL="109728" marR="109728" marT="109728" marB="109728" anchor="ctr">
                    <a:lnL w="12700" cap="flat" cmpd="sng" algn="ctr">
                      <a:solidFill>
                        <a:srgbClr val="EADFCE"/>
                      </a:solidFill>
                      <a:prstDash val="solid"/>
                      <a:round/>
                      <a:headEnd type="none" w="med" len="med"/>
                      <a:tailEnd type="none" w="med" len="med"/>
                    </a:lnL>
                    <a:lnR w="12700" cap="flat" cmpd="sng" algn="ctr">
                      <a:solidFill>
                        <a:srgbClr val="EADFCE"/>
                      </a:solidFill>
                      <a:prstDash val="solid"/>
                      <a:round/>
                      <a:headEnd type="none" w="med" len="med"/>
                      <a:tailEnd type="none" w="med" len="med"/>
                    </a:lnR>
                    <a:lnT w="12700" cap="flat" cmpd="sng" algn="ctr">
                      <a:solidFill>
                        <a:srgbClr val="EADFCE"/>
                      </a:solidFill>
                      <a:prstDash val="solid"/>
                      <a:round/>
                      <a:headEnd type="none" w="med" len="med"/>
                      <a:tailEnd type="none" w="med" len="med"/>
                    </a:lnT>
                    <a:lnB w="12700" cap="flat" cmpd="sng" algn="ctr">
                      <a:solidFill>
                        <a:srgbClr val="EADFCE"/>
                      </a:solidFill>
                      <a:prstDash val="solid"/>
                      <a:round/>
                      <a:headEnd type="none" w="med" len="med"/>
                      <a:tailEnd type="none" w="med" len="med"/>
                    </a:lnB>
                    <a:solidFill>
                      <a:srgbClr val="FBF6EF"/>
                    </a:solidFill>
                  </a:tcPr>
                </a:tc>
                <a:tc>
                  <a:txBody>
                    <a:bodyPr/>
                    <a:lstStyle/>
                    <a:p>
                      <a:pPr indent="0" marL="0">
                        <a:buNone/>
                      </a:pPr>
                      <a:r>
                        <a:rPr lang="en-US" sz="1500" dirty="0">
                          <a:solidFill>
                            <a:srgbClr val="1F2430"/>
                          </a:solidFill>
                          <a:latin typeface="Arial" pitchFamily="34" charset="0"/>
                          <a:ea typeface="Arial" pitchFamily="34" charset="-122"/>
                          <a:cs typeface="Arial" pitchFamily="34" charset="-120"/>
                        </a:rPr>
                        <a:t>31 màn khách + 12 màn đã đăng nhập: 0 tràn ngang, 0 lỗi JS</a:t>
                      </a:r>
                      <a:endParaRPr lang="en-US" sz="1500" dirty="0">
                        <a:latin typeface="Arial" charset="0"/>
                        <a:ea typeface="Arial" charset="0"/>
                        <a:cs typeface="Arial" charset="0"/>
                      </a:endParaRPr>
                    </a:p>
                  </a:txBody>
                  <a:tcPr marL="109728" marR="109728" marT="109728" marB="109728" anchor="ctr">
                    <a:lnL w="12700" cap="flat" cmpd="sng" algn="ctr">
                      <a:solidFill>
                        <a:srgbClr val="EADFCE"/>
                      </a:solidFill>
                      <a:prstDash val="solid"/>
                      <a:round/>
                      <a:headEnd type="none" w="med" len="med"/>
                      <a:tailEnd type="none" w="med" len="med"/>
                    </a:lnL>
                    <a:lnR w="12700" cap="flat" cmpd="sng" algn="ctr">
                      <a:solidFill>
                        <a:srgbClr val="EADFCE"/>
                      </a:solidFill>
                      <a:prstDash val="solid"/>
                      <a:round/>
                      <a:headEnd type="none" w="med" len="med"/>
                      <a:tailEnd type="none" w="med" len="med"/>
                    </a:lnR>
                    <a:lnT w="12700" cap="flat" cmpd="sng" algn="ctr">
                      <a:solidFill>
                        <a:srgbClr val="EADFCE"/>
                      </a:solidFill>
                      <a:prstDash val="solid"/>
                      <a:round/>
                      <a:headEnd type="none" w="med" len="med"/>
                      <a:tailEnd type="none" w="med" len="med"/>
                    </a:lnT>
                    <a:lnB w="12700" cap="flat" cmpd="sng" algn="ctr">
                      <a:solidFill>
                        <a:srgbClr val="EADFCE"/>
                      </a:solidFill>
                      <a:prstDash val="solid"/>
                      <a:round/>
                      <a:headEnd type="none" w="med" len="med"/>
                      <a:tailEnd type="none" w="med" len="med"/>
                    </a:lnB>
                    <a:solidFill>
                      <a:srgbClr val="FBF6EF"/>
                    </a:solidFill>
                  </a:tcPr>
                </a:tc>
              </a:tr>
              <a:tr h="609600">
                <a:tc>
                  <a:txBody>
                    <a:bodyPr/>
                    <a:lstStyle/>
                    <a:p>
                      <a:pPr indent="0" marL="0">
                        <a:buNone/>
                      </a:pPr>
                      <a:r>
                        <a:rPr lang="en-US" sz="1500" dirty="0">
                          <a:solidFill>
                            <a:srgbClr val="1F2430"/>
                          </a:solidFill>
                          <a:latin typeface="Arial" pitchFamily="34" charset="0"/>
                          <a:ea typeface="Arial" pitchFamily="34" charset="-122"/>
                          <a:cs typeface="Arial" pitchFamily="34" charset="-120"/>
                        </a:rPr>
                        <a:t>Web dùng chung API (Lighthouse)</a:t>
                      </a:r>
                      <a:endParaRPr lang="en-US" sz="1500" dirty="0">
                        <a:latin typeface="Arial" charset="0"/>
                        <a:ea typeface="Arial" charset="0"/>
                        <a:cs typeface="Arial" charset="0"/>
                      </a:endParaRPr>
                    </a:p>
                  </a:txBody>
                  <a:tcPr marL="109728" marR="109728" marT="109728" marB="109728" anchor="ctr">
                    <a:lnL w="12700" cap="flat" cmpd="sng" algn="ctr">
                      <a:solidFill>
                        <a:srgbClr val="EADFCE"/>
                      </a:solidFill>
                      <a:prstDash val="solid"/>
                      <a:round/>
                      <a:headEnd type="none" w="med" len="med"/>
                      <a:tailEnd type="none" w="med" len="med"/>
                    </a:lnL>
                    <a:lnR w="12700" cap="flat" cmpd="sng" algn="ctr">
                      <a:solidFill>
                        <a:srgbClr val="EADFCE"/>
                      </a:solidFill>
                      <a:prstDash val="solid"/>
                      <a:round/>
                      <a:headEnd type="none" w="med" len="med"/>
                      <a:tailEnd type="none" w="med" len="med"/>
                    </a:lnR>
                    <a:lnT w="12700" cap="flat" cmpd="sng" algn="ctr">
                      <a:solidFill>
                        <a:srgbClr val="EADFCE"/>
                      </a:solidFill>
                      <a:prstDash val="solid"/>
                      <a:round/>
                      <a:headEnd type="none" w="med" len="med"/>
                      <a:tailEnd type="none" w="med" len="med"/>
                    </a:lnT>
                    <a:lnB w="12700" cap="flat" cmpd="sng" algn="ctr">
                      <a:solidFill>
                        <a:srgbClr val="EADFCE"/>
                      </a:solidFill>
                      <a:prstDash val="solid"/>
                      <a:round/>
                      <a:headEnd type="none" w="med" len="med"/>
                      <a:tailEnd type="none" w="med" len="med"/>
                    </a:lnB>
                    <a:solidFill>
                      <a:srgbClr val="FBF6EF"/>
                    </a:solidFill>
                  </a:tcPr>
                </a:tc>
                <a:tc>
                  <a:txBody>
                    <a:bodyPr/>
                    <a:lstStyle/>
                    <a:p>
                      <a:pPr indent="0" marL="0">
                        <a:buNone/>
                      </a:pPr>
                      <a:r>
                        <a:rPr lang="en-US" sz="1500" dirty="0">
                          <a:solidFill>
                            <a:srgbClr val="1F2430"/>
                          </a:solidFill>
                          <a:latin typeface="Arial" pitchFamily="34" charset="0"/>
                          <a:ea typeface="Arial" pitchFamily="34" charset="-122"/>
                          <a:cs typeface="Arial" pitchFamily="34" charset="-120"/>
                        </a:rPr>
                        <a:t>Hiệu năng 91 · Truy cập 100 · Thực hành tốt 100 · SEO 100</a:t>
                      </a:r>
                      <a:endParaRPr lang="en-US" sz="1500" dirty="0">
                        <a:latin typeface="Arial" charset="0"/>
                        <a:ea typeface="Arial" charset="0"/>
                        <a:cs typeface="Arial" charset="0"/>
                      </a:endParaRPr>
                    </a:p>
                  </a:txBody>
                  <a:tcPr marL="109728" marR="109728" marT="109728" marB="109728" anchor="ctr">
                    <a:lnL w="12700" cap="flat" cmpd="sng" algn="ctr">
                      <a:solidFill>
                        <a:srgbClr val="EADFCE"/>
                      </a:solidFill>
                      <a:prstDash val="solid"/>
                      <a:round/>
                      <a:headEnd type="none" w="med" len="med"/>
                      <a:tailEnd type="none" w="med" len="med"/>
                    </a:lnL>
                    <a:lnR w="12700" cap="flat" cmpd="sng" algn="ctr">
                      <a:solidFill>
                        <a:srgbClr val="EADFCE"/>
                      </a:solidFill>
                      <a:prstDash val="solid"/>
                      <a:round/>
                      <a:headEnd type="none" w="med" len="med"/>
                      <a:tailEnd type="none" w="med" len="med"/>
                    </a:lnR>
                    <a:lnT w="12700" cap="flat" cmpd="sng" algn="ctr">
                      <a:solidFill>
                        <a:srgbClr val="EADFCE"/>
                      </a:solidFill>
                      <a:prstDash val="solid"/>
                      <a:round/>
                      <a:headEnd type="none" w="med" len="med"/>
                      <a:tailEnd type="none" w="med" len="med"/>
                    </a:lnT>
                    <a:lnB w="12700" cap="flat" cmpd="sng" algn="ctr">
                      <a:solidFill>
                        <a:srgbClr val="EADFCE"/>
                      </a:solidFill>
                      <a:prstDash val="solid"/>
                      <a:round/>
                      <a:headEnd type="none" w="med" len="med"/>
                      <a:tailEnd type="none" w="med" len="med"/>
                    </a:lnB>
                    <a:solidFill>
                      <a:srgbClr val="FBF6EF"/>
                    </a:solidFill>
                  </a:tcPr>
                </a:tc>
              </a:tr>
            </a:tbl>
          </a:graphicData>
        </a:graphic>
      </p:graphicFrame>
      <p:sp>
        <p:nvSpPr>
          <p:cNvPr id="5" name="Text 2"/>
          <p:cNvSpPr/>
          <p:nvPr/>
        </p:nvSpPr>
        <p:spPr>
          <a:xfrm>
            <a:off x="812800" y="6223000"/>
            <a:ext cx="10566400" cy="254000"/>
          </a:xfrm>
          <a:prstGeom prst="rect">
            <a:avLst/>
          </a:prstGeom>
          <a:noFill/>
          <a:ln/>
        </p:spPr>
        <p:txBody>
          <a:bodyPr wrap="square" lIns="0" tIns="0" rIns="0" bIns="0" rtlCol="0" anchor="t"/>
          <a:lstStyle/>
          <a:p>
            <a:pPr algn="l" indent="0" marL="0">
              <a:lnSpc>
                <a:spcPct val="115000"/>
              </a:lnSpc>
              <a:buNone/>
            </a:pPr>
            <a:r>
              <a:rPr lang="en-US" sz="1200" dirty="0">
                <a:solidFill>
                  <a:srgbClr val="5B6271"/>
                </a:solidFill>
                <a:latin typeface="Arial" pitchFamily="34" charset="0"/>
                <a:ea typeface="Arial" pitchFamily="34" charset="-122"/>
                <a:cs typeface="Arial" pitchFamily="34" charset="-120"/>
              </a:rPr>
              <a:t>Đo tháng 10/2026 · Lighthouse 12.8 cấu hình điện thoại trên trang chủ production</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6EF"/>
        </a:solidFill>
      </p:bgPr>
    </p:bg>
    <p:spTree>
      <p:nvGrpSpPr>
        <p:cNvPr id="1" name=""/>
        <p:cNvGrpSpPr/>
        <p:nvPr/>
      </p:nvGrpSpPr>
      <p:grpSpPr>
        <a:xfrm>
          <a:off x="0" y="0"/>
          <a:ext cx="0" cy="0"/>
          <a:chOff x="0" y="0"/>
          <a:chExt cx="0" cy="0"/>
        </a:xfrm>
      </p:grpSpPr>
      <p:sp>
        <p:nvSpPr>
          <p:cNvPr id="2" name="Text 0"/>
          <p:cNvSpPr/>
          <p:nvPr/>
        </p:nvSpPr>
        <p:spPr>
          <a:xfrm>
            <a:off x="812800" y="812800"/>
            <a:ext cx="10566400" cy="254000"/>
          </a:xfrm>
          <a:prstGeom prst="rect">
            <a:avLst/>
          </a:prstGeom>
          <a:noFill/>
          <a:ln/>
        </p:spPr>
        <p:txBody>
          <a:bodyPr wrap="square" lIns="0" tIns="0" rIns="0" bIns="0" rtlCol="0" anchor="t"/>
          <a:lstStyle/>
          <a:p>
            <a:pPr algn="l" indent="0" marL="0">
              <a:lnSpc>
                <a:spcPct val="115000"/>
              </a:lnSpc>
              <a:buNone/>
            </a:pPr>
            <a:r>
              <a:rPr lang="en-US" sz="1200" b="1" spc="300" kern="0" dirty="0">
                <a:solidFill>
                  <a:srgbClr val="BD2B1F"/>
                </a:solidFill>
                <a:latin typeface="Arial" pitchFamily="34" charset="0"/>
                <a:ea typeface="Arial" pitchFamily="34" charset="-122"/>
                <a:cs typeface="Arial" pitchFamily="34" charset="-120"/>
              </a:rPr>
              <a:t>MÔ HÌNH</a:t>
            </a:r>
            <a:endParaRPr lang="en-US" sz="1200" dirty="0"/>
          </a:p>
        </p:txBody>
      </p:sp>
      <p:sp>
        <p:nvSpPr>
          <p:cNvPr id="3" name="Text 1"/>
          <p:cNvSpPr/>
          <p:nvPr/>
        </p:nvSpPr>
        <p:spPr>
          <a:xfrm>
            <a:off x="812800" y="1117600"/>
            <a:ext cx="10566400" cy="635000"/>
          </a:xfrm>
          <a:prstGeom prst="rect">
            <a:avLst/>
          </a:prstGeom>
          <a:noFill/>
          <a:ln/>
        </p:spPr>
        <p:txBody>
          <a:bodyPr wrap="square" lIns="0" tIns="0" rIns="0" bIns="0" rtlCol="0" anchor="t"/>
          <a:lstStyle/>
          <a:p>
            <a:pPr algn="l" indent="0" marL="0">
              <a:lnSpc>
                <a:spcPct val="105000"/>
              </a:lnSpc>
              <a:buNone/>
            </a:pPr>
            <a:r>
              <a:rPr lang="en-US" sz="3600" b="1" dirty="0">
                <a:solidFill>
                  <a:srgbClr val="1F2430"/>
                </a:solidFill>
                <a:latin typeface="Arial" pitchFamily="34" charset="0"/>
                <a:ea typeface="Arial" pitchFamily="34" charset="-122"/>
                <a:cs typeface="Arial" pitchFamily="34" charset="-120"/>
              </a:rPr>
              <a:t>Học miễn phí, trả phí cho tiện ích AI</a:t>
            </a:r>
            <a:endParaRPr lang="en-US" sz="3600" dirty="0"/>
          </a:p>
        </p:txBody>
      </p:sp>
      <p:sp>
        <p:nvSpPr>
          <p:cNvPr id="4" name="Text 2"/>
          <p:cNvSpPr/>
          <p:nvPr/>
        </p:nvSpPr>
        <p:spPr>
          <a:xfrm>
            <a:off x="812800" y="2159000"/>
            <a:ext cx="5715000" cy="762000"/>
          </a:xfrm>
          <a:prstGeom prst="rect">
            <a:avLst/>
          </a:prstGeom>
          <a:noFill/>
          <a:ln/>
        </p:spPr>
        <p:txBody>
          <a:bodyPr wrap="square" lIns="0" tIns="0" rIns="0" bIns="0" rtlCol="0" anchor="t"/>
          <a:lstStyle/>
          <a:p>
            <a:pPr indent="0" marL="0">
              <a:lnSpc>
                <a:spcPct val="125000"/>
              </a:lnSpc>
              <a:buNone/>
            </a:pPr>
            <a:r>
              <a:rPr lang="en-US" sz="1500" b="1" dirty="0">
                <a:solidFill>
                  <a:srgbClr val="1F2430"/>
                </a:solidFill>
                <a:latin typeface="Arial" pitchFamily="34" charset="0"/>
                <a:ea typeface="Arial" pitchFamily="34" charset="-122"/>
                <a:cs typeface="Arial" pitchFamily="34" charset="-120"/>
              </a:rPr>
              <a:t>Không khoá bài học nào</a:t>
            </a:r>
            <a:pPr indent="0" marL="0">
              <a:lnSpc>
                <a:spcPct val="125000"/>
              </a:lnSpc>
              <a:buNone/>
            </a:pPr>
            <a:r>
              <a:rPr lang="en-US" sz="1500" dirty="0">
                <a:solidFill>
                  <a:srgbClr val="1F2430"/>
                </a:solidFill>
                <a:latin typeface="Arial" pitchFamily="34" charset="0"/>
                <a:ea typeface="Arial" pitchFamily="34" charset="-122"/>
                <a:cs typeface="Arial" pitchFamily="34" charset="-120"/>
              </a:rPr>
              <a:t> — 9 cấp, từ điển, ngữ pháp, đề thi thử đều miễn phí.</a:t>
            </a:r>
            <a:endParaRPr lang="en-US" sz="1500" dirty="0"/>
          </a:p>
        </p:txBody>
      </p:sp>
      <p:sp>
        <p:nvSpPr>
          <p:cNvPr id="5" name="Text 3"/>
          <p:cNvSpPr/>
          <p:nvPr/>
        </p:nvSpPr>
        <p:spPr>
          <a:xfrm>
            <a:off x="812800" y="3048000"/>
            <a:ext cx="5715000" cy="762000"/>
          </a:xfrm>
          <a:prstGeom prst="rect">
            <a:avLst/>
          </a:prstGeom>
          <a:noFill/>
          <a:ln/>
        </p:spPr>
        <p:txBody>
          <a:bodyPr wrap="square" lIns="0" tIns="0" rIns="0" bIns="0" rtlCol="0" anchor="t"/>
          <a:lstStyle/>
          <a:p>
            <a:pPr indent="0" marL="0">
              <a:lnSpc>
                <a:spcPct val="125000"/>
              </a:lnSpc>
              <a:buNone/>
            </a:pPr>
            <a:r>
              <a:rPr lang="en-US" sz="1500" b="1" dirty="0">
                <a:solidFill>
                  <a:srgbClr val="1F2430"/>
                </a:solidFill>
                <a:latin typeface="Arial" pitchFamily="34" charset="0"/>
                <a:ea typeface="Arial" pitchFamily="34" charset="-122"/>
                <a:cs typeface="Arial" pitchFamily="34" charset="-120"/>
              </a:rPr>
              <a:t>Premium mở thêm AI</a:t>
            </a:r>
            <a:pPr indent="0" marL="0">
              <a:lnSpc>
                <a:spcPct val="125000"/>
              </a:lnSpc>
              <a:buNone/>
            </a:pPr>
            <a:r>
              <a:rPr lang="en-US" sz="1500" dirty="0">
                <a:solidFill>
                  <a:srgbClr val="1F2430"/>
                </a:solidFill>
                <a:latin typeface="Arial" pitchFamily="34" charset="0"/>
                <a:ea typeface="Arial" pitchFamily="34" charset="-122"/>
                <a:cs typeface="Arial" pitchFamily="34" charset="-120"/>
              </a:rPr>
              <a:t> — Hanni Coach, quét ảnh 100/ngày, luyện nói không giới hạn.</a:t>
            </a:r>
            <a:endParaRPr lang="en-US" sz="1500" dirty="0"/>
          </a:p>
        </p:txBody>
      </p:sp>
      <p:sp>
        <p:nvSpPr>
          <p:cNvPr id="6" name="Text 4"/>
          <p:cNvSpPr/>
          <p:nvPr/>
        </p:nvSpPr>
        <p:spPr>
          <a:xfrm>
            <a:off x="812800" y="3937000"/>
            <a:ext cx="5715000" cy="762000"/>
          </a:xfrm>
          <a:prstGeom prst="rect">
            <a:avLst/>
          </a:prstGeom>
          <a:noFill/>
          <a:ln/>
        </p:spPr>
        <p:txBody>
          <a:bodyPr wrap="square" lIns="0" tIns="0" rIns="0" bIns="0" rtlCol="0" anchor="t"/>
          <a:lstStyle/>
          <a:p>
            <a:pPr indent="0" marL="0">
              <a:lnSpc>
                <a:spcPct val="125000"/>
              </a:lnSpc>
              <a:buNone/>
            </a:pPr>
            <a:r>
              <a:rPr lang="en-US" sz="1500" b="1" dirty="0">
                <a:solidFill>
                  <a:srgbClr val="1F2430"/>
                </a:solidFill>
                <a:latin typeface="Arial" pitchFamily="34" charset="0"/>
                <a:ea typeface="Arial" pitchFamily="34" charset="-122"/>
                <a:cs typeface="Arial" pitchFamily="34" charset="-120"/>
              </a:rPr>
              <a:t>Thanh toán mã QR ngân hàng</a:t>
            </a:r>
            <a:pPr indent="0" marL="0">
              <a:lnSpc>
                <a:spcPct val="125000"/>
              </a:lnSpc>
              <a:buNone/>
            </a:pPr>
            <a:r>
              <a:rPr lang="en-US" sz="1500" dirty="0">
                <a:solidFill>
                  <a:srgbClr val="1F2430"/>
                </a:solidFill>
                <a:latin typeface="Arial" pitchFamily="34" charset="0"/>
                <a:ea typeface="Arial" pitchFamily="34" charset="-122"/>
                <a:cs typeface="Arial" pitchFamily="34" charset="-120"/>
              </a:rPr>
              <a:t> ngay trong app, trả một lần, không tự gia hạn.</a:t>
            </a:r>
            <a:endParaRPr lang="en-US" sz="1500" dirty="0"/>
          </a:p>
        </p:txBody>
      </p:sp>
      <p:sp>
        <p:nvSpPr>
          <p:cNvPr id="7" name="Text 5"/>
          <p:cNvSpPr/>
          <p:nvPr/>
        </p:nvSpPr>
        <p:spPr>
          <a:xfrm>
            <a:off x="812800" y="4826000"/>
            <a:ext cx="5715000" cy="762000"/>
          </a:xfrm>
          <a:prstGeom prst="rect">
            <a:avLst/>
          </a:prstGeom>
          <a:noFill/>
          <a:ln/>
        </p:spPr>
        <p:txBody>
          <a:bodyPr wrap="square" lIns="0" tIns="0" rIns="0" bIns="0" rtlCol="0" anchor="t"/>
          <a:lstStyle/>
          <a:p>
            <a:pPr indent="0" marL="0">
              <a:lnSpc>
                <a:spcPct val="125000"/>
              </a:lnSpc>
              <a:buNone/>
            </a:pPr>
            <a:r>
              <a:rPr lang="en-US" sz="1500" b="1" dirty="0">
                <a:solidFill>
                  <a:srgbClr val="1F2430"/>
                </a:solidFill>
                <a:latin typeface="Arial" pitchFamily="34" charset="0"/>
                <a:ea typeface="Arial" pitchFamily="34" charset="-122"/>
                <a:cs typeface="Arial" pitchFamily="34" charset="-120"/>
              </a:rPr>
              <a:t>Lớp học miễn phí</a:t>
            </a:r>
            <a:pPr indent="0" marL="0">
              <a:lnSpc>
                <a:spcPct val="125000"/>
              </a:lnSpc>
              <a:buNone/>
            </a:pPr>
            <a:r>
              <a:rPr lang="en-US" sz="1500" dirty="0">
                <a:solidFill>
                  <a:srgbClr val="1F2430"/>
                </a:solidFill>
                <a:latin typeface="Arial" pitchFamily="34" charset="0"/>
                <a:ea typeface="Arial" pitchFamily="34" charset="-122"/>
                <a:cs typeface="Arial" pitchFamily="34" charset="-120"/>
              </a:rPr>
              <a:t> cho giáo viên — một giáo viên kéo theo cả lớp.</a:t>
            </a:r>
            <a:endParaRPr lang="en-US" sz="15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442200" y="2159000"/>
          <a:ext cx="3937000" cy="914400"/>
        </p:xfrm>
        <a:graphic>
          <a:graphicData uri="http://schemas.openxmlformats.org/drawingml/2006/table">
            <a:tbl>
              <a:tblPr/>
              <a:tblGrid>
                <a:gridCol w="2159000"/>
                <a:gridCol w="1778000"/>
              </a:tblGrid>
              <a:tr h="533400">
                <a:tc>
                  <a:txBody>
                    <a:bodyPr/>
                    <a:lstStyle/>
                    <a:p>
                      <a:pPr indent="0" marL="0">
                        <a:buNone/>
                      </a:pPr>
                      <a:r>
                        <a:rPr lang="en-US" sz="1500" b="1" dirty="0">
                          <a:solidFill>
                            <a:srgbClr val="FBF6EF"/>
                          </a:solidFill>
                          <a:latin typeface="Arial" pitchFamily="34" charset="0"/>
                          <a:ea typeface="Arial" pitchFamily="34" charset="-122"/>
                          <a:cs typeface="Arial" pitchFamily="34" charset="-120"/>
                        </a:rPr>
                        <a:t>Gói Premium</a:t>
                      </a:r>
                      <a:endParaRPr lang="en-US" sz="1500" dirty="0">
                        <a:latin typeface="Arial" charset="0"/>
                        <a:ea typeface="Arial" charset="0"/>
                        <a:cs typeface="Arial" charset="0"/>
                      </a:endParaRPr>
                    </a:p>
                  </a:txBody>
                  <a:tcPr marL="109728" marR="109728" marT="109728" marB="109728" anchor="ctr">
                    <a:lnL w="12700" cap="flat" cmpd="sng" algn="ctr">
                      <a:solidFill>
                        <a:srgbClr val="EADFCE"/>
                      </a:solidFill>
                      <a:prstDash val="solid"/>
                      <a:round/>
                      <a:headEnd type="none" w="med" len="med"/>
                      <a:tailEnd type="none" w="med" len="med"/>
                    </a:lnL>
                    <a:lnR w="12700" cap="flat" cmpd="sng" algn="ctr">
                      <a:solidFill>
                        <a:srgbClr val="EADFCE"/>
                      </a:solidFill>
                      <a:prstDash val="solid"/>
                      <a:round/>
                      <a:headEnd type="none" w="med" len="med"/>
                      <a:tailEnd type="none" w="med" len="med"/>
                    </a:lnR>
                    <a:lnT w="12700" cap="flat" cmpd="sng" algn="ctr">
                      <a:solidFill>
                        <a:srgbClr val="EADFCE"/>
                      </a:solidFill>
                      <a:prstDash val="solid"/>
                      <a:round/>
                      <a:headEnd type="none" w="med" len="med"/>
                      <a:tailEnd type="none" w="med" len="med"/>
                    </a:lnT>
                    <a:lnB w="12700" cap="flat" cmpd="sng" algn="ctr">
                      <a:solidFill>
                        <a:srgbClr val="EADFCE"/>
                      </a:solidFill>
                      <a:prstDash val="solid"/>
                      <a:round/>
                      <a:headEnd type="none" w="med" len="med"/>
                      <a:tailEnd type="none" w="med" len="med"/>
                    </a:lnB>
                    <a:solidFill>
                      <a:srgbClr val="BD2B1F"/>
                    </a:solidFill>
                  </a:tcPr>
                </a:tc>
                <a:tc>
                  <a:txBody>
                    <a:bodyPr/>
                    <a:lstStyle/>
                    <a:p>
                      <a:pPr algn="r" indent="0" marL="0">
                        <a:buNone/>
                      </a:pPr>
                      <a:r>
                        <a:rPr lang="en-US" sz="1500" b="1" dirty="0">
                          <a:solidFill>
                            <a:srgbClr val="FBF6EF"/>
                          </a:solidFill>
                          <a:latin typeface="Arial" pitchFamily="34" charset="0"/>
                          <a:ea typeface="Arial" pitchFamily="34" charset="-122"/>
                          <a:cs typeface="Arial" pitchFamily="34" charset="-120"/>
                        </a:rPr>
                        <a:t>Giá</a:t>
                      </a:r>
                      <a:endParaRPr lang="en-US" sz="1500" dirty="0">
                        <a:latin typeface="Arial" charset="0"/>
                        <a:ea typeface="Arial" charset="0"/>
                        <a:cs typeface="Arial" charset="0"/>
                      </a:endParaRPr>
                    </a:p>
                  </a:txBody>
                  <a:tcPr marL="109728" marR="109728" marT="109728" marB="109728" anchor="ctr">
                    <a:lnL w="12700" cap="flat" cmpd="sng" algn="ctr">
                      <a:solidFill>
                        <a:srgbClr val="EADFCE"/>
                      </a:solidFill>
                      <a:prstDash val="solid"/>
                      <a:round/>
                      <a:headEnd type="none" w="med" len="med"/>
                      <a:tailEnd type="none" w="med" len="med"/>
                    </a:lnL>
                    <a:lnR w="12700" cap="flat" cmpd="sng" algn="ctr">
                      <a:solidFill>
                        <a:srgbClr val="EADFCE"/>
                      </a:solidFill>
                      <a:prstDash val="solid"/>
                      <a:round/>
                      <a:headEnd type="none" w="med" len="med"/>
                      <a:tailEnd type="none" w="med" len="med"/>
                    </a:lnR>
                    <a:lnT w="12700" cap="flat" cmpd="sng" algn="ctr">
                      <a:solidFill>
                        <a:srgbClr val="EADFCE"/>
                      </a:solidFill>
                      <a:prstDash val="solid"/>
                      <a:round/>
                      <a:headEnd type="none" w="med" len="med"/>
                      <a:tailEnd type="none" w="med" len="med"/>
                    </a:lnT>
                    <a:lnB w="12700" cap="flat" cmpd="sng" algn="ctr">
                      <a:solidFill>
                        <a:srgbClr val="EADFCE"/>
                      </a:solidFill>
                      <a:prstDash val="solid"/>
                      <a:round/>
                      <a:headEnd type="none" w="med" len="med"/>
                      <a:tailEnd type="none" w="med" len="med"/>
                    </a:lnB>
                    <a:solidFill>
                      <a:srgbClr val="BD2B1F"/>
                    </a:solidFill>
                  </a:tcPr>
                </a:tc>
              </a:tr>
              <a:tr h="533400">
                <a:tc>
                  <a:txBody>
                    <a:bodyPr/>
                    <a:lstStyle/>
                    <a:p>
                      <a:pPr indent="0" marL="0">
                        <a:buNone/>
                      </a:pPr>
                      <a:r>
                        <a:rPr lang="en-US" sz="1500" dirty="0">
                          <a:solidFill>
                            <a:srgbClr val="1F2430"/>
                          </a:solidFill>
                          <a:latin typeface="Arial" pitchFamily="34" charset="0"/>
                          <a:ea typeface="Arial" pitchFamily="34" charset="-122"/>
                          <a:cs typeface="Arial" pitchFamily="34" charset="-120"/>
                        </a:rPr>
                        <a:t>1 tháng</a:t>
                      </a:r>
                      <a:endParaRPr lang="en-US" sz="1500" dirty="0">
                        <a:latin typeface="Arial" charset="0"/>
                        <a:ea typeface="Arial" charset="0"/>
                        <a:cs typeface="Arial" charset="0"/>
                      </a:endParaRPr>
                    </a:p>
                  </a:txBody>
                  <a:tcPr marL="109728" marR="109728" marT="109728" marB="109728" anchor="ctr">
                    <a:lnL w="12700" cap="flat" cmpd="sng" algn="ctr">
                      <a:solidFill>
                        <a:srgbClr val="EADFCE"/>
                      </a:solidFill>
                      <a:prstDash val="solid"/>
                      <a:round/>
                      <a:headEnd type="none" w="med" len="med"/>
                      <a:tailEnd type="none" w="med" len="med"/>
                    </a:lnL>
                    <a:lnR w="12700" cap="flat" cmpd="sng" algn="ctr">
                      <a:solidFill>
                        <a:srgbClr val="EADFCE"/>
                      </a:solidFill>
                      <a:prstDash val="solid"/>
                      <a:round/>
                      <a:headEnd type="none" w="med" len="med"/>
                      <a:tailEnd type="none" w="med" len="med"/>
                    </a:lnR>
                    <a:lnT w="12700" cap="flat" cmpd="sng" algn="ctr">
                      <a:solidFill>
                        <a:srgbClr val="EADFCE"/>
                      </a:solidFill>
                      <a:prstDash val="solid"/>
                      <a:round/>
                      <a:headEnd type="none" w="med" len="med"/>
                      <a:tailEnd type="none" w="med" len="med"/>
                    </a:lnT>
                    <a:lnB w="12700" cap="flat" cmpd="sng" algn="ctr">
                      <a:solidFill>
                        <a:srgbClr val="EADFCE"/>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F2430"/>
                          </a:solidFill>
                          <a:latin typeface="Arial" pitchFamily="34" charset="0"/>
                          <a:ea typeface="Arial" pitchFamily="34" charset="-122"/>
                          <a:cs typeface="Arial" pitchFamily="34" charset="-120"/>
                        </a:rPr>
                        <a:t>19.000đ</a:t>
                      </a:r>
                      <a:endParaRPr lang="en-US" sz="1500" dirty="0">
                        <a:latin typeface="Arial" charset="0"/>
                        <a:ea typeface="Arial" charset="0"/>
                        <a:cs typeface="Arial" charset="0"/>
                      </a:endParaRPr>
                    </a:p>
                  </a:txBody>
                  <a:tcPr marL="109728" marR="109728" marT="109728" marB="109728" anchor="ctr">
                    <a:lnL w="12700" cap="flat" cmpd="sng" algn="ctr">
                      <a:solidFill>
                        <a:srgbClr val="EADFCE"/>
                      </a:solidFill>
                      <a:prstDash val="solid"/>
                      <a:round/>
                      <a:headEnd type="none" w="med" len="med"/>
                      <a:tailEnd type="none" w="med" len="med"/>
                    </a:lnL>
                    <a:lnR w="12700" cap="flat" cmpd="sng" algn="ctr">
                      <a:solidFill>
                        <a:srgbClr val="EADFCE"/>
                      </a:solidFill>
                      <a:prstDash val="solid"/>
                      <a:round/>
                      <a:headEnd type="none" w="med" len="med"/>
                      <a:tailEnd type="none" w="med" len="med"/>
                    </a:lnR>
                    <a:lnT w="12700" cap="flat" cmpd="sng" algn="ctr">
                      <a:solidFill>
                        <a:srgbClr val="EADFCE"/>
                      </a:solidFill>
                      <a:prstDash val="solid"/>
                      <a:round/>
                      <a:headEnd type="none" w="med" len="med"/>
                      <a:tailEnd type="none" w="med" len="med"/>
                    </a:lnT>
                    <a:lnB w="12700" cap="flat" cmpd="sng" algn="ctr">
                      <a:solidFill>
                        <a:srgbClr val="EADFCE"/>
                      </a:solidFill>
                      <a:prstDash val="solid"/>
                      <a:round/>
                      <a:headEnd type="none" w="med" len="med"/>
                      <a:tailEnd type="none" w="med" len="med"/>
                    </a:lnB>
                    <a:solidFill>
                      <a:srgbClr val="FFFFFF"/>
                    </a:solidFill>
                  </a:tcPr>
                </a:tc>
              </a:tr>
              <a:tr h="533400">
                <a:tc>
                  <a:txBody>
                    <a:bodyPr/>
                    <a:lstStyle/>
                    <a:p>
                      <a:pPr indent="0" marL="0">
                        <a:buNone/>
                      </a:pPr>
                      <a:r>
                        <a:rPr lang="en-US" sz="1500" dirty="0">
                          <a:solidFill>
                            <a:srgbClr val="1F2430"/>
                          </a:solidFill>
                          <a:latin typeface="Arial" pitchFamily="34" charset="0"/>
                          <a:ea typeface="Arial" pitchFamily="34" charset="-122"/>
                          <a:cs typeface="Arial" pitchFamily="34" charset="-120"/>
                        </a:rPr>
                        <a:t>3 tháng</a:t>
                      </a:r>
                      <a:endParaRPr lang="en-US" sz="1500" dirty="0">
                        <a:latin typeface="Arial" charset="0"/>
                        <a:ea typeface="Arial" charset="0"/>
                        <a:cs typeface="Arial" charset="0"/>
                      </a:endParaRPr>
                    </a:p>
                  </a:txBody>
                  <a:tcPr marL="109728" marR="109728" marT="109728" marB="109728" anchor="ctr">
                    <a:lnL w="12700" cap="flat" cmpd="sng" algn="ctr">
                      <a:solidFill>
                        <a:srgbClr val="EADFCE"/>
                      </a:solidFill>
                      <a:prstDash val="solid"/>
                      <a:round/>
                      <a:headEnd type="none" w="med" len="med"/>
                      <a:tailEnd type="none" w="med" len="med"/>
                    </a:lnL>
                    <a:lnR w="12700" cap="flat" cmpd="sng" algn="ctr">
                      <a:solidFill>
                        <a:srgbClr val="EADFCE"/>
                      </a:solidFill>
                      <a:prstDash val="solid"/>
                      <a:round/>
                      <a:headEnd type="none" w="med" len="med"/>
                      <a:tailEnd type="none" w="med" len="med"/>
                    </a:lnR>
                    <a:lnT w="12700" cap="flat" cmpd="sng" algn="ctr">
                      <a:solidFill>
                        <a:srgbClr val="EADFCE"/>
                      </a:solidFill>
                      <a:prstDash val="solid"/>
                      <a:round/>
                      <a:headEnd type="none" w="med" len="med"/>
                      <a:tailEnd type="none" w="med" len="med"/>
                    </a:lnT>
                    <a:lnB w="12700" cap="flat" cmpd="sng" algn="ctr">
                      <a:solidFill>
                        <a:srgbClr val="EADFCE"/>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F2430"/>
                          </a:solidFill>
                          <a:latin typeface="Arial" pitchFamily="34" charset="0"/>
                          <a:ea typeface="Arial" pitchFamily="34" charset="-122"/>
                          <a:cs typeface="Arial" pitchFamily="34" charset="-120"/>
                        </a:rPr>
                        <a:t>49.000đ</a:t>
                      </a:r>
                      <a:endParaRPr lang="en-US" sz="1500" dirty="0">
                        <a:latin typeface="Arial" charset="0"/>
                        <a:ea typeface="Arial" charset="0"/>
                        <a:cs typeface="Arial" charset="0"/>
                      </a:endParaRPr>
                    </a:p>
                  </a:txBody>
                  <a:tcPr marL="109728" marR="109728" marT="109728" marB="109728" anchor="ctr">
                    <a:lnL w="12700" cap="flat" cmpd="sng" algn="ctr">
                      <a:solidFill>
                        <a:srgbClr val="EADFCE"/>
                      </a:solidFill>
                      <a:prstDash val="solid"/>
                      <a:round/>
                      <a:headEnd type="none" w="med" len="med"/>
                      <a:tailEnd type="none" w="med" len="med"/>
                    </a:lnL>
                    <a:lnR w="12700" cap="flat" cmpd="sng" algn="ctr">
                      <a:solidFill>
                        <a:srgbClr val="EADFCE"/>
                      </a:solidFill>
                      <a:prstDash val="solid"/>
                      <a:round/>
                      <a:headEnd type="none" w="med" len="med"/>
                      <a:tailEnd type="none" w="med" len="med"/>
                    </a:lnR>
                    <a:lnT w="12700" cap="flat" cmpd="sng" algn="ctr">
                      <a:solidFill>
                        <a:srgbClr val="EADFCE"/>
                      </a:solidFill>
                      <a:prstDash val="solid"/>
                      <a:round/>
                      <a:headEnd type="none" w="med" len="med"/>
                      <a:tailEnd type="none" w="med" len="med"/>
                    </a:lnT>
                    <a:lnB w="12700" cap="flat" cmpd="sng" algn="ctr">
                      <a:solidFill>
                        <a:srgbClr val="EADFCE"/>
                      </a:solidFill>
                      <a:prstDash val="solid"/>
                      <a:round/>
                      <a:headEnd type="none" w="med" len="med"/>
                      <a:tailEnd type="none" w="med" len="med"/>
                    </a:lnB>
                    <a:solidFill>
                      <a:srgbClr val="FFFFFF"/>
                    </a:solidFill>
                  </a:tcPr>
                </a:tc>
              </a:tr>
              <a:tr h="533400">
                <a:tc>
                  <a:txBody>
                    <a:bodyPr/>
                    <a:lstStyle/>
                    <a:p>
                      <a:pPr indent="0" marL="0">
                        <a:buNone/>
                      </a:pPr>
                      <a:r>
                        <a:rPr lang="en-US" sz="1500" dirty="0">
                          <a:solidFill>
                            <a:srgbClr val="1F2430"/>
                          </a:solidFill>
                          <a:latin typeface="Arial" pitchFamily="34" charset="0"/>
                          <a:ea typeface="Arial" pitchFamily="34" charset="-122"/>
                          <a:cs typeface="Arial" pitchFamily="34" charset="-120"/>
                        </a:rPr>
                        <a:t>6 tháng</a:t>
                      </a:r>
                      <a:endParaRPr lang="en-US" sz="1500" dirty="0">
                        <a:latin typeface="Arial" charset="0"/>
                        <a:ea typeface="Arial" charset="0"/>
                        <a:cs typeface="Arial" charset="0"/>
                      </a:endParaRPr>
                    </a:p>
                  </a:txBody>
                  <a:tcPr marL="109728" marR="109728" marT="109728" marB="109728" anchor="ctr">
                    <a:lnL w="12700" cap="flat" cmpd="sng" algn="ctr">
                      <a:solidFill>
                        <a:srgbClr val="EADFCE"/>
                      </a:solidFill>
                      <a:prstDash val="solid"/>
                      <a:round/>
                      <a:headEnd type="none" w="med" len="med"/>
                      <a:tailEnd type="none" w="med" len="med"/>
                    </a:lnL>
                    <a:lnR w="12700" cap="flat" cmpd="sng" algn="ctr">
                      <a:solidFill>
                        <a:srgbClr val="EADFCE"/>
                      </a:solidFill>
                      <a:prstDash val="solid"/>
                      <a:round/>
                      <a:headEnd type="none" w="med" len="med"/>
                      <a:tailEnd type="none" w="med" len="med"/>
                    </a:lnR>
                    <a:lnT w="12700" cap="flat" cmpd="sng" algn="ctr">
                      <a:solidFill>
                        <a:srgbClr val="EADFCE"/>
                      </a:solidFill>
                      <a:prstDash val="solid"/>
                      <a:round/>
                      <a:headEnd type="none" w="med" len="med"/>
                      <a:tailEnd type="none" w="med" len="med"/>
                    </a:lnT>
                    <a:lnB w="12700" cap="flat" cmpd="sng" algn="ctr">
                      <a:solidFill>
                        <a:srgbClr val="EADFCE"/>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F2430"/>
                          </a:solidFill>
                          <a:latin typeface="Arial" pitchFamily="34" charset="0"/>
                          <a:ea typeface="Arial" pitchFamily="34" charset="-122"/>
                          <a:cs typeface="Arial" pitchFamily="34" charset="-120"/>
                        </a:rPr>
                        <a:t>89.000đ</a:t>
                      </a:r>
                      <a:endParaRPr lang="en-US" sz="1500" dirty="0">
                        <a:latin typeface="Arial" charset="0"/>
                        <a:ea typeface="Arial" charset="0"/>
                        <a:cs typeface="Arial" charset="0"/>
                      </a:endParaRPr>
                    </a:p>
                  </a:txBody>
                  <a:tcPr marL="109728" marR="109728" marT="109728" marB="109728" anchor="ctr">
                    <a:lnL w="12700" cap="flat" cmpd="sng" algn="ctr">
                      <a:solidFill>
                        <a:srgbClr val="EADFCE"/>
                      </a:solidFill>
                      <a:prstDash val="solid"/>
                      <a:round/>
                      <a:headEnd type="none" w="med" len="med"/>
                      <a:tailEnd type="none" w="med" len="med"/>
                    </a:lnL>
                    <a:lnR w="12700" cap="flat" cmpd="sng" algn="ctr">
                      <a:solidFill>
                        <a:srgbClr val="EADFCE"/>
                      </a:solidFill>
                      <a:prstDash val="solid"/>
                      <a:round/>
                      <a:headEnd type="none" w="med" len="med"/>
                      <a:tailEnd type="none" w="med" len="med"/>
                    </a:lnR>
                    <a:lnT w="12700" cap="flat" cmpd="sng" algn="ctr">
                      <a:solidFill>
                        <a:srgbClr val="EADFCE"/>
                      </a:solidFill>
                      <a:prstDash val="solid"/>
                      <a:round/>
                      <a:headEnd type="none" w="med" len="med"/>
                      <a:tailEnd type="none" w="med" len="med"/>
                    </a:lnT>
                    <a:lnB w="12700" cap="flat" cmpd="sng" algn="ctr">
                      <a:solidFill>
                        <a:srgbClr val="EADFCE"/>
                      </a:solidFill>
                      <a:prstDash val="solid"/>
                      <a:round/>
                      <a:headEnd type="none" w="med" len="med"/>
                      <a:tailEnd type="none" w="med" len="med"/>
                    </a:lnB>
                    <a:solidFill>
                      <a:srgbClr val="FFFFFF"/>
                    </a:solidFill>
                  </a:tcPr>
                </a:tc>
              </a:tr>
              <a:tr h="533400">
                <a:tc>
                  <a:txBody>
                    <a:bodyPr/>
                    <a:lstStyle/>
                    <a:p>
                      <a:pPr indent="0" marL="0">
                        <a:buNone/>
                      </a:pPr>
                      <a:r>
                        <a:rPr lang="en-US" sz="1500" dirty="0">
                          <a:solidFill>
                            <a:srgbClr val="1F2430"/>
                          </a:solidFill>
                          <a:latin typeface="Arial" pitchFamily="34" charset="0"/>
                          <a:ea typeface="Arial" pitchFamily="34" charset="-122"/>
                          <a:cs typeface="Arial" pitchFamily="34" charset="-120"/>
                        </a:rPr>
                        <a:t>1 năm</a:t>
                      </a:r>
                      <a:endParaRPr lang="en-US" sz="1500" dirty="0">
                        <a:latin typeface="Arial" charset="0"/>
                        <a:ea typeface="Arial" charset="0"/>
                        <a:cs typeface="Arial" charset="0"/>
                      </a:endParaRPr>
                    </a:p>
                  </a:txBody>
                  <a:tcPr marL="109728" marR="109728" marT="109728" marB="109728" anchor="ctr">
                    <a:lnL w="12700" cap="flat" cmpd="sng" algn="ctr">
                      <a:solidFill>
                        <a:srgbClr val="EADFCE"/>
                      </a:solidFill>
                      <a:prstDash val="solid"/>
                      <a:round/>
                      <a:headEnd type="none" w="med" len="med"/>
                      <a:tailEnd type="none" w="med" len="med"/>
                    </a:lnL>
                    <a:lnR w="12700" cap="flat" cmpd="sng" algn="ctr">
                      <a:solidFill>
                        <a:srgbClr val="EADFCE"/>
                      </a:solidFill>
                      <a:prstDash val="solid"/>
                      <a:round/>
                      <a:headEnd type="none" w="med" len="med"/>
                      <a:tailEnd type="none" w="med" len="med"/>
                    </a:lnR>
                    <a:lnT w="12700" cap="flat" cmpd="sng" algn="ctr">
                      <a:solidFill>
                        <a:srgbClr val="EADFCE"/>
                      </a:solidFill>
                      <a:prstDash val="solid"/>
                      <a:round/>
                      <a:headEnd type="none" w="med" len="med"/>
                      <a:tailEnd type="none" w="med" len="med"/>
                    </a:lnT>
                    <a:lnB w="12700" cap="flat" cmpd="sng" algn="ctr">
                      <a:solidFill>
                        <a:srgbClr val="EADFCE"/>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F2430"/>
                          </a:solidFill>
                          <a:latin typeface="Arial" pitchFamily="34" charset="0"/>
                          <a:ea typeface="Arial" pitchFamily="34" charset="-122"/>
                          <a:cs typeface="Arial" pitchFamily="34" charset="-120"/>
                        </a:rPr>
                        <a:t>149.000đ</a:t>
                      </a:r>
                      <a:endParaRPr lang="en-US" sz="1500" dirty="0">
                        <a:latin typeface="Arial" charset="0"/>
                        <a:ea typeface="Arial" charset="0"/>
                        <a:cs typeface="Arial" charset="0"/>
                      </a:endParaRPr>
                    </a:p>
                  </a:txBody>
                  <a:tcPr marL="109728" marR="109728" marT="109728" marB="109728" anchor="ctr">
                    <a:lnL w="12700" cap="flat" cmpd="sng" algn="ctr">
                      <a:solidFill>
                        <a:srgbClr val="EADFCE"/>
                      </a:solidFill>
                      <a:prstDash val="solid"/>
                      <a:round/>
                      <a:headEnd type="none" w="med" len="med"/>
                      <a:tailEnd type="none" w="med" len="med"/>
                    </a:lnL>
                    <a:lnR w="12700" cap="flat" cmpd="sng" algn="ctr">
                      <a:solidFill>
                        <a:srgbClr val="EADFCE"/>
                      </a:solidFill>
                      <a:prstDash val="solid"/>
                      <a:round/>
                      <a:headEnd type="none" w="med" len="med"/>
                      <a:tailEnd type="none" w="med" len="med"/>
                    </a:lnR>
                    <a:lnT w="12700" cap="flat" cmpd="sng" algn="ctr">
                      <a:solidFill>
                        <a:srgbClr val="EADFCE"/>
                      </a:solidFill>
                      <a:prstDash val="solid"/>
                      <a:round/>
                      <a:headEnd type="none" w="med" len="med"/>
                      <a:tailEnd type="none" w="med" len="med"/>
                    </a:lnT>
                    <a:lnB w="12700" cap="flat" cmpd="sng" algn="ctr">
                      <a:solidFill>
                        <a:srgbClr val="EADFCE"/>
                      </a:solidFill>
                      <a:prstDash val="solid"/>
                      <a:round/>
                      <a:headEnd type="none" w="med" len="med"/>
                      <a:tailEnd type="none" w="med" len="med"/>
                    </a:lnB>
                    <a:solidFill>
                      <a:srgbClr val="FFFFFF"/>
                    </a:solidFill>
                  </a:tcPr>
                </a:tc>
              </a:tr>
              <a:tr h="533400">
                <a:tc>
                  <a:txBody>
                    <a:bodyPr/>
                    <a:lstStyle/>
                    <a:p>
                      <a:pPr indent="0" marL="0">
                        <a:buNone/>
                      </a:pPr>
                      <a:r>
                        <a:rPr lang="en-US" sz="1500" dirty="0">
                          <a:solidFill>
                            <a:srgbClr val="1F2430"/>
                          </a:solidFill>
                          <a:latin typeface="Arial" pitchFamily="34" charset="0"/>
                          <a:ea typeface="Arial" pitchFamily="34" charset="-122"/>
                          <a:cs typeface="Arial" pitchFamily="34" charset="-120"/>
                        </a:rPr>
                        <a:t>Trọn đời</a:t>
                      </a:r>
                      <a:endParaRPr lang="en-US" sz="1500" dirty="0">
                        <a:latin typeface="Arial" charset="0"/>
                        <a:ea typeface="Arial" charset="0"/>
                        <a:cs typeface="Arial" charset="0"/>
                      </a:endParaRPr>
                    </a:p>
                  </a:txBody>
                  <a:tcPr marL="109728" marR="109728" marT="109728" marB="109728" anchor="ctr">
                    <a:lnL w="12700" cap="flat" cmpd="sng" algn="ctr">
                      <a:solidFill>
                        <a:srgbClr val="EADFCE"/>
                      </a:solidFill>
                      <a:prstDash val="solid"/>
                      <a:round/>
                      <a:headEnd type="none" w="med" len="med"/>
                      <a:tailEnd type="none" w="med" len="med"/>
                    </a:lnL>
                    <a:lnR w="12700" cap="flat" cmpd="sng" algn="ctr">
                      <a:solidFill>
                        <a:srgbClr val="EADFCE"/>
                      </a:solidFill>
                      <a:prstDash val="solid"/>
                      <a:round/>
                      <a:headEnd type="none" w="med" len="med"/>
                      <a:tailEnd type="none" w="med" len="med"/>
                    </a:lnR>
                    <a:lnT w="12700" cap="flat" cmpd="sng" algn="ctr">
                      <a:solidFill>
                        <a:srgbClr val="EADFCE"/>
                      </a:solidFill>
                      <a:prstDash val="solid"/>
                      <a:round/>
                      <a:headEnd type="none" w="med" len="med"/>
                      <a:tailEnd type="none" w="med" len="med"/>
                    </a:lnT>
                    <a:lnB w="12700" cap="flat" cmpd="sng" algn="ctr">
                      <a:solidFill>
                        <a:srgbClr val="EADFCE"/>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F2430"/>
                          </a:solidFill>
                          <a:latin typeface="Arial" pitchFamily="34" charset="0"/>
                          <a:ea typeface="Arial" pitchFamily="34" charset="-122"/>
                          <a:cs typeface="Arial" pitchFamily="34" charset="-120"/>
                        </a:rPr>
                        <a:t>399.000đ</a:t>
                      </a:r>
                      <a:endParaRPr lang="en-US" sz="1500" dirty="0">
                        <a:latin typeface="Arial" charset="0"/>
                        <a:ea typeface="Arial" charset="0"/>
                        <a:cs typeface="Arial" charset="0"/>
                      </a:endParaRPr>
                    </a:p>
                  </a:txBody>
                  <a:tcPr marL="109728" marR="109728" marT="109728" marB="109728" anchor="ctr">
                    <a:lnL w="12700" cap="flat" cmpd="sng" algn="ctr">
                      <a:solidFill>
                        <a:srgbClr val="EADFCE"/>
                      </a:solidFill>
                      <a:prstDash val="solid"/>
                      <a:round/>
                      <a:headEnd type="none" w="med" len="med"/>
                      <a:tailEnd type="none" w="med" len="med"/>
                    </a:lnL>
                    <a:lnR w="12700" cap="flat" cmpd="sng" algn="ctr">
                      <a:solidFill>
                        <a:srgbClr val="EADFCE"/>
                      </a:solidFill>
                      <a:prstDash val="solid"/>
                      <a:round/>
                      <a:headEnd type="none" w="med" len="med"/>
                      <a:tailEnd type="none" w="med" len="med"/>
                    </a:lnR>
                    <a:lnT w="12700" cap="flat" cmpd="sng" algn="ctr">
                      <a:solidFill>
                        <a:srgbClr val="EADFCE"/>
                      </a:solidFill>
                      <a:prstDash val="solid"/>
                      <a:round/>
                      <a:headEnd type="none" w="med" len="med"/>
                      <a:tailEnd type="none" w="med" len="med"/>
                    </a:lnT>
                    <a:lnB w="12700" cap="flat" cmpd="sng" algn="ctr">
                      <a:solidFill>
                        <a:srgbClr val="EADFCE"/>
                      </a:solidFill>
                      <a:prstDash val="solid"/>
                      <a:round/>
                      <a:headEnd type="none" w="med" len="med"/>
                      <a:tailEnd type="none" w="med" len="med"/>
                    </a:lnB>
                    <a:solidFill>
                      <a:srgbClr val="FFFFFF"/>
                    </a:solidFill>
                  </a:tcPr>
                </a:tc>
              </a:tr>
            </a:tbl>
          </a:graphicData>
        </a:graphic>
      </p:graphicFrame>
      <p:sp>
        <p:nvSpPr>
          <p:cNvPr id="9" name="Text 6"/>
          <p:cNvSpPr/>
          <p:nvPr/>
        </p:nvSpPr>
        <p:spPr>
          <a:xfrm>
            <a:off x="812800" y="6223000"/>
            <a:ext cx="10566400" cy="254000"/>
          </a:xfrm>
          <a:prstGeom prst="rect">
            <a:avLst/>
          </a:prstGeom>
          <a:noFill/>
          <a:ln/>
        </p:spPr>
        <p:txBody>
          <a:bodyPr wrap="square" lIns="0" tIns="0" rIns="0" bIns="0" rtlCol="0" anchor="t"/>
          <a:lstStyle/>
          <a:p>
            <a:pPr algn="l" indent="0" marL="0">
              <a:lnSpc>
                <a:spcPct val="115000"/>
              </a:lnSpc>
              <a:buNone/>
            </a:pPr>
            <a:r>
              <a:rPr lang="en-US" sz="1200" dirty="0">
                <a:solidFill>
                  <a:srgbClr val="5B6271"/>
                </a:solidFill>
                <a:latin typeface="Arial" pitchFamily="34" charset="0"/>
                <a:ea typeface="Arial" pitchFamily="34" charset="-122"/>
                <a:cs typeface="Arial" pitchFamily="34" charset="-120"/>
              </a:rPr>
              <a:t>So sánh: gói của Hanzii 249.000–1.199.000đ (khảo sát 10/2026) · cổng thanh toán payOS đã nhận đơn thật</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EADF"/>
        </a:solidFill>
      </p:bgPr>
    </p:bg>
    <p:spTree>
      <p:nvGrpSpPr>
        <p:cNvPr id="1" name=""/>
        <p:cNvGrpSpPr/>
        <p:nvPr/>
      </p:nvGrpSpPr>
      <p:grpSpPr>
        <a:xfrm>
          <a:off x="0" y="0"/>
          <a:ext cx="0" cy="0"/>
          <a:chOff x="0" y="0"/>
          <a:chExt cx="0" cy="0"/>
        </a:xfrm>
      </p:grpSpPr>
      <p:sp>
        <p:nvSpPr>
          <p:cNvPr id="2" name="Text 0"/>
          <p:cNvSpPr/>
          <p:nvPr/>
        </p:nvSpPr>
        <p:spPr>
          <a:xfrm>
            <a:off x="812800" y="812800"/>
            <a:ext cx="10566400" cy="254000"/>
          </a:xfrm>
          <a:prstGeom prst="rect">
            <a:avLst/>
          </a:prstGeom>
          <a:noFill/>
          <a:ln/>
        </p:spPr>
        <p:txBody>
          <a:bodyPr wrap="square" lIns="0" tIns="0" rIns="0" bIns="0" rtlCol="0" anchor="t"/>
          <a:lstStyle/>
          <a:p>
            <a:pPr algn="l" indent="0" marL="0">
              <a:lnSpc>
                <a:spcPct val="115000"/>
              </a:lnSpc>
              <a:buNone/>
            </a:pPr>
            <a:r>
              <a:rPr lang="en-US" sz="1200" b="1" spc="300" kern="0" dirty="0">
                <a:solidFill>
                  <a:srgbClr val="BD2B1F"/>
                </a:solidFill>
                <a:latin typeface="Arial" pitchFamily="34" charset="0"/>
                <a:ea typeface="Arial" pitchFamily="34" charset="-122"/>
                <a:cs typeface="Arial" pitchFamily="34" charset="-120"/>
              </a:rPr>
              <a:t>HIỆN TRẠNG</a:t>
            </a:r>
            <a:endParaRPr lang="en-US" sz="1200" dirty="0"/>
          </a:p>
        </p:txBody>
      </p:sp>
      <p:sp>
        <p:nvSpPr>
          <p:cNvPr id="3" name="Text 1"/>
          <p:cNvSpPr/>
          <p:nvPr/>
        </p:nvSpPr>
        <p:spPr>
          <a:xfrm>
            <a:off x="812800" y="1117600"/>
            <a:ext cx="10566400" cy="635000"/>
          </a:xfrm>
          <a:prstGeom prst="rect">
            <a:avLst/>
          </a:prstGeom>
          <a:noFill/>
          <a:ln/>
        </p:spPr>
        <p:txBody>
          <a:bodyPr wrap="square" lIns="0" tIns="0" rIns="0" bIns="0" rtlCol="0" anchor="t"/>
          <a:lstStyle/>
          <a:p>
            <a:pPr algn="l" indent="0" marL="0">
              <a:lnSpc>
                <a:spcPct val="105000"/>
              </a:lnSpc>
              <a:buNone/>
            </a:pPr>
            <a:r>
              <a:rPr lang="en-US" sz="3600" b="1" dirty="0">
                <a:solidFill>
                  <a:srgbClr val="1F2430"/>
                </a:solidFill>
                <a:latin typeface="Arial" pitchFamily="34" charset="0"/>
                <a:ea typeface="Arial" pitchFamily="34" charset="-122"/>
                <a:cs typeface="Arial" pitchFamily="34" charset="-120"/>
              </a:rPr>
              <a:t>Đang ở đâu và làm gì tiếp</a:t>
            </a:r>
            <a:endParaRPr lang="en-US" sz="3600" dirty="0"/>
          </a:p>
        </p:txBody>
      </p:sp>
      <p:sp>
        <p:nvSpPr>
          <p:cNvPr id="4" name="Shape 2"/>
          <p:cNvSpPr/>
          <p:nvPr/>
        </p:nvSpPr>
        <p:spPr>
          <a:xfrm>
            <a:off x="812800" y="2095500"/>
            <a:ext cx="5181600" cy="3810000"/>
          </a:xfrm>
          <a:prstGeom prst="roundRect">
            <a:avLst>
              <a:gd name="adj" fmla="val 4080"/>
            </a:avLst>
          </a:prstGeom>
          <a:solidFill>
            <a:srgbClr val="FBF6EF"/>
          </a:solidFill>
          <a:ln/>
        </p:spPr>
      </p:sp>
      <p:sp>
        <p:nvSpPr>
          <p:cNvPr id="5" name="Text 3"/>
          <p:cNvSpPr/>
          <p:nvPr/>
        </p:nvSpPr>
        <p:spPr>
          <a:xfrm>
            <a:off x="1092200" y="2349500"/>
            <a:ext cx="4572000" cy="355600"/>
          </a:xfrm>
          <a:prstGeom prst="rect">
            <a:avLst/>
          </a:prstGeom>
          <a:noFill/>
          <a:ln/>
        </p:spPr>
        <p:txBody>
          <a:bodyPr wrap="square" lIns="0" tIns="0" rIns="0" bIns="0" rtlCol="0" anchor="t"/>
          <a:lstStyle/>
          <a:p>
            <a:pPr algn="l" indent="0" marL="0">
              <a:lnSpc>
                <a:spcPct val="115000"/>
              </a:lnSpc>
              <a:buNone/>
            </a:pPr>
            <a:r>
              <a:rPr lang="en-US" sz="2000" b="1" dirty="0">
                <a:solidFill>
                  <a:srgbClr val="1F2430"/>
                </a:solidFill>
                <a:latin typeface="Arial" pitchFamily="34" charset="0"/>
                <a:ea typeface="Arial" pitchFamily="34" charset="-122"/>
                <a:cs typeface="Arial" pitchFamily="34" charset="-120"/>
              </a:rPr>
              <a:t>Hiện trạng</a:t>
            </a:r>
            <a:endParaRPr lang="en-US" sz="2000" dirty="0"/>
          </a:p>
        </p:txBody>
      </p:sp>
      <p:sp>
        <p:nvSpPr>
          <p:cNvPr id="6" name="Text 4"/>
          <p:cNvSpPr/>
          <p:nvPr/>
        </p:nvSpPr>
        <p:spPr>
          <a:xfrm>
            <a:off x="1092200" y="2857500"/>
            <a:ext cx="4635500" cy="2857500"/>
          </a:xfrm>
          <a:prstGeom prst="rect">
            <a:avLst/>
          </a:prstGeom>
          <a:noFill/>
          <a:ln/>
        </p:spPr>
        <p:txBody>
          <a:bodyPr wrap="square" lIns="0" tIns="0" rIns="0" bIns="0" rtlCol="0" anchor="t"/>
          <a:lstStyle/>
          <a:p>
            <a:pPr marL="342900" indent="-342900">
              <a:lnSpc>
                <a:spcPct val="130000"/>
              </a:lnSpc>
              <a:spcAft>
                <a:spcPts val="1000"/>
              </a:spcAft>
              <a:buSzPct val="100000"/>
              <a:buChar char="•"/>
            </a:pPr>
            <a:r>
              <a:rPr lang="en-US" sz="1500" dirty="0">
                <a:solidFill>
                  <a:srgbClr val="1F2430"/>
                </a:solidFill>
                <a:latin typeface="Arial" pitchFamily="34" charset="0"/>
                <a:ea typeface="Arial" pitchFamily="34" charset="-122"/>
                <a:cs typeface="Arial" pitchFamily="34" charset="-120"/>
              </a:rPr>
              <a:t>Server, web và thanh toán đã chạy thật trên production</a:t>
            </a:r>
            <a:endParaRPr lang="en-US" sz="1500" dirty="0"/>
          </a:p>
          <a:p>
            <a:pPr marL="342900" indent="-342900">
              <a:lnSpc>
                <a:spcPct val="130000"/>
              </a:lnSpc>
              <a:spcAft>
                <a:spcPts val="1000"/>
              </a:spcAft>
              <a:buSzPct val="100000"/>
              <a:buChar char="•"/>
            </a:pPr>
            <a:r>
              <a:rPr lang="en-US" sz="1500" dirty="0">
                <a:solidFill>
                  <a:srgbClr val="1F2430"/>
                </a:solidFill>
                <a:latin typeface="Arial" pitchFamily="34" charset="0"/>
                <a:ea typeface="Arial" pitchFamily="34" charset="-122"/>
                <a:cs typeface="Arial" pitchFamily="34" charset="-120"/>
              </a:rPr>
              <a:t>Mới có khoảng 8 người dùng thật — đang ở giai đoạn thử nghiệm</a:t>
            </a:r>
            <a:endParaRPr lang="en-US" sz="1500" dirty="0"/>
          </a:p>
          <a:p>
            <a:pPr marL="342900" indent="-342900">
              <a:lnSpc>
                <a:spcPct val="130000"/>
              </a:lnSpc>
              <a:spcAft>
                <a:spcPts val="1000"/>
              </a:spcAft>
              <a:buSzPct val="100000"/>
              <a:buChar char="•"/>
            </a:pPr>
            <a:r>
              <a:rPr lang="en-US" sz="1500" dirty="0">
                <a:solidFill>
                  <a:srgbClr val="1F2430"/>
                </a:solidFill>
                <a:latin typeface="Arial" pitchFamily="34" charset="0"/>
                <a:ea typeface="Arial" pitchFamily="34" charset="-122"/>
                <a:cs typeface="Arial" pitchFamily="34" charset="-120"/>
              </a:rPr>
              <a:t>App Android đã chuẩn bị phát hành, chưa lên Google Play</a:t>
            </a:r>
            <a:endParaRPr lang="en-US" sz="1500" dirty="0"/>
          </a:p>
          <a:p>
            <a:pPr marL="342900" indent="-342900">
              <a:lnSpc>
                <a:spcPct val="130000"/>
              </a:lnSpc>
              <a:spcAft>
                <a:spcPts val="1000"/>
              </a:spcAft>
              <a:buSzPct val="100000"/>
              <a:buChar char="•"/>
            </a:pPr>
            <a:r>
              <a:rPr lang="en-US" sz="1500" dirty="0">
                <a:solidFill>
                  <a:srgbClr val="1F2430"/>
                </a:solidFill>
                <a:latin typeface="Arial" pitchFamily="34" charset="0"/>
                <a:ea typeface="Arial" pitchFamily="34" charset="-122"/>
                <a:cs typeface="Arial" pitchFamily="34" charset="-120"/>
              </a:rPr>
              <a:t>AI đang dùng gói Gemini miễn phí, giới hạn lượt mỗi ngày</a:t>
            </a:r>
            <a:endParaRPr lang="en-US" sz="1500" dirty="0"/>
          </a:p>
        </p:txBody>
      </p:sp>
      <p:sp>
        <p:nvSpPr>
          <p:cNvPr id="7" name="Shape 5"/>
          <p:cNvSpPr/>
          <p:nvPr/>
        </p:nvSpPr>
        <p:spPr>
          <a:xfrm>
            <a:off x="6197600" y="2095500"/>
            <a:ext cx="5181600" cy="3810000"/>
          </a:xfrm>
          <a:prstGeom prst="roundRect">
            <a:avLst>
              <a:gd name="adj" fmla="val 4080"/>
            </a:avLst>
          </a:prstGeom>
          <a:solidFill>
            <a:srgbClr val="1F2430"/>
          </a:solidFill>
          <a:ln/>
        </p:spPr>
      </p:sp>
      <p:sp>
        <p:nvSpPr>
          <p:cNvPr id="8" name="Text 6"/>
          <p:cNvSpPr/>
          <p:nvPr/>
        </p:nvSpPr>
        <p:spPr>
          <a:xfrm>
            <a:off x="6477000" y="2349500"/>
            <a:ext cx="4572000" cy="355600"/>
          </a:xfrm>
          <a:prstGeom prst="rect">
            <a:avLst/>
          </a:prstGeom>
          <a:noFill/>
          <a:ln/>
        </p:spPr>
        <p:txBody>
          <a:bodyPr wrap="square" lIns="0" tIns="0" rIns="0" bIns="0" rtlCol="0" anchor="t"/>
          <a:lstStyle/>
          <a:p>
            <a:pPr algn="l" indent="0" marL="0">
              <a:lnSpc>
                <a:spcPct val="115000"/>
              </a:lnSpc>
              <a:buNone/>
            </a:pPr>
            <a:r>
              <a:rPr lang="en-US" sz="2000" b="1" dirty="0">
                <a:solidFill>
                  <a:srgbClr val="FBF6EF"/>
                </a:solidFill>
                <a:latin typeface="Arial" pitchFamily="34" charset="0"/>
                <a:ea typeface="Arial" pitchFamily="34" charset="-122"/>
                <a:cs typeface="Arial" pitchFamily="34" charset="-120"/>
              </a:rPr>
              <a:t>Bước tiếp theo</a:t>
            </a:r>
            <a:endParaRPr lang="en-US" sz="2000" dirty="0"/>
          </a:p>
        </p:txBody>
      </p:sp>
      <p:sp>
        <p:nvSpPr>
          <p:cNvPr id="9" name="Text 7"/>
          <p:cNvSpPr/>
          <p:nvPr/>
        </p:nvSpPr>
        <p:spPr>
          <a:xfrm>
            <a:off x="6477000" y="2857500"/>
            <a:ext cx="4635500" cy="2857500"/>
          </a:xfrm>
          <a:prstGeom prst="rect">
            <a:avLst/>
          </a:prstGeom>
          <a:noFill/>
          <a:ln/>
        </p:spPr>
        <p:txBody>
          <a:bodyPr wrap="square" lIns="0" tIns="0" rIns="0" bIns="0" rtlCol="0" anchor="t"/>
          <a:lstStyle/>
          <a:p>
            <a:pPr marL="342900" indent="-342900">
              <a:lnSpc>
                <a:spcPct val="130000"/>
              </a:lnSpc>
              <a:spcAft>
                <a:spcPts val="1000"/>
              </a:spcAft>
              <a:buSzPct val="100000"/>
              <a:buChar char="•"/>
            </a:pPr>
            <a:r>
              <a:rPr lang="en-US" sz="1500" dirty="0">
                <a:solidFill>
                  <a:srgbClr val="FBF6EF"/>
                </a:solidFill>
                <a:latin typeface="Arial" pitchFamily="34" charset="0"/>
                <a:ea typeface="Arial" pitchFamily="34" charset="-122"/>
                <a:cs typeface="Arial" pitchFamily="34" charset="-120"/>
              </a:rPr>
              <a:t>Phát hành Google Play</a:t>
            </a:r>
            <a:endParaRPr lang="en-US" sz="1500" dirty="0"/>
          </a:p>
          <a:p>
            <a:pPr marL="342900" indent="-342900">
              <a:lnSpc>
                <a:spcPct val="130000"/>
              </a:lnSpc>
              <a:spcAft>
                <a:spcPts val="1000"/>
              </a:spcAft>
              <a:buSzPct val="100000"/>
              <a:buChar char="•"/>
            </a:pPr>
            <a:r>
              <a:rPr lang="en-US" sz="1500" dirty="0">
                <a:solidFill>
                  <a:srgbClr val="FBF6EF"/>
                </a:solidFill>
                <a:latin typeface="Arial" pitchFamily="34" charset="0"/>
                <a:ea typeface="Arial" pitchFamily="34" charset="-122"/>
                <a:cs typeface="Arial" pitchFamily="34" charset="-120"/>
              </a:rPr>
              <a:t>Đăng nhập Google, nhận dạng giọng nói, thông báo đẩy trên app</a:t>
            </a:r>
            <a:endParaRPr lang="en-US" sz="1500" dirty="0"/>
          </a:p>
          <a:p>
            <a:pPr marL="342900" indent="-342900">
              <a:lnSpc>
                <a:spcPct val="130000"/>
              </a:lnSpc>
              <a:spcAft>
                <a:spcPts val="1000"/>
              </a:spcAft>
              <a:buSzPct val="100000"/>
              <a:buChar char="•"/>
            </a:pPr>
            <a:r>
              <a:rPr lang="en-US" sz="1500" dirty="0">
                <a:solidFill>
                  <a:srgbClr val="FBF6EF"/>
                </a:solidFill>
                <a:latin typeface="Arial" pitchFamily="34" charset="0"/>
                <a:ea typeface="Arial" pitchFamily="34" charset="-122"/>
                <a:cs typeface="Arial" pitchFamily="34" charset="-120"/>
              </a:rPr>
              <a:t>Thêm đề HSK 4–6, câu ví dụ cho HSK 5–9</a:t>
            </a:r>
            <a:endParaRPr lang="en-US" sz="1500" dirty="0"/>
          </a:p>
          <a:p>
            <a:pPr marL="342900" indent="-342900">
              <a:lnSpc>
                <a:spcPct val="130000"/>
              </a:lnSpc>
              <a:spcAft>
                <a:spcPts val="1000"/>
              </a:spcAft>
              <a:buSzPct val="100000"/>
              <a:buChar char="•"/>
            </a:pPr>
            <a:r>
              <a:rPr lang="en-US" sz="1500" dirty="0">
                <a:solidFill>
                  <a:srgbClr val="FBF6EF"/>
                </a:solidFill>
                <a:latin typeface="Arial" pitchFamily="34" charset="0"/>
                <a:ea typeface="Arial" pitchFamily="34" charset="-122"/>
                <a:cs typeface="Arial" pitchFamily="34" charset="-120"/>
              </a:rPr>
              <a:t>Tìm người dùng qua giáo viên, trung tâm và từ điển công khai</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BD2B1F"/>
        </a:solidFill>
      </p:bgPr>
    </p:bg>
    <p:spTree>
      <p:nvGrpSpPr>
        <p:cNvPr id="1" name=""/>
        <p:cNvGrpSpPr/>
        <p:nvPr/>
      </p:nvGrpSpPr>
      <p:grpSpPr>
        <a:xfrm>
          <a:off x="0" y="0"/>
          <a:ext cx="0" cy="0"/>
          <a:chOff x="0" y="0"/>
          <a:chExt cx="0" cy="0"/>
        </a:xfrm>
      </p:grpSpPr>
      <p:sp>
        <p:nvSpPr>
          <p:cNvPr id="2" name="Text 0"/>
          <p:cNvSpPr/>
          <p:nvPr/>
        </p:nvSpPr>
        <p:spPr>
          <a:xfrm>
            <a:off x="609600" y="4826000"/>
            <a:ext cx="5715000" cy="1905000"/>
          </a:xfrm>
          <a:prstGeom prst="rect">
            <a:avLst/>
          </a:prstGeom>
          <a:noFill/>
          <a:ln/>
        </p:spPr>
        <p:txBody>
          <a:bodyPr wrap="square" lIns="0" tIns="0" rIns="0" bIns="0" rtlCol="0" anchor="t"/>
          <a:lstStyle/>
          <a:p>
            <a:pPr algn="l" indent="0" marL="0">
              <a:lnSpc>
                <a:spcPct val="115000"/>
              </a:lnSpc>
              <a:buNone/>
            </a:pPr>
            <a:r>
              <a:rPr lang="en-US" sz="13000" dirty="0">
                <a:solidFill>
                  <a:srgbClr val="C9382A"/>
                </a:solidFill>
                <a:latin typeface="Microsoft YaHei" pitchFamily="34" charset="0"/>
                <a:ea typeface="Microsoft YaHei" pitchFamily="34" charset="-122"/>
                <a:cs typeface="Microsoft YaHei" pitchFamily="34" charset="-120"/>
              </a:rPr>
              <a:t>谢谢</a:t>
            </a:r>
            <a:endParaRPr lang="en-US" sz="13000" dirty="0"/>
          </a:p>
        </p:txBody>
      </p:sp>
      <p:pic>
        <p:nvPicPr>
          <p:cNvPr id="3" name="Image 0" descr="/home/haidang/Hanni-demo/stage/fox-mark.png">    </p:cNvPr>
          <p:cNvPicPr>
            <a:picLocks noChangeAspect="1"/>
          </p:cNvPicPr>
          <p:nvPr/>
        </p:nvPicPr>
        <p:blipFill>
          <a:blip r:embed="rId1"/>
          <a:stretch>
            <a:fillRect/>
          </a:stretch>
        </p:blipFill>
        <p:spPr>
          <a:xfrm>
            <a:off x="812800" y="1460500"/>
            <a:ext cx="838200" cy="838200"/>
          </a:xfrm>
          <a:prstGeom prst="ellipse">
            <a:avLst/>
          </a:prstGeom>
        </p:spPr>
      </p:pic>
      <p:sp>
        <p:nvSpPr>
          <p:cNvPr id="4" name="Text 1"/>
          <p:cNvSpPr/>
          <p:nvPr/>
        </p:nvSpPr>
        <p:spPr>
          <a:xfrm>
            <a:off x="812800" y="2540000"/>
            <a:ext cx="9525000" cy="1651000"/>
          </a:xfrm>
          <a:prstGeom prst="rect">
            <a:avLst/>
          </a:prstGeom>
          <a:noFill/>
          <a:ln/>
        </p:spPr>
        <p:txBody>
          <a:bodyPr wrap="square" lIns="0" tIns="0" rIns="0" bIns="0" rtlCol="0" anchor="t"/>
          <a:lstStyle/>
          <a:p>
            <a:pPr algn="l" indent="0" marL="0">
              <a:lnSpc>
                <a:spcPct val="100000"/>
              </a:lnSpc>
              <a:buNone/>
            </a:pPr>
            <a:r>
              <a:rPr lang="en-US" sz="5600" b="1" dirty="0">
                <a:solidFill>
                  <a:srgbClr val="FBF6EF"/>
                </a:solidFill>
                <a:latin typeface="Arial" pitchFamily="34" charset="0"/>
                <a:ea typeface="Arial" pitchFamily="34" charset="-122"/>
                <a:cs typeface="Arial" pitchFamily="34" charset="-120"/>
              </a:rPr>
              <a:t>Cảm ơn thầy cô</a:t>
            </a:r>
            <a:endParaRPr lang="en-US" sz="5600" dirty="0"/>
          </a:p>
          <a:p>
            <a:pPr algn="l" indent="0" marL="0">
              <a:lnSpc>
                <a:spcPct val="100000"/>
              </a:lnSpc>
              <a:buNone/>
            </a:pPr>
            <a:r>
              <a:rPr lang="en-US" sz="5600" b="1" dirty="0">
                <a:solidFill>
                  <a:srgbClr val="FBF6EF"/>
                </a:solidFill>
                <a:latin typeface="Arial" pitchFamily="34" charset="0"/>
                <a:ea typeface="Arial" pitchFamily="34" charset="-122"/>
                <a:cs typeface="Arial" pitchFamily="34" charset="-120"/>
              </a:rPr>
              <a:t>và các bạn</a:t>
            </a:r>
            <a:endParaRPr lang="en-US" sz="5600" dirty="0"/>
          </a:p>
        </p:txBody>
      </p:sp>
      <p:sp>
        <p:nvSpPr>
          <p:cNvPr id="5" name="Text 2"/>
          <p:cNvSpPr/>
          <p:nvPr/>
        </p:nvSpPr>
        <p:spPr>
          <a:xfrm>
            <a:off x="812800" y="4381500"/>
            <a:ext cx="6350000" cy="381000"/>
          </a:xfrm>
          <a:prstGeom prst="rect">
            <a:avLst/>
          </a:prstGeom>
          <a:noFill/>
          <a:ln/>
        </p:spPr>
        <p:txBody>
          <a:bodyPr wrap="square" lIns="0" tIns="0" rIns="0" bIns="0" rtlCol="0" anchor="t"/>
          <a:lstStyle/>
          <a:p>
            <a:pPr algn="l" indent="0" marL="0">
              <a:lnSpc>
                <a:spcPct val="115000"/>
              </a:lnSpc>
              <a:buNone/>
            </a:pPr>
            <a:r>
              <a:rPr lang="en-US" sz="2200" dirty="0">
                <a:solidFill>
                  <a:srgbClr val="F6D9D4"/>
                </a:solidFill>
                <a:latin typeface="Arial" pitchFamily="34" charset="0"/>
                <a:ea typeface="Arial" pitchFamily="34" charset="-122"/>
                <a:cs typeface="Arial" pitchFamily="34" charset="-120"/>
              </a:rPr>
              <a:t>Mời đặt câu hỏi</a:t>
            </a:r>
            <a:endParaRPr lang="en-US" sz="2200" dirty="0"/>
          </a:p>
        </p:txBody>
      </p:sp>
      <p:sp>
        <p:nvSpPr>
          <p:cNvPr id="6" name="Text 3"/>
          <p:cNvSpPr/>
          <p:nvPr/>
        </p:nvSpPr>
        <p:spPr>
          <a:xfrm>
            <a:off x="812800" y="4889500"/>
            <a:ext cx="6350000" cy="317500"/>
          </a:xfrm>
          <a:prstGeom prst="rect">
            <a:avLst/>
          </a:prstGeom>
          <a:noFill/>
          <a:ln/>
        </p:spPr>
        <p:txBody>
          <a:bodyPr wrap="square" lIns="0" tIns="0" rIns="0" bIns="0" rtlCol="0" anchor="t"/>
          <a:lstStyle/>
          <a:p>
            <a:pPr algn="l" indent="0" marL="0">
              <a:lnSpc>
                <a:spcPct val="115000"/>
              </a:lnSpc>
              <a:buNone/>
            </a:pPr>
            <a:r>
              <a:rPr lang="en-US" sz="1600" b="1" dirty="0">
                <a:solidFill>
                  <a:srgbClr val="FBF6EF"/>
                </a:solidFill>
                <a:latin typeface="Arial" pitchFamily="34" charset="0"/>
                <a:ea typeface="Arial" pitchFamily="34" charset="-122"/>
                <a:cs typeface="Arial" pitchFamily="34" charset="-120"/>
              </a:rPr>
              <a:t>hanni.dangpham.id.vn</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Hanni — Ứng dụng học tiếng Trung HSK 3.0</dc:title>
  <dc:subject>PptxGenJS Presentation</dc:subject>
  <dc:creator>PptxGenJS</dc:creator>
  <cp:lastModifiedBy>PptxGenJS</cp:lastModifiedBy>
  <cp:revision>1</cp:revision>
  <dcterms:created xsi:type="dcterms:W3CDTF">2026-10-29T02:52:01Z</dcterms:created>
  <dcterms:modified xsi:type="dcterms:W3CDTF">2026-10-29T02:52:01Z</dcterms:modified>
</cp:coreProperties>
</file>